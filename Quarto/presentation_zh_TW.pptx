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sv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sv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sv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sv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面內磁場下 1T 相二碲化鉑約瑟夫森接面之電流-相位關係研究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Investigation of Current-Phase Relationship in 1T-Phase Platinum Ditelluride Josephson Junctions under In-Plane Magnetic Field</a:t>
            </a:r>
            <a:br/>
            <a:br/>
            <a:r>
              <a:rPr/>
              <a:t>徐道宜 (Tao-Yi Hsu)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2024-06-20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緒論 (Introduction)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簡報大綱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緒論</a:t>
                </a:r>
              </a:p>
              <a:p>
                <a:pPr lvl="1"/>
                <a:r>
                  <a:rPr/>
                  <a:t>研究動機</a:t>
                </a:r>
              </a:p>
              <a:p>
                <a:pPr lvl="1"/>
                <a:r>
                  <a:rPr/>
                  <a:t>第二類狄拉克半金屬 (1T-PtTe</a:t>
                </a:r>
                <a14:m>
                  <m:oMath xmlns:m="http://schemas.openxmlformats.org/officeDocument/2006/math">
                    <m:sSub>
                      <m:e>
                        <m:r>
                          <m:t>​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/>
                  <a:t>)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理論背景</a:t>
                </a:r>
              </a:p>
              <a:p>
                <a:pPr lvl="1"/>
                <a:r>
                  <a:rPr/>
                  <a:t>約瑟夫森效應與電流-相位關係 (CPR)</a:t>
                </a:r>
              </a:p>
              <a:p>
                <a:pPr lvl="1"/>
                <a:r>
                  <a:rPr/>
                  <a:t>約瑟夫森二極體效應 (JDE)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實驗方法</a:t>
                </a:r>
              </a:p>
              <a:p>
                <a:pPr lvl="1"/>
                <a:r>
                  <a:rPr/>
                  <a:t>元件製備流程</a:t>
                </a:r>
              </a:p>
              <a:p>
                <a:pPr lvl="1"/>
                <a:r>
                  <a:rPr/>
                  <a:t>量測系統架設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結果與討論</a:t>
                </a:r>
              </a:p>
              <a:p>
                <a:pPr lvl="1"/>
                <a:r>
                  <a:rPr/>
                  <a:t>基本電性鑑定</a:t>
                </a:r>
              </a:p>
              <a:p>
                <a:pPr lvl="1"/>
                <a:r>
                  <a:rPr/>
                  <a:t>電流-相位關係 (CPR) 分析</a:t>
                </a:r>
              </a:p>
              <a:p>
                <a:pPr lvl="1"/>
                <a:r>
                  <a:rPr/>
                  <a:t>磁場依賴性研究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結論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研究動機</a:t>
                </a:r>
              </a:p>
              <a:p>
                <a:pPr lvl="0"/>
                <a:r>
                  <a:rPr b="1"/>
                  <a:t>新興拓撲量子材料</a:t>
                </a:r>
                <a:r>
                  <a:rPr/>
                  <a:t>:</a:t>
                </a:r>
              </a:p>
              <a:p>
                <a:pPr lvl="1"/>
                <a:r>
                  <a:rPr/>
                  <a:t>將 </a:t>
                </a:r>
                <a:r>
                  <a:rPr b="1"/>
                  <a:t>第二類狄拉克半金屬</a:t>
                </a:r>
                <a:r>
                  <a:rPr/>
                  <a:t> (如 1T-PtTe</a:t>
                </a:r>
                <a14:m>
                  <m:oMath xmlns:m="http://schemas.openxmlformats.org/officeDocument/2006/math">
                    <m:sSub>
                      <m:e>
                        <m:r>
                          <m:t>​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/>
                  <a:t>) 與超導體結合。</a:t>
                </a:r>
              </a:p>
              <a:p>
                <a:pPr lvl="1"/>
                <a:r>
                  <a:rPr/>
                  <a:t>探索新穎的量子輸運現象 (例如：拓撲保護、螺旋邊緣態)。</a:t>
                </a:r>
              </a:p>
              <a:p>
                <a:pPr lvl="0"/>
                <a:r>
                  <a:rPr b="1"/>
                  <a:t>電流-相位關係 (CPR) 物理</a:t>
                </a:r>
                <a:r>
                  <a:rPr/>
                  <a:t>:</a:t>
                </a:r>
              </a:p>
              <a:p>
                <a:pPr lvl="1"/>
                <a:r>
                  <a:rPr/>
                  <a:t>直接量測偏離標準正弦形式的 CPR 高階諧波 (</a:t>
                </a:r>
                <a14:m>
                  <m:oMath xmlns:m="http://schemas.openxmlformats.org/officeDocument/2006/math">
                    <m:r>
                      <m:t>I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ϕ</m:t>
                        </m:r>
                      </m:e>
                    </m:d>
                  </m:oMath>
                </a14:m>
                <a:r>
                  <a:rPr/>
                  <a:t>)。</a:t>
                </a:r>
              </a:p>
              <a:p>
                <a:pPr lvl="1"/>
                <a:r>
                  <a:rPr/>
                  <a:t>理解拓撲材料中的 </a:t>
                </a:r>
                <a:r>
                  <a:rPr b="1"/>
                  <a:t>超導近接效應 (Proximity Effect)</a:t>
                </a:r>
                <a:r>
                  <a:rPr/>
                  <a:t> 機制。</a:t>
                </a:r>
              </a:p>
              <a:p>
                <a:pPr lvl="0"/>
                <a:r>
                  <a:rPr b="1"/>
                  <a:t>超導二極體效應 (SDE)</a:t>
                </a:r>
                <a:r>
                  <a:rPr/>
                  <a:t>:</a:t>
                </a:r>
              </a:p>
              <a:p>
                <a:pPr lvl="1"/>
                <a:r>
                  <a:rPr/>
                  <a:t>研究對稱/非對稱結構中的非互易傳輸現象 (</a:t>
                </a:r>
                <a14:m>
                  <m:oMath xmlns:m="http://schemas.openxmlformats.org/officeDocument/2006/math">
                    <m:sSubSup>
                      <m:e>
                        <m:r>
                          <m:t>I</m:t>
                        </m:r>
                      </m:e>
                      <m:sub>
                        <m:r>
                          <m:t>c</m:t>
                        </m:r>
                      </m:sub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bSup>
                    <m:r>
                      <m:rPr>
                        <m:sty m:val="p"/>
                      </m:rPr>
                      <m:t>≠</m:t>
                    </m:r>
                    <m:sSubSup>
                      <m:e>
                        <m:r>
                          <m:t>I</m:t>
                        </m:r>
                      </m:e>
                      <m:sub>
                        <m:r>
                          <m:t>c</m:t>
                        </m:r>
                      </m:sub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</m:oMath>
                </a14:m>
                <a:r>
                  <a:rPr/>
                  <a:t>)。</a:t>
                </a:r>
              </a:p>
              <a:p>
                <a:pPr lvl="1"/>
                <a:r>
                  <a:rPr/>
                  <a:t>應用於零耗能超導電子元件的潛力。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1T-PtTe</a:t>
                </a:r>
                <a14:m>
                  <m:oMath xmlns:m="http://schemas.openxmlformats.org/officeDocument/2006/math">
                    <m:sSub>
                      <m:e>
                        <m:r>
                          <m:t>​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 b="1"/>
                  <a:t>: 第二類狄拉克半金屬</a:t>
                </a:r>
              </a:p>
            </p:txBody>
          </p:sp>
        </mc:Choice>
      </mc:AlternateContent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晶體結構</a:t>
                </a:r>
                <a:r>
                  <a:rPr/>
                  <a:t>:</a:t>
                </a:r>
              </a:p>
              <a:p>
                <a:pPr lvl="1"/>
                <a:r>
                  <a:rPr/>
                  <a:t>層狀過渡金屬二硫族化物 (TMD)。</a:t>
                </a:r>
              </a:p>
              <a:p>
                <a:pPr lvl="1"/>
                <a:r>
                  <a:rPr/>
                  <a:t>碘化鎘 (CdI</a:t>
                </a:r>
                <a14:m>
                  <m:oMath xmlns:m="http://schemas.openxmlformats.org/officeDocument/2006/math">
                    <m:sSub>
                      <m:e>
                        <m:r>
                          <m:t>​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/>
                  <a:t>) 型三角結構 (</a:t>
                </a:r>
                <a14:m>
                  <m:oMath xmlns:m="http://schemas.openxmlformats.org/officeDocument/2006/math">
                    <m:r>
                      <m:t>P</m:t>
                    </m:r>
                    <m:acc>
                      <m:accPr>
                        <m:chr m:val="‾"/>
                      </m:accPr>
                      <m:e>
                        <m:r>
                          <m:t>3</m:t>
                        </m:r>
                      </m:e>
                    </m:acc>
                    <m:r>
                      <m:t>m</m:t>
                    </m:r>
                    <m:r>
                      <m:t>1</m:t>
                    </m:r>
                  </m:oMath>
                </a14:m>
                <a:r>
                  <a:rPr/>
                  <a:t>)。</a:t>
                </a:r>
              </a:p>
              <a:p>
                <a:pPr lvl="1"/>
                <a:r>
                  <a:rPr/>
                  <a:t>Te-Pt-Te 三層結構以范德瓦耳斯力結合。</a:t>
                </a:r>
              </a:p>
              <a:p>
                <a:pPr lvl="0"/>
                <a:r>
                  <a:rPr b="1"/>
                  <a:t>電子特性</a:t>
                </a:r>
                <a:r>
                  <a:rPr/>
                  <a:t>:</a:t>
                </a:r>
              </a:p>
              <a:p>
                <a:pPr lvl="1"/>
                <a:r>
                  <a:rPr b="1"/>
                  <a:t>第二類狄拉克費米子</a:t>
                </a:r>
                <a:r>
                  <a:rPr/>
                  <a:t>: 破壞勞倫茲不變性的傾斜狄拉克錐。</a:t>
                </a:r>
              </a:p>
              <a:p>
                <a:pPr lvl="1"/>
                <a:r>
                  <a:rPr/>
                  <a:t>高導電性與潛在的拓撲表面態 (TSS)。</a:t>
                </a:r>
              </a:p>
            </p:txBody>
          </p:sp>
        </mc:Choice>
      </mc:AlternateContent>
      <p:pic>
        <p:nvPicPr>
          <p:cNvPr descr="Images/topological_material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384300"/>
            <a:ext cx="4038600" cy="2501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" name="TextBox 3"/>
              <p:cNvSpPr txBox="1"/>
              <p:nvPr/>
            </p:nvSpPr>
            <p:spPr>
              <a:xfrm>
                <a:off x="4648200" y="4076700"/>
                <a:ext cx="4038600" cy="508000"/>
              </a:xfrm>
              <a:prstGeom prst="rect">
                <a:avLst/>
              </a:prstGeom>
              <a:noFill/>
            </p:spPr>
            <p:txBody>
              <a:bodyPr/>
              <a:lstStyle/>
              <a:p>
                <a:pPr lvl="0" indent="0" marL="0" algn="ctr">
                  <a:buNone/>
                </a:pPr>
                <a:r>
                  <a:rPr/>
                  <a:t>PtTe</a:t>
                </a:r>
                <a14:m>
                  <m:oMath xmlns:m="http://schemas.openxmlformats.org/officeDocument/2006/math">
                    <m:sSub>
                      <m:e>
                        <m:r>
                          <m:t>​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/>
                  <a:t> 晶體結構</a:t>
                </a:r>
              </a:p>
            </p:txBody>
          </p:sp>
        </mc:Choice>
      </mc:AlternateContent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實驗方法 (Experimental Methods)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/>
              <p:cNvSpPr>
                <a:spLocks noGrp="1"/>
              </p:cNvSpPr>
              <p:nvPr>
                <p:ph idx="2" sz="half" type="body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元件製備流程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晶體生長</a:t>
                </a:r>
                <a:r>
                  <a:rPr/>
                  <a:t>: 助熔劑法 (由成功大學呂欽山教授提供)。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機械剝離</a:t>
                </a:r>
                <a:r>
                  <a:rPr/>
                  <a:t>: 將 PtTe</a:t>
                </a:r>
                <a14:m>
                  <m:oMath xmlns:m="http://schemas.openxmlformats.org/officeDocument/2006/math">
                    <m:sSub>
                      <m:e>
                        <m:r>
                          <m:t>​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/>
                  <a:t> 薄片剝離至 SiO</a:t>
                </a:r>
                <a14:m>
                  <m:oMath xmlns:m="http://schemas.openxmlformats.org/officeDocument/2006/math">
                    <m:sSub>
                      <m:e>
                        <m:r>
                          <m:t>​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/>
                  <a:t>/Si 基板上。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電子束微影 (EBL)</a:t>
                </a:r>
                <a:r>
                  <a:rPr/>
                  <a:t>:</a:t>
                </a:r>
              </a:p>
              <a:p>
                <a:pPr lvl="1"/>
                <a:r>
                  <a:rPr/>
                  <a:t>塗佈 PMMA 光阻。</a:t>
                </a:r>
              </a:p>
              <a:p>
                <a:pPr lvl="1"/>
                <a:r>
                  <a:rPr/>
                  <a:t>定義電極接觸與 SQUID 環路圖案。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金屬化製程</a:t>
                </a:r>
                <a:r>
                  <a:rPr/>
                  <a:t>:</a:t>
                </a:r>
              </a:p>
              <a:p>
                <a:pPr lvl="1"/>
                <a:r>
                  <a:rPr/>
                  <a:t>超導電極材料: </a:t>
                </a:r>
                <a:r>
                  <a:rPr b="1"/>
                  <a:t>鋁 (Al)</a:t>
                </a:r>
                <a:r>
                  <a:rPr/>
                  <a:t> 或 </a:t>
                </a:r>
                <a:r>
                  <a:rPr b="1"/>
                  <a:t>鈮 (Nb)</a:t>
                </a:r>
                <a:r>
                  <a:rPr/>
                  <a:t>。</a:t>
                </a:r>
              </a:p>
              <a:p>
                <a:pPr lvl="1"/>
                <a:r>
                  <a:rPr i="1"/>
                  <a:t>原位 (In-situ)</a:t>
                </a:r>
                <a:r>
                  <a:rPr/>
                  <a:t> 氬離子蝕刻以確保介面高透明度。</a:t>
                </a:r>
              </a:p>
              <a:p>
                <a:pPr lvl="1"/>
                <a:r>
                  <a:rPr/>
                  <a:t>電子束蒸鍍與掀離 (Liftoff)。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元件設計</a:t>
                </a:r>
                <a:r>
                  <a:rPr/>
                  <a:t>: 非對稱直流超導量子干涉儀 (Asymmetric dc-SQUID) 幾何結構，用於還原 CPR。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量測系統架設</a:t>
                </a:r>
              </a:p>
              <a:p>
                <a:pPr lvl="0"/>
                <a:r>
                  <a:rPr b="1"/>
                  <a:t>極低溫系統</a:t>
                </a:r>
                <a:r>
                  <a:rPr/>
                  <a:t>: 稀釋製冷機 (DR)</a:t>
                </a:r>
              </a:p>
              <a:p>
                <a:pPr lvl="1"/>
                <a:r>
                  <a:rPr/>
                  <a:t>基溫: </a:t>
                </a:r>
                <a:r>
                  <a:rPr b="1"/>
                  <a:t>~40 mK</a:t>
                </a:r>
                <a:r>
                  <a:rPr/>
                  <a:t>。</a:t>
                </a:r>
              </a:p>
              <a:p>
                <a:pPr lvl="0"/>
                <a:r>
                  <a:rPr b="1"/>
                  <a:t>電子儀器</a:t>
                </a:r>
                <a:r>
                  <a:rPr/>
                  <a:t>:</a:t>
                </a:r>
              </a:p>
              <a:p>
                <a:pPr lvl="1"/>
                <a:r>
                  <a:rPr/>
                  <a:t>低雜訊濾波模組。</a:t>
                </a:r>
              </a:p>
              <a:p>
                <a:pPr lvl="1"/>
                <a:r>
                  <a:rPr/>
                  <a:t>四端點量測 (電流偏壓，電壓讀取)。</a:t>
                </a:r>
              </a:p>
              <a:p>
                <a:pPr lvl="0"/>
                <a:r>
                  <a:rPr b="1"/>
                  <a:t>磁場控制</a:t>
                </a:r>
                <a:r>
                  <a:rPr/>
                  <a:t>:</a:t>
                </a:r>
              </a:p>
              <a:p>
                <a:pPr lvl="1"/>
                <a:r>
                  <a:rPr/>
                  <a:t>三軸向量磁鐵。</a:t>
                </a:r>
              </a:p>
              <a:p>
                <a:pPr lvl="1"/>
                <a:r>
                  <a:rPr/>
                  <a:t>精確校準 </a:t>
                </a:r>
                <a:r>
                  <a:rPr b="1"/>
                  <a:t>面內磁場</a:t>
                </a:r>
                <a:r>
                  <a:rPr/>
                  <a:t> (</a:t>
                </a:r>
                <a14:m>
                  <m:oMath xmlns:m="http://schemas.openxmlformats.org/officeDocument/2006/math">
                    <m:sSub>
                      <m:e>
                        <m: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m:t>∥</m:t>
                        </m:r>
                      </m:sub>
                    </m:sSub>
                  </m:oMath>
                </a14:m>
                <a:r>
                  <a:rPr/>
                  <a:t>) 與 </a:t>
                </a:r>
                <a:r>
                  <a:rPr b="1"/>
                  <a:t>垂直磁場</a:t>
                </a:r>
                <a:r>
                  <a:rPr/>
                  <a:t> (</a:t>
                </a:r>
                <a14:m>
                  <m:oMath xmlns:m="http://schemas.openxmlformats.org/officeDocument/2006/math">
                    <m:sSub>
                      <m:e>
                        <m: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m:t>⟂</m:t>
                        </m:r>
                      </m:sub>
                    </m:sSub>
                  </m:oMath>
                </a14:m>
                <a:r>
                  <a:rPr/>
                  <a:t>)。</a:t>
                </a:r>
              </a:p>
            </p:txBody>
          </p:sp>
        </mc:Choice>
      </mc:AlternateContent>
      <p:pic>
        <p:nvPicPr>
          <p:cNvPr descr="Images/coordinate_system_schematic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822700" y="203200"/>
            <a:ext cx="45974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量測座標系統示意圖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結果：基本特性鑑定 (Basic Characterization)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I-V 特性曲線 (直流傳輸)</a:t>
                </a:r>
              </a:p>
              <a:p>
                <a:pPr lvl="0"/>
                <a:r>
                  <a:rPr b="1"/>
                  <a:t>典型 IV 曲線</a:t>
                </a:r>
                <a:r>
                  <a:rPr/>
                  <a:t>:</a:t>
                </a:r>
              </a:p>
              <a:p>
                <a:pPr lvl="1"/>
                <a:r>
                  <a:rPr/>
                  <a:t>明顯的超導分支 (</a:t>
                </a:r>
                <a14:m>
                  <m:oMath xmlns:m="http://schemas.openxmlformats.org/officeDocument/2006/math">
                    <m:r>
                      <m:t>V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</m:t>
                    </m:r>
                  </m:oMath>
                </a14:m>
                <a:r>
                  <a:rPr/>
                  <a:t>)。</a:t>
                </a:r>
              </a:p>
              <a:p>
                <a:pPr lvl="1"/>
                <a:r>
                  <a:rPr/>
                  <a:t>開關電流 (</a:t>
                </a:r>
                <a14:m>
                  <m:oMath xmlns:m="http://schemas.openxmlformats.org/officeDocument/2006/math">
                    <m:sSub>
                      <m:e>
                        <m:r>
                          <m:t>I</m:t>
                        </m:r>
                      </m:e>
                      <m:sub>
                        <m:r>
                          <m:t>c</m:t>
                        </m:r>
                      </m:sub>
                    </m:sSub>
                  </m:oMath>
                </a14:m>
                <a:r>
                  <a:rPr/>
                  <a:t>) 與重捕獲電流 (</a:t>
                </a:r>
                <a14:m>
                  <m:oMath xmlns:m="http://schemas.openxmlformats.org/officeDocument/2006/math">
                    <m:sSub>
                      <m:e>
                        <m:r>
                          <m:t>I</m:t>
                        </m:r>
                      </m:e>
                      <m:sub>
                        <m:r>
                          <m:t>r</m:t>
                        </m:r>
                      </m:sub>
                    </m:sSub>
                  </m:oMath>
                </a14:m>
                <a:r>
                  <a:rPr/>
                  <a:t>)。</a:t>
                </a:r>
              </a:p>
              <a:p>
                <a:pPr lvl="1"/>
                <a:r>
                  <a:rPr/>
                  <a:t>遲滯行為 (低阻尼接面)。</a:t>
                </a:r>
              </a:p>
            </p:txBody>
          </p:sp>
        </mc:Choice>
      </mc:AlternateContent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s/iv_run20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447800"/>
            <a:ext cx="4038600" cy="2387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基溫下之 I-V 曲線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觀察結果</a:t>
                </a:r>
                <a:r>
                  <a:rPr/>
                  <a:t>:</a:t>
                </a:r>
              </a:p>
              <a:p>
                <a:pPr lvl="1"/>
                <a:r>
                  <a:rPr/>
                  <a:t>轉變陡峭，顯示高品質接面特性。</a:t>
                </a:r>
              </a:p>
              <a:p>
                <a:pPr lvl="1"/>
                <a:r>
                  <a:rPr/>
                  <a:t>正常態具有有限電阻 (</a:t>
                </a:r>
                <a14:m>
                  <m:oMath xmlns:m="http://schemas.openxmlformats.org/officeDocument/2006/math">
                    <m:sSub>
                      <m:e>
                        <m:r>
                          <m:t>R</m:t>
                        </m:r>
                      </m:e>
                      <m:sub>
                        <m:r>
                          <m:t>N</m:t>
                        </m:r>
                      </m:sub>
                    </m:sSub>
                  </m:oMath>
                </a14:m>
                <a:r>
                  <a:rPr/>
                  <a:t>)。</a:t>
                </a:r>
              </a:p>
              <a:p>
                <a:pPr lvl="1"/>
                <a:r>
                  <a:rPr/>
                  <a:t>高偏壓處觀察到 </a:t>
                </a:r>
                <a:r>
                  <a:rPr b="1"/>
                  <a:t>過剩電流 (Excess Current)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顯示高介面透明度。</a:t>
                </a:r>
              </a:p>
            </p:txBody>
          </p:sp>
        </mc:Choice>
      </mc:AlternateContent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/>
              <p:cNvSpPr>
                <a:spLocks noGrp="1"/>
              </p:cNvSpPr>
              <p:nvPr>
                <p:ph idx="2" sz="half" type="body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夫朗和斐圖樣 (交流約瑟夫森效應)</a:t>
                </a:r>
              </a:p>
              <a:p>
                <a:pPr lvl="0"/>
                <a:r>
                  <a:rPr b="1"/>
                  <a:t>磁場調變</a:t>
                </a:r>
                <a:r>
                  <a:rPr/>
                  <a:t>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I</m:t>
                        </m:r>
                      </m:e>
                      <m:sub>
                        <m:r>
                          <m:t>c</m:t>
                        </m:r>
                      </m:sub>
                    </m:sSub>
                  </m:oMath>
                </a14:m>
                <a:r>
                  <a:rPr/>
                  <a:t> 對 </a:t>
                </a:r>
                <a14:m>
                  <m:oMath xmlns:m="http://schemas.openxmlformats.org/officeDocument/2006/math">
                    <m:sSub>
                      <m:e>
                        <m: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m:t>⟂</m:t>
                        </m:r>
                      </m:sub>
                    </m:sSub>
                  </m:oMath>
                </a14:m>
                <a:r>
                  <a:rPr/>
                  <a:t> (垂直磁場) 的關係。</a:t>
                </a:r>
              </a:p>
              <a:p>
                <a:pPr lvl="0"/>
                <a:r>
                  <a:rPr b="1"/>
                  <a:t>圖樣分析</a:t>
                </a:r>
                <a:r>
                  <a:rPr/>
                  <a:t>:</a:t>
                </a:r>
              </a:p>
              <a:p>
                <a:pPr lvl="1"/>
                <a:r>
                  <a:rPr/>
                  <a:t>規律的震盪顯示初始電流分佈均勻。</a:t>
                </a:r>
              </a:p>
              <a:p>
                <a:pPr lvl="1"/>
                <a:r>
                  <a:rPr/>
                  <a:t>偏離現象暗示非均勻性或相位纏繞變化。</a:t>
                </a:r>
              </a:p>
            </p:txBody>
          </p:sp>
        </mc:Choice>
      </mc:AlternateContent>
      <p:pic>
        <p:nvPicPr>
          <p:cNvPr descr="Images/fraunhofer_heatmap_005-1_60mT_linear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95700" y="203200"/>
            <a:ext cx="48387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夫朗和斐圖樣 (Fraunhofer Pattern)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結果：電流-相位關係 (Current-Phase Relation)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CPR 還原方法</a:t>
                </a:r>
              </a:p>
              <a:p>
                <a:pPr lvl="0"/>
                <a:r>
                  <a:rPr b="1"/>
                  <a:t>非對稱 SQUID 技術</a:t>
                </a:r>
                <a:r>
                  <a:rPr/>
                  <a:t>:</a:t>
                </a:r>
              </a:p>
              <a:p>
                <a:pPr lvl="1"/>
                <a:r>
                  <a:rPr/>
                  <a:t>大接面 (</a:t>
                </a:r>
                <a14:m>
                  <m:oMath xmlns:m="http://schemas.openxmlformats.org/officeDocument/2006/math">
                    <m:sSub>
                      <m:e>
                        <m:r>
                          <m:t>I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f</m:t>
                        </m:r>
                      </m:sub>
                    </m:sSub>
                  </m:oMath>
                </a14:m>
                <a:r>
                  <a:rPr/>
                  <a:t>) // 小接面 (</a:t>
                </a:r>
                <a14:m>
                  <m:oMath xmlns:m="http://schemas.openxmlformats.org/officeDocument/2006/math">
                    <m:sSub>
                      <m:e>
                        <m:r>
                          <m:t>I</m:t>
                        </m:r>
                      </m:e>
                      <m:sub>
                        <m:r>
                          <m:t>t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t</m:t>
                        </m:r>
                      </m:sub>
                    </m:sSub>
                  </m:oMath>
                </a14:m>
                <a:r>
                  <a:rPr/>
                  <a:t>)。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I</m:t>
                        </m:r>
                      </m:e>
                      <m:sub>
                        <m:r>
                          <m:t>c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sSub>
                          <m:e>
                            <m:r>
                              <m:t>Φ</m:t>
                            </m:r>
                          </m:e>
                          <m:sub>
                            <m:r>
                              <m:t>e</m:t>
                            </m:r>
                            <m:r>
                              <m:t>x</m:t>
                            </m:r>
                            <m:r>
                              <m:t>t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m:t>≈</m:t>
                    </m:r>
                    <m:sSub>
                      <m:e>
                        <m:r>
                          <m:t>I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f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sSub>
                      <m:e>
                        <m:r>
                          <m:t>I</m:t>
                        </m:r>
                      </m:e>
                      <m:sub>
                        <m:r>
                          <m:t>t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t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ϕ</m:t>
                        </m:r>
                      </m:e>
                    </m:d>
                  </m:oMath>
                </a14:m>
                <a:r>
                  <a:rPr/>
                  <a:t>.</a:t>
                </a:r>
              </a:p>
              <a:p>
                <a:pPr lvl="1"/>
                <a:r>
                  <a:rPr/>
                  <a:t>假設 </a:t>
                </a:r>
                <a14:m>
                  <m:oMath xmlns:m="http://schemas.openxmlformats.org/officeDocument/2006/math">
                    <m:sSub>
                      <m:e>
                        <m:r>
                          <m:t>I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f</m:t>
                        </m:r>
                      </m:sub>
                    </m:sSub>
                    <m:r>
                      <m:rPr>
                        <m:sty m:val="p"/>
                      </m:rPr>
                      <m:t>≫</m:t>
                    </m:r>
                    <m:sSub>
                      <m:e>
                        <m:r>
                          <m:t>I</m:t>
                        </m:r>
                      </m:e>
                      <m:sub>
                        <m:r>
                          <m:t>t</m:t>
                        </m:r>
                        <m:r>
                          <m:t>e</m:t>
                        </m:r>
                        <m:r>
                          <m:t>s</m:t>
                        </m:r>
                        <m:r>
                          <m:t>t</m:t>
                        </m:r>
                      </m:sub>
                    </m:sSub>
                  </m:oMath>
                </a14:m>
                <a:r>
                  <a:rPr/>
                  <a:t> 且 </a:t>
                </a:r>
                <a14:m>
                  <m:oMath xmlns:m="http://schemas.openxmlformats.org/officeDocument/2006/math">
                    <m:sSub>
                      <m:e>
                        <m:r>
                          <m:t>I</m:t>
                        </m:r>
                      </m:e>
                      <m:sub>
                        <m:r>
                          <m:t>r</m:t>
                        </m:r>
                        <m:r>
                          <m:t>e</m:t>
                        </m:r>
                        <m:r>
                          <m:t>f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ϕ</m:t>
                        </m:r>
                      </m:e>
                    </m:d>
                  </m:oMath>
                </a14:m>
                <a:r>
                  <a:rPr/>
                  <a:t> 為正弦形式。</a:t>
                </a:r>
              </a:p>
              <a:p>
                <a:pPr lvl="0"/>
                <a:r>
                  <a:rPr b="1"/>
                  <a:t>數學模型</a:t>
                </a:r>
                <a:r>
                  <a:rPr/>
                  <a:t>:</a:t>
                </a:r>
              </a:p>
              <a:p>
                <a:pPr lvl="0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I</m:t>
                          </m:r>
                        </m:e>
                        <m:sub>
                          <m:r>
                            <m:t>s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ϕ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I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sin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ϕ</m:t>
                          </m:r>
                        </m:e>
                      </m:d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I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sin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2</m:t>
                          </m:r>
                          <m:r>
                            <m:t>ϕ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t>δ</m:t>
                          </m:r>
                        </m:e>
                      </m:d>
                    </m:oMath>
                  </m:oMathPara>
                </a14:m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I</m:t>
                        </m:r>
                      </m:e>
                      <m:sub>
                        <m:r>
                          <m:t>1</m:t>
                        </m:r>
                      </m:sub>
                    </m:sSub>
                  </m:oMath>
                </a14:m>
                <a:r>
                  <a:rPr/>
                  <a:t>: 基頻分量 (傳統超導)。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I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/>
                  <a:t>: 二倍頻分量 (4</a:t>
                </a:r>
                <a14:m>
                  <m:oMath xmlns:m="http://schemas.openxmlformats.org/officeDocument/2006/math">
                    <m:r>
                      <m:t>π</m:t>
                    </m:r>
                  </m:oMath>
                </a14:m>
                <a:r>
                  <a:rPr/>
                  <a:t>-週期 / ABS)。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量測 CPR 與擬合結果</a:t>
                </a:r>
              </a:p>
            </p:txBody>
          </p:sp>
        </mc:Choice>
      </mc:AlternateContent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s/cpr_fit_127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422400"/>
            <a:ext cx="4038600" cy="2425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還原之 CPR 波形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關鍵發現</a:t>
                </a:r>
                <a:r>
                  <a:rPr/>
                  <a:t>:</a:t>
                </a:r>
              </a:p>
              <a:p>
                <a:pPr lvl="1"/>
                <a:r>
                  <a:rPr b="1"/>
                  <a:t>歪斜的 CPR</a:t>
                </a:r>
                <a:r>
                  <a:rPr/>
                  <a:t>: 顯著偏離純弦波形式。</a:t>
                </a:r>
              </a:p>
              <a:p>
                <a:pPr lvl="1"/>
                <a:r>
                  <a:rPr b="1"/>
                  <a:t>高 </a:t>
                </a:r>
                <a14:m>
                  <m:oMath xmlns:m="http://schemas.openxmlformats.org/officeDocument/2006/math">
                    <m:sSub>
                      <m:e>
                        <m:r>
                          <m:t>I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/</m:t>
                    </m:r>
                    <m:sSub>
                      <m:e>
                        <m:r>
                          <m:t>I</m:t>
                        </m:r>
                      </m:e>
                      <m:sub>
                        <m:r>
                          <m:t>1</m:t>
                        </m:r>
                      </m:sub>
                    </m:sSub>
                  </m:oMath>
                </a14:m>
                <a:r>
                  <a:rPr b="1"/>
                  <a:t> 比值</a:t>
                </a:r>
                <a:r>
                  <a:rPr/>
                  <a:t>: 偵測到顯著的二階諧波分量。</a:t>
                </a:r>
              </a:p>
              <a:p>
                <a:pPr lvl="1"/>
                <a:r>
                  <a:rPr/>
                  <a:t>顯示存在高透明度的安德烈夫束縛態 (Andreev Bound States, ABS)。</a:t>
                </a:r>
              </a:p>
            </p:txBody>
          </p:sp>
        </mc:Choice>
      </mc:AlternateContent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結果：面內磁場效應 (In-Plane Magnetic Field Effect)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/>
              <p:cNvSpPr>
                <a:spLocks noGrp="1"/>
              </p:cNvSpPr>
              <p:nvPr>
                <p:ph idx="2" sz="half" type="body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面內磁場調控 CPR</a:t>
                </a:r>
              </a:p>
              <a:p>
                <a:pPr lvl="0"/>
                <a:r>
                  <a:rPr b="1"/>
                  <a:t>觀察結果</a:t>
                </a:r>
                <a:r>
                  <a:rPr/>
                  <a:t>:</a:t>
                </a:r>
              </a:p>
              <a:p>
                <a:pPr lvl="1"/>
                <a:r>
                  <a:rPr/>
                  <a:t>施加 </a:t>
                </a:r>
                <a14:m>
                  <m:oMath xmlns:m="http://schemas.openxmlformats.org/officeDocument/2006/math">
                    <m:sSub>
                      <m:e>
                        <m: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m:t>∥</m:t>
                        </m:r>
                      </m:sub>
                    </m:sSub>
                  </m:oMath>
                </a14:m>
                <a:r>
                  <a:rPr/>
                  <a:t> 會改變 CPR 的形狀。</a:t>
                </a:r>
              </a:p>
              <a:p>
                <a:pPr lvl="1"/>
                <a:r>
                  <a:rPr/>
                  <a:t>是否在二階諧波中誘導出 </a:t>
                </a:r>
                <a:r>
                  <a:rPr b="1"/>
                  <a:t>相位偏移</a:t>
                </a:r>
                <a:r>
                  <a:rPr/>
                  <a:t> (</a:t>
                </a:r>
                <a14:m>
                  <m:oMath xmlns:m="http://schemas.openxmlformats.org/officeDocument/2006/math">
                    <m:sSub>
                      <m:e>
                        <m:r>
                          <m:t>ϕ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  <a:r>
                  <a:rPr/>
                  <a:t>)？</a:t>
                </a:r>
              </a:p>
              <a:p>
                <a:pPr lvl="1"/>
                <a:r>
                  <a:rPr b="1"/>
                  <a:t>約瑟夫森二極體效應 (JDE)</a:t>
                </a:r>
                <a:r>
                  <a:rPr/>
                  <a:t> 的證據。</a:t>
                </a:r>
              </a:p>
            </p:txBody>
          </p:sp>
        </mc:Choice>
      </mc:AlternateContent>
      <p:pic>
        <p:nvPicPr>
          <p:cNvPr descr="Images/CPR_evolution_27_log_offset_corrected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203200"/>
            <a:ext cx="24257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面內磁場下 CPR 之演化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約瑟夫森二極體效應 (JDE)</a:t>
                </a:r>
              </a:p>
              <a:p>
                <a:pPr lvl="0"/>
                <a:r>
                  <a:rPr b="1"/>
                  <a:t>定義</a:t>
                </a:r>
                <a:r>
                  <a:rPr/>
                  <a:t>: 非互易臨界電流 (</a:t>
                </a:r>
                <a14:m>
                  <m:oMath xmlns:m="http://schemas.openxmlformats.org/officeDocument/2006/math">
                    <m:sSubSup>
                      <m:e>
                        <m:r>
                          <m:t>I</m:t>
                        </m:r>
                      </m:e>
                      <m:sub>
                        <m:r>
                          <m:t>c</m:t>
                        </m:r>
                      </m:sub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bSup>
                    <m:r>
                      <m:rPr>
                        <m:sty m:val="p"/>
                      </m:rPr>
                      <m:t>≠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</m:dPr>
                      <m:e>
                        <m:sSubSup>
                          <m:e>
                            <m:r>
                              <m:t>I</m:t>
                            </m:r>
                          </m:e>
                          <m:sub>
                            <m:r>
                              <m:t>c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</m:sup>
                        </m:sSubSup>
                      </m:e>
                    </m:d>
                  </m:oMath>
                </a14:m>
                <a:r>
                  <a:rPr/>
                  <a:t>).</a:t>
                </a:r>
              </a:p>
              <a:p>
                <a:pPr lvl="0"/>
                <a:r>
                  <a:rPr b="1"/>
                  <a:t>機制</a:t>
                </a:r>
                <a:r>
                  <a:rPr/>
                  <a:t>:</a:t>
                </a:r>
              </a:p>
              <a:p>
                <a:pPr lvl="1"/>
                <a:r>
                  <a:rPr/>
                  <a:t>反演對稱性破缺 (結構或場誘導)。</a:t>
                </a:r>
              </a:p>
              <a:p>
                <a:pPr lvl="1"/>
                <a:r>
                  <a:rPr/>
                  <a:t>時間反演對稱性破缺 (</a:t>
                </a:r>
                <a14:m>
                  <m:oMath xmlns:m="http://schemas.openxmlformats.org/officeDocument/2006/math">
                    <m:r>
                      <m:t>B</m:t>
                    </m:r>
                  </m:oMath>
                </a14:m>
                <a:r>
                  <a:rPr/>
                  <a:t>-field)。</a:t>
                </a:r>
              </a:p>
              <a:p>
                <a:pPr lvl="1"/>
                <a:r>
                  <a:rPr/>
                  <a:t>有限動量庫柏對？</a:t>
                </a:r>
              </a:p>
              <a:p>
                <a:pPr lvl="0"/>
                <a:r>
                  <a:rPr b="1"/>
                  <a:t>結果</a:t>
                </a:r>
                <a:r>
                  <a:rPr/>
                  <a:t>:</a:t>
                </a:r>
              </a:p>
              <a:p>
                <a:pPr lvl="1"/>
                <a:r>
                  <a:rPr/>
                  <a:t>二極體效率 </a:t>
                </a:r>
                <a14:m>
                  <m:oMath xmlns:m="http://schemas.openxmlformats.org/officeDocument/2006/math">
                    <m:r>
                      <m:t>η</m:t>
                    </m:r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sSubSup>
                          <m:e>
                            <m:r>
                              <m:t>I</m:t>
                            </m:r>
                          </m:e>
                          <m:sub>
                            <m:r>
                              <m:t>c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m:t>+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m:t>−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/>
                          </m:dPr>
                          <m:e>
                            <m:sSubSup>
                              <m:e>
                                <m:r>
                                  <m:t>I</m:t>
                                </m:r>
                              </m:e>
                              <m:sub>
                                <m:r>
                                  <m:t>c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</m:sup>
                            </m:sSubSup>
                          </m:e>
                        </m:d>
                      </m:num>
                      <m:den>
                        <m:sSubSup>
                          <m:e>
                            <m:r>
                              <m:t>I</m:t>
                            </m:r>
                          </m:e>
                          <m:sub>
                            <m:r>
                              <m:t>c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m:t>+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m:t>+</m:t>
                        </m:r>
                        <m:d>
                          <m:dPr>
                            <m:begChr m:val="|"/>
                            <m:sepChr m:val=""/>
                            <m:endChr m:val="|"/>
                            <m:grow/>
                          </m:dPr>
                          <m:e>
                            <m:sSubSup>
                              <m:e>
                                <m:r>
                                  <m:t>I</m:t>
                                </m:r>
                              </m:e>
                              <m:sub>
                                <m:r>
                                  <m:t>c</m:t>
                                </m:r>
                              </m:sub>
                              <m:sup>
                                <m:r>
                                  <m:rPr>
                                    <m:sty m:val="p"/>
                                  </m:rPr>
                                  <m:t>−</m:t>
                                </m:r>
                              </m:sup>
                            </m:sSubSup>
                          </m:e>
                        </m:d>
                      </m:den>
                    </m:f>
                  </m:oMath>
                </a14:m>
                <a:r>
                  <a:rPr/>
                  <a:t>.</a:t>
                </a:r>
              </a:p>
              <a:p>
                <a:pPr lvl="1"/>
                <a:r>
                  <a:rPr/>
                  <a:t>可透過磁場角度與大小進行調控。</a:t>
                </a:r>
              </a:p>
            </p:txBody>
          </p:sp>
        </mc:Choice>
      </mc:AlternateContent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結論 (Conclusion)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總結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成功製備</a:t>
                </a:r>
                <a:r>
                  <a:rPr/>
                  <a:t>:</a:t>
                </a:r>
              </a:p>
              <a:p>
                <a:pPr lvl="1"/>
                <a:r>
                  <a:rPr/>
                  <a:t>實現高品質 1T-PtTe</a:t>
                </a:r>
                <a14:m>
                  <m:oMath xmlns:m="http://schemas.openxmlformats.org/officeDocument/2006/math">
                    <m:sSub>
                      <m:e>
                        <m:r>
                          <m:t>​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/>
                  <a:t> 約瑟夫森接面與 SQUID 元件。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異常 CPR</a:t>
                </a:r>
                <a:r>
                  <a:rPr/>
                  <a:t>:</a:t>
                </a:r>
              </a:p>
              <a:p>
                <a:pPr lvl="1"/>
                <a:r>
                  <a:rPr/>
                  <a:t>觀測到顯著的 </a:t>
                </a:r>
                <a:r>
                  <a:rPr b="1"/>
                  <a:t>二階諧波</a:t>
                </a:r>
                <a:r>
                  <a:rPr/>
                  <a:t> (</a:t>
                </a:r>
                <a14:m>
                  <m:oMath xmlns:m="http://schemas.openxmlformats.org/officeDocument/2006/math">
                    <m:sSub>
                      <m:e>
                        <m:r>
                          <m:t>I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/>
                  <a:t>) 貢獻。</a:t>
                </a:r>
              </a:p>
              <a:p>
                <a:pPr lvl="1"/>
                <a:r>
                  <a:rPr/>
                  <a:t>高透明度傳輸模態的直接證據。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磁場調控</a:t>
                </a:r>
                <a:r>
                  <a:rPr/>
                  <a:t>:</a:t>
                </a:r>
              </a:p>
              <a:p>
                <a:pPr lvl="1"/>
                <a:r>
                  <a:rPr/>
                  <a:t>面內磁場可有效調變 CPR 並誘導 </a:t>
                </a:r>
                <a:r>
                  <a:rPr b="1"/>
                  <a:t>約瑟夫森二極體效應</a:t>
                </a:r>
                <a:r>
                  <a:rPr/>
                  <a:t>。</a:t>
                </a:r>
              </a:p>
              <a:p>
                <a:pPr lvl="1"/>
                <a:r>
                  <a:rPr/>
                  <a:t>證實其在 </a:t>
                </a:r>
                <a:r>
                  <a:rPr b="1"/>
                  <a:t>可調控超導邏輯</a:t>
                </a:r>
                <a:r>
                  <a:rPr/>
                  <a:t> 與 </a:t>
                </a:r>
                <a:r>
                  <a:rPr b="1"/>
                  <a:t>相位電池</a:t>
                </a:r>
                <a:r>
                  <a:rPr/>
                  <a:t> 應用的潛力。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未來展望</a:t>
                </a:r>
              </a:p>
              <a:p>
                <a:pPr lvl="0"/>
                <a:r>
                  <a:rPr b="1"/>
                  <a:t>優化製程</a:t>
                </a:r>
                <a:r>
                  <a:rPr/>
                  <a:t>: 提升元件製備良率與介面控制能力。</a:t>
                </a:r>
              </a:p>
              <a:p>
                <a:pPr lvl="0"/>
                <a:r>
                  <a:rPr b="1"/>
                  <a:t>材料探索</a:t>
                </a:r>
                <a:r>
                  <a:rPr/>
                  <a:t>: 拓展至其他外爾 (Weyl) / 狄拉克 (Dirac) 半金屬。</a:t>
                </a:r>
              </a:p>
              <a:p>
                <a:pPr lvl="0"/>
                <a:r>
                  <a:rPr b="1"/>
                  <a:t>量子資訊</a:t>
                </a:r>
                <a:r>
                  <a:rPr/>
                  <a:t>: 整合至超導量子位元電路 (例如：作為非線性電感元件)。</a:t>
                </a:r>
              </a:p>
            </p:txBody>
          </p:sp>
        </mc:Choice>
      </mc:AlternateContent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參考文獻 (References)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面內磁場下 1T 相二碲化鉑約瑟夫森接面之電流-相位關係研究</dc:title>
  <dc:creator>徐道宜 (Tao-Yi Hsu)</dc:creator>
  <cp:keywords/>
  <dcterms:created xsi:type="dcterms:W3CDTF">2026-01-02T11:41:13Z</dcterms:created>
  <dcterms:modified xsi:type="dcterms:W3CDTF">2026-01-02T11:41:13Z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ibliography">
    <vt:lpwstr>../references.bib</vt:lpwstr>
  </property>
  <property fmtid="{D5CDD505-2E9C-101B-9397-08002B2CF9AE}" pid="6" name="by-affiliation">
    <vt:lpwstr/>
  </property>
  <property fmtid="{D5CDD505-2E9C-101B-9397-08002B2CF9AE}" pid="7" name="by-author">
    <vt:lpwstr/>
  </property>
  <property fmtid="{D5CDD505-2E9C-101B-9397-08002B2CF9AE}" pid="8" name="date">
    <vt:lpwstr>2024-06-20</vt:lpwstr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institute">
    <vt:lpwstr>國立中山大學 (National Sun Yat-sen University)</vt:lpwstr>
  </property>
  <property fmtid="{D5CDD505-2E9C-101B-9397-08002B2CF9AE}" pid="13" name="institutes">
    <vt:lpwstr/>
  </property>
  <property fmtid="{D5CDD505-2E9C-101B-9397-08002B2CF9AE}" pid="14" name="labels">
    <vt:lpwstr/>
  </property>
  <property fmtid="{D5CDD505-2E9C-101B-9397-08002B2CF9AE}" pid="15" name="subtitle">
    <vt:lpwstr>Investigation of Current-Phase Relationship in 1T-Phase Platinum Ditelluride Josephson Junctions under In-Plane Magnetic Field</vt:lpwstr>
  </property>
  <property fmtid="{D5CDD505-2E9C-101B-9397-08002B2CF9AE}" pid="16" name="toc-title">
    <vt:lpwstr>Table of contents</vt:lpwstr>
  </property>
</Properties>
</file>