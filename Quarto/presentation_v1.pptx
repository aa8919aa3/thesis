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sv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sv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sv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sv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Investigation of Current-Phase Relationship in 1T-Phase Platinum Ditelluride Josephson Junctions under In-Plane Magnetic Field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面內磁場下 1T 相二碲化鉑約瑟夫森接面之電流-相位關係研究</a:t>
            </a:r>
            <a:br/>
            <a:br/>
            <a:r>
              <a:rPr/>
              <a:t>Tao-Yi Hsu (徐道宜)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2024-06-20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Outline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Introduction</a:t>
                </a:r>
              </a:p>
              <a:p>
                <a:pPr lvl="1"/>
                <a:r>
                  <a:rPr/>
                  <a:t>Research Motivation</a:t>
                </a:r>
              </a:p>
              <a:p>
                <a:pPr lvl="1"/>
                <a:r>
                  <a:rPr/>
                  <a:t>Type-II Dirac Semimetal (1T-PtTe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)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Theoretical Background</a:t>
                </a:r>
              </a:p>
              <a:p>
                <a:pPr lvl="1"/>
                <a:r>
                  <a:rPr/>
                  <a:t>Josephson Effect &amp; CPR</a:t>
                </a:r>
              </a:p>
              <a:p>
                <a:pPr lvl="1"/>
                <a:r>
                  <a:rPr/>
                  <a:t>Josephson Diode Effect (JDE)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Experimental Methods</a:t>
                </a:r>
              </a:p>
              <a:p>
                <a:pPr lvl="1"/>
                <a:r>
                  <a:rPr/>
                  <a:t>Device Fabrication</a:t>
                </a:r>
              </a:p>
              <a:p>
                <a:pPr lvl="1"/>
                <a:r>
                  <a:rPr/>
                  <a:t>Measurement Setup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Results &amp; Discussion</a:t>
                </a:r>
              </a:p>
              <a:p>
                <a:pPr lvl="1"/>
                <a:r>
                  <a:rPr/>
                  <a:t>Basic Characterization</a:t>
                </a:r>
              </a:p>
              <a:p>
                <a:pPr lvl="1"/>
                <a:r>
                  <a:rPr/>
                  <a:t>Current-Phase Relation (CPR) Analysis</a:t>
                </a:r>
              </a:p>
              <a:p>
                <a:pPr lvl="1"/>
                <a:r>
                  <a:rPr/>
                  <a:t>Magnetic Field Dependence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Conclusion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Research Motivation</a:t>
                </a:r>
              </a:p>
              <a:p>
                <a:pPr lvl="0"/>
                <a:r>
                  <a:rPr b="1"/>
                  <a:t>Emerging Topological Materials</a:t>
                </a:r>
                <a:r>
                  <a:rPr/>
                  <a:t>:</a:t>
                </a:r>
              </a:p>
              <a:p>
                <a:pPr lvl="1"/>
                <a:r>
                  <a:rPr/>
                  <a:t>Integration of </a:t>
                </a:r>
                <a:r>
                  <a:rPr b="1"/>
                  <a:t>Type-II Dirac Semimetals</a:t>
                </a:r>
                <a:r>
                  <a:rPr/>
                  <a:t> (e.g., 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) with superconductors.</a:t>
                </a:r>
              </a:p>
              <a:p>
                <a:pPr lvl="1"/>
                <a:r>
                  <a:rPr/>
                  <a:t>Exploring novel quantum transport phenomena (e.g., topological protection, helical edge states).</a:t>
                </a:r>
              </a:p>
              <a:p>
                <a:pPr lvl="0"/>
                <a:r>
                  <a:rPr b="1"/>
                  <a:t>Current-Phase Relation (CPR) Physics</a:t>
                </a:r>
                <a:r>
                  <a:rPr/>
                  <a:t>:</a:t>
                </a:r>
              </a:p>
              <a:p>
                <a:pPr lvl="1"/>
                <a:r>
                  <a:rPr/>
                  <a:t>Direct measurement of CPR harmonics (</a:t>
                </a:r>
                <a14:m>
                  <m:oMath xmlns:m="http://schemas.openxmlformats.org/officeDocument/2006/math">
                    <m:r>
                      <m:t>I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ϕ</m:t>
                        </m:r>
                      </m:e>
                    </m:d>
                  </m:oMath>
                </a14:m>
                <a:r>
                  <a:rPr/>
                  <a:t>) beyond standard sinusoidal form.</a:t>
                </a:r>
              </a:p>
              <a:p>
                <a:pPr lvl="1"/>
                <a:r>
                  <a:rPr/>
                  <a:t>Understanding the role of </a:t>
                </a:r>
                <a:r>
                  <a:rPr b="1"/>
                  <a:t>superconducting proximity effect</a:t>
                </a:r>
                <a:r>
                  <a:rPr/>
                  <a:t> in topological materials.</a:t>
                </a:r>
              </a:p>
              <a:p>
                <a:pPr lvl="0"/>
                <a:r>
                  <a:rPr b="1"/>
                  <a:t>Superconducting Diode Effect</a:t>
                </a:r>
                <a:r>
                  <a:rPr/>
                  <a:t>:</a:t>
                </a:r>
              </a:p>
              <a:p>
                <a:pPr lvl="1"/>
                <a:r>
                  <a:rPr/>
                  <a:t>Investigating non-reciprocal transport (</a:t>
                </a:r>
                <a14:m>
                  <m:oMath xmlns:m="http://schemas.openxmlformats.org/officeDocument/2006/math">
                    <m:sSubSup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  <m:r>
                      <m:rPr>
                        <m:sty m:val="p"/>
                      </m:rPr>
                      <m:t>≠</m:t>
                    </m:r>
                    <m:sSubSup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  <a:r>
                  <a:rPr/>
                  <a:t>) in symmetric/asymmetric structures.</a:t>
                </a:r>
              </a:p>
              <a:p>
                <a:pPr lvl="1"/>
                <a:r>
                  <a:rPr/>
                  <a:t>Potential for dissipationless superconducting electronics.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1T-PtTe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 b="1"/>
                  <a:t>: A Type-II Dirac Semimetal</a:t>
                </a:r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Crystal Structure</a:t>
                </a:r>
                <a:r>
                  <a:rPr/>
                  <a:t>:</a:t>
                </a:r>
              </a:p>
              <a:p>
                <a:pPr lvl="1"/>
                <a:r>
                  <a:rPr/>
                  <a:t>Layered Transition Metal Dichalcogenide (TMD).</a:t>
                </a:r>
              </a:p>
              <a:p>
                <a:pPr lvl="1"/>
                <a:r>
                  <a:rPr/>
                  <a:t>CdI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-type trigonal structure (</a:t>
                </a:r>
                <a14:m>
                  <m:oMath xmlns:m="http://schemas.openxmlformats.org/officeDocument/2006/math">
                    <m:r>
                      <m:t>P</m:t>
                    </m:r>
                    <m:acc>
                      <m:accPr>
                        <m:chr m:val="‾"/>
                      </m:accPr>
                      <m:e>
                        <m:r>
                          <m:t>3</m:t>
                        </m:r>
                      </m:e>
                    </m:acc>
                    <m:r>
                      <m:t>m</m:t>
                    </m:r>
                    <m:r>
                      <m:t>1</m:t>
                    </m:r>
                  </m:oMath>
                </a14:m>
                <a:r>
                  <a:rPr/>
                  <a:t>).</a:t>
                </a:r>
              </a:p>
              <a:p>
                <a:pPr lvl="1"/>
                <a:r>
                  <a:rPr/>
                  <a:t>Te-Pt-Te tri-layers bound by van der Waals forces.</a:t>
                </a:r>
              </a:p>
              <a:p>
                <a:pPr lvl="0"/>
                <a:r>
                  <a:rPr b="1"/>
                  <a:t>Electronic Properties</a:t>
                </a:r>
                <a:r>
                  <a:rPr/>
                  <a:t>:</a:t>
                </a:r>
              </a:p>
              <a:p>
                <a:pPr lvl="1"/>
                <a:r>
                  <a:rPr b="1"/>
                  <a:t>Type-II Dirac Fermions</a:t>
                </a:r>
                <a:r>
                  <a:rPr/>
                  <a:t>: Lorentz-invariance violating tilted Dirac cones.</a:t>
                </a:r>
              </a:p>
              <a:p>
                <a:pPr lvl="1"/>
                <a:r>
                  <a:rPr/>
                  <a:t>High conductivity and potential topological surface states (TSS).</a:t>
                </a:r>
              </a:p>
            </p:txBody>
          </p:sp>
        </mc:Choice>
      </mc:AlternateContent>
      <p:pic>
        <p:nvPicPr>
          <p:cNvPr descr="Images/topological_materia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384300"/>
            <a:ext cx="40386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" name="TextBox 3"/>
              <p:cNvSpPr txBox="1"/>
              <p:nvPr/>
            </p:nvSpPr>
            <p:spPr>
              <a:xfrm>
                <a:off x="4648200" y="4076700"/>
                <a:ext cx="4038600" cy="50800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 lvl="0" indent="0" marL="0" algn="ctr">
                  <a:buNone/>
                </a:pPr>
                <a:r>
                  <a:rPr/>
                  <a:t>Crystal structure of 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Experimental 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Device Fabrication Flow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Crystal Growth</a:t>
                </a:r>
                <a:r>
                  <a:rPr/>
                  <a:t>: Self-flux method (provided by Prof. C.S. Lue, NCKU).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Exfoliation</a:t>
                </a:r>
                <a:r>
                  <a:rPr/>
                  <a:t>: Mechanical exfoliation of 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flakes onto SiO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/Si substrates.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E-beam Lithography (EBL)</a:t>
                </a:r>
                <a:r>
                  <a:rPr/>
                  <a:t>:</a:t>
                </a:r>
              </a:p>
              <a:p>
                <a:pPr lvl="1"/>
                <a:r>
                  <a:rPr/>
                  <a:t>PMMA resist coating.</a:t>
                </a:r>
              </a:p>
              <a:p>
                <a:pPr lvl="1"/>
                <a:r>
                  <a:rPr/>
                  <a:t>Pattern definition for contacts and SQUID loops.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Metallization</a:t>
                </a:r>
                <a:r>
                  <a:rPr/>
                  <a:t>:</a:t>
                </a:r>
              </a:p>
              <a:p>
                <a:pPr lvl="1"/>
                <a:r>
                  <a:rPr/>
                  <a:t>Superconducting electrodes: </a:t>
                </a:r>
                <a:r>
                  <a:rPr b="1"/>
                  <a:t>Al (Aluminum)</a:t>
                </a:r>
                <a:r>
                  <a:rPr/>
                  <a:t> or </a:t>
                </a:r>
                <a:r>
                  <a:rPr b="1"/>
                  <a:t>Nb (Niobium)</a:t>
                </a:r>
                <a:r>
                  <a:rPr/>
                  <a:t>.</a:t>
                </a:r>
              </a:p>
              <a:p>
                <a:pPr lvl="1"/>
                <a:r>
                  <a:rPr i="1"/>
                  <a:t>In-situ</a:t>
                </a:r>
                <a:r>
                  <a:rPr/>
                  <a:t> Ar ion milling to ensure transparent interfaces.</a:t>
                </a:r>
              </a:p>
              <a:p>
                <a:pPr lvl="1"/>
                <a:r>
                  <a:rPr/>
                  <a:t>E-beam evaporation &amp; Liftoff.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Design</a:t>
                </a:r>
                <a:r>
                  <a:rPr/>
                  <a:t>: Asymmetric dc-SQUID geometry for CPR retrieval.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Measurement Setup</a:t>
                </a:r>
              </a:p>
              <a:p>
                <a:pPr lvl="0"/>
                <a:r>
                  <a:rPr b="1"/>
                  <a:t>Cryogenic System</a:t>
                </a:r>
                <a:r>
                  <a:rPr/>
                  <a:t>: Dilution Refrigerator (DR)</a:t>
                </a:r>
              </a:p>
              <a:p>
                <a:pPr lvl="1"/>
                <a:r>
                  <a:rPr/>
                  <a:t>Base temperature: </a:t>
                </a:r>
                <a:r>
                  <a:rPr b="1"/>
                  <a:t>~40 mK</a:t>
                </a:r>
                <a:r>
                  <a:rPr/>
                  <a:t>.</a:t>
                </a:r>
              </a:p>
              <a:p>
                <a:pPr lvl="0"/>
                <a:r>
                  <a:rPr b="1"/>
                  <a:t>Electronics</a:t>
                </a:r>
                <a:r>
                  <a:rPr/>
                  <a:t>:</a:t>
                </a:r>
              </a:p>
              <a:p>
                <a:pPr lvl="1"/>
                <a:r>
                  <a:rPr/>
                  <a:t>Low-noise filtering.</a:t>
                </a:r>
              </a:p>
              <a:p>
                <a:pPr lvl="1"/>
                <a:r>
                  <a:rPr/>
                  <a:t>4-terminal measurement (Current bias, Voltage readout).</a:t>
                </a:r>
              </a:p>
              <a:p>
                <a:pPr lvl="0"/>
                <a:r>
                  <a:rPr b="1"/>
                  <a:t>Magnetic Field Control</a:t>
                </a:r>
                <a:r>
                  <a:rPr/>
                  <a:t>:</a:t>
                </a:r>
              </a:p>
              <a:p>
                <a:pPr lvl="1"/>
                <a:r>
                  <a:rPr/>
                  <a:t>3-axis vector magnet.</a:t>
                </a:r>
              </a:p>
              <a:p>
                <a:pPr lvl="1"/>
                <a:r>
                  <a:rPr/>
                  <a:t>Precision alignment of </a:t>
                </a:r>
                <a:r>
                  <a:rPr b="1"/>
                  <a:t>In-plane field</a:t>
                </a:r>
                <a:r>
                  <a:rPr/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m:t>∥</m:t>
                        </m:r>
                      </m:sub>
                    </m:sSub>
                  </m:oMath>
                </a14:m>
                <a:r>
                  <a:rPr/>
                  <a:t>) and </a:t>
                </a:r>
                <a:r>
                  <a:rPr b="1"/>
                  <a:t>Perpendicular field</a:t>
                </a:r>
                <a:r>
                  <a:rPr/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m:t>⟂</m:t>
                        </m:r>
                      </m:sub>
                    </m:sSub>
                  </m:oMath>
                </a14:m>
                <a:r>
                  <a:rPr/>
                  <a:t>).</a:t>
                </a:r>
              </a:p>
            </p:txBody>
          </p:sp>
        </mc:Choice>
      </mc:AlternateContent>
      <p:pic>
        <p:nvPicPr>
          <p:cNvPr descr="Images/coordinate_system_schemati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22700" y="203200"/>
            <a:ext cx="45974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Measurement Schematic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Results: Basic Characterization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I-V Characteristics (DC Transport)</a:t>
                </a:r>
              </a:p>
              <a:p>
                <a:pPr lvl="0"/>
                <a:r>
                  <a:rPr b="1"/>
                  <a:t>Typical IV Curve</a:t>
                </a:r>
                <a:r>
                  <a:rPr/>
                  <a:t>:</a:t>
                </a:r>
              </a:p>
              <a:p>
                <a:pPr lvl="1"/>
                <a:r>
                  <a:rPr/>
                  <a:t>Clear Superconducting branch (</a:t>
                </a:r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).</a:t>
                </a:r>
              </a:p>
              <a:p>
                <a:pPr lvl="1"/>
                <a:r>
                  <a:rPr/>
                  <a:t>Switching Current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</m:sSub>
                  </m:oMath>
                </a14:m>
                <a:r>
                  <a:rPr/>
                  <a:t>) and Retrapping Current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r</m:t>
                        </m:r>
                      </m:sub>
                    </m:sSub>
                  </m:oMath>
                </a14:m>
                <a:r>
                  <a:rPr/>
                  <a:t>).</a:t>
                </a:r>
              </a:p>
              <a:p>
                <a:pPr lvl="1"/>
                <a:r>
                  <a:rPr/>
                  <a:t>Hysteretic behavior (underdamped junction).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iv_run20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47800"/>
            <a:ext cx="4038600" cy="238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I-V Curve at Base Temp.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Observation</a:t>
                </a:r>
                <a:r>
                  <a:rPr/>
                  <a:t>:</a:t>
                </a:r>
              </a:p>
              <a:p>
                <a:pPr lvl="1"/>
                <a:r>
                  <a:rPr/>
                  <a:t>Sharp transition indicates high-quality junction.</a:t>
                </a:r>
              </a:p>
              <a:p>
                <a:pPr lvl="1"/>
                <a:r>
                  <a:rPr/>
                  <a:t>Finite resistance in normal state (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).</a:t>
                </a:r>
              </a:p>
              <a:p>
                <a:pPr lvl="1"/>
                <a:r>
                  <a:rPr b="1"/>
                  <a:t>Excess Current</a:t>
                </a:r>
                <a:r>
                  <a:rPr/>
                  <a:t> observed at high bias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High transparency interface.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Fraunhofer Pattern (AC Josephson Effect)</a:t>
                </a:r>
              </a:p>
              <a:p>
                <a:pPr lvl="0"/>
                <a:r>
                  <a:rPr b="1"/>
                  <a:t>Magnetic Field Modulation</a:t>
                </a:r>
                <a:r>
                  <a:rPr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</m:sSub>
                  </m:oMath>
                </a14:m>
                <a:r>
                  <a:rPr/>
                  <a:t> vs. 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m:t>⟂</m:t>
                        </m:r>
                      </m:sub>
                    </m:sSub>
                  </m:oMath>
                </a14:m>
                <a:r>
                  <a:rPr/>
                  <a:t> (Out-of-plane field).</a:t>
                </a:r>
              </a:p>
              <a:p>
                <a:pPr lvl="0"/>
                <a:r>
                  <a:rPr b="1"/>
                  <a:t>Pattern Analysis</a:t>
                </a:r>
                <a:r>
                  <a:rPr/>
                  <a:t>:</a:t>
                </a:r>
              </a:p>
              <a:p>
                <a:pPr lvl="1"/>
                <a:r>
                  <a:rPr/>
                  <a:t>Regular oscillation indicates uniform current distribution initially.</a:t>
                </a:r>
              </a:p>
              <a:p>
                <a:pPr lvl="1"/>
                <a:r>
                  <a:rPr/>
                  <a:t>Deviations suggest non-uniformity or phase winding changes.</a:t>
                </a:r>
              </a:p>
            </p:txBody>
          </p:sp>
        </mc:Choice>
      </mc:AlternateContent>
      <p:pic>
        <p:nvPicPr>
          <p:cNvPr descr="Images/fraunhofer_heatmap_005-1_60mT_linear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95700" y="203200"/>
            <a:ext cx="48387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Fraunhofer Pattern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Results: Current-Phase Relation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CPR Retrieval Method</a:t>
                </a:r>
              </a:p>
              <a:p>
                <a:pPr lvl="0"/>
                <a:r>
                  <a:rPr b="1"/>
                  <a:t>Asymmetric SQUID Technique</a:t>
                </a:r>
                <a:r>
                  <a:rPr/>
                  <a:t>:</a:t>
                </a:r>
              </a:p>
              <a:p>
                <a:pPr lvl="1"/>
                <a:r>
                  <a:rPr/>
                  <a:t>Large junction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f</m:t>
                        </m:r>
                      </m:sub>
                    </m:sSub>
                  </m:oMath>
                </a14:m>
                <a:r>
                  <a:rPr/>
                  <a:t>) // Small junction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t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).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Φ</m:t>
                            </m:r>
                          </m:e>
                          <m:sub>
                            <m:r>
                              <m:t>e</m:t>
                            </m:r>
                            <m:r>
                              <m:t>x</m:t>
                            </m:r>
                            <m:r>
                              <m:t>t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m:t>≈</m:t>
                    </m:r>
                    <m:sSub>
                      <m:e>
                        <m:r>
                          <m:t>I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f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I</m:t>
                        </m:r>
                      </m:e>
                      <m:sub>
                        <m:r>
                          <m:t>t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t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ϕ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1"/>
                <a:r>
                  <a:rPr/>
                  <a:t>Assumes 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f</m:t>
                        </m:r>
                      </m:sub>
                    </m:sSub>
                    <m:r>
                      <m:rPr>
                        <m:sty m:val="p"/>
                      </m:rPr>
                      <m:t>≫</m:t>
                    </m:r>
                    <m:sSub>
                      <m:e>
                        <m:r>
                          <m:t>I</m:t>
                        </m:r>
                      </m:e>
                      <m:sub>
                        <m:r>
                          <m:t>t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and sinusoidal 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f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ϕ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Math Model</a:t>
                </a:r>
                <a:r>
                  <a:rPr/>
                  <a:t>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s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ϕ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sin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ϕ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sin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  <m:r>
                            <m:t>ϕ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δ</m:t>
                          </m:r>
                        </m:e>
                      </m:d>
                    </m:oMath>
                  </m:oMathPara>
                </a14:m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: Fundamental component (conventional).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: Second harmonic (4</a:t>
                </a:r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  <a:r>
                  <a:rPr/>
                  <a:t>-periodic / ABS).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Measured CPR &amp; Fitting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pr_fit_127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22400"/>
            <a:ext cx="4038600" cy="242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Extracted CPR Waveforms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Key Findings</a:t>
                </a:r>
                <a:r>
                  <a:rPr/>
                  <a:t>:</a:t>
                </a:r>
              </a:p>
              <a:p>
                <a:pPr lvl="1"/>
                <a:r>
                  <a:rPr b="1"/>
                  <a:t>Skewed CPR</a:t>
                </a:r>
                <a:r>
                  <a:rPr/>
                  <a:t>: Deviation from pure sine wave.</a:t>
                </a:r>
              </a:p>
              <a:p>
                <a:pPr lvl="1"/>
                <a:r>
                  <a:rPr b="1"/>
                  <a:t>High 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sSub>
                      <m:e>
                        <m:r>
                          <m:t>I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 b="1"/>
                  <a:t> ratio</a:t>
                </a:r>
                <a:r>
                  <a:rPr/>
                  <a:t>: Significant second harmonic component detected.</a:t>
                </a:r>
              </a:p>
              <a:p>
                <a:pPr lvl="1"/>
                <a:r>
                  <a:rPr/>
                  <a:t>Indicates presence of highly transparent Andreev Bound States (ABS).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Results: In-Plane Magnetic Field Effect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Tunable CPR with In-Plane Field</a:t>
                </a:r>
              </a:p>
              <a:p>
                <a:pPr lvl="0"/>
                <a:r>
                  <a:rPr b="1"/>
                  <a:t>Observation</a:t>
                </a:r>
                <a:r>
                  <a:rPr/>
                  <a:t>:</a:t>
                </a:r>
              </a:p>
              <a:p>
                <a:pPr lvl="1"/>
                <a:r>
                  <a:rPr/>
                  <a:t>Applying 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m:t>∥</m:t>
                        </m:r>
                      </m:sub>
                    </m:sSub>
                  </m:oMath>
                </a14:m>
                <a:r>
                  <a:rPr/>
                  <a:t> modifies the CPR shape.</a:t>
                </a:r>
              </a:p>
              <a:p>
                <a:pPr lvl="1"/>
                <a:r>
                  <a:rPr/>
                  <a:t>Induces a </a:t>
                </a:r>
                <a:r>
                  <a:rPr b="1"/>
                  <a:t>phase shift</a:t>
                </a:r>
                <a:r>
                  <a:rPr/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ϕ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) in the second harmonic?</a:t>
                </a:r>
              </a:p>
              <a:p>
                <a:pPr lvl="1"/>
                <a:r>
                  <a:rPr/>
                  <a:t>Evidence of </a:t>
                </a:r>
                <a:r>
                  <a:rPr b="1"/>
                  <a:t>Josephson Diode Effect (JDE)</a:t>
                </a:r>
                <a:r>
                  <a:rPr/>
                  <a:t>.</a:t>
                </a:r>
              </a:p>
            </p:txBody>
          </p:sp>
        </mc:Choice>
      </mc:AlternateContent>
      <p:pic>
        <p:nvPicPr>
          <p:cNvPr descr="Images/CPR_evolution_27_log_offset_corrected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203200"/>
            <a:ext cx="24257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CPR Evolution under In-Plane Field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Josephson Diode Effect (JDE)</a:t>
                </a:r>
              </a:p>
              <a:p>
                <a:pPr lvl="0"/>
                <a:r>
                  <a:rPr b="1"/>
                  <a:t>Definition</a:t>
                </a:r>
                <a:r>
                  <a:rPr/>
                  <a:t>: Non-reciprocal critical current (</a:t>
                </a:r>
                <a14:m>
                  <m:oMath xmlns:m="http://schemas.openxmlformats.org/officeDocument/2006/math">
                    <m:sSubSup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  <m:r>
                      <m:rPr>
                        <m:sty m:val="p"/>
                      </m:rPr>
                      <m:t>≠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</m:dPr>
                      <m:e>
                        <m:sSubSup>
                          <m:e>
                            <m:r>
                              <m:t>I</m:t>
                            </m:r>
                          </m:e>
                          <m:sub>
                            <m:r>
                              <m:t>c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</m:sup>
                        </m:sSubSup>
                      </m:e>
                    </m:d>
                  </m:oMath>
                </a14:m>
                <a:r>
                  <a:rPr/>
                  <a:t>).</a:t>
                </a:r>
              </a:p>
              <a:p>
                <a:pPr lvl="0"/>
                <a:r>
                  <a:rPr b="1"/>
                  <a:t>Mechanism</a:t>
                </a:r>
                <a:r>
                  <a:rPr/>
                  <a:t>:</a:t>
                </a:r>
              </a:p>
              <a:p>
                <a:pPr lvl="1"/>
                <a:r>
                  <a:rPr/>
                  <a:t>Inversion symmetry breaking (structural or field-induced).</a:t>
                </a:r>
              </a:p>
              <a:p>
                <a:pPr lvl="1"/>
                <a:r>
                  <a:rPr/>
                  <a:t>Time-reversal symmetry breaking (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-field).</a:t>
                </a:r>
              </a:p>
              <a:p>
                <a:pPr lvl="1"/>
                <a:r>
                  <a:rPr/>
                  <a:t>Finite momentum Cooper pairs?</a:t>
                </a:r>
              </a:p>
              <a:p>
                <a:pPr lvl="0"/>
                <a:r>
                  <a:rPr b="1"/>
                  <a:t>Result</a:t>
                </a:r>
                <a:r>
                  <a:rPr/>
                  <a:t>:</a:t>
                </a:r>
              </a:p>
              <a:p>
                <a:pPr lvl="1"/>
                <a:r>
                  <a:rPr/>
                  <a:t>Efficiency </a:t>
                </a:r>
                <a14:m>
                  <m:oMath xmlns:m="http://schemas.openxmlformats.org/officeDocument/2006/math">
                    <m:r>
                      <m:t>η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m:t>I</m:t>
                            </m:r>
                          </m:e>
                          <m:sub>
                            <m:r>
                              <m:t>c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m:t>+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m:t>−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</m:dPr>
                          <m:e>
                            <m:sSubSup>
                              <m:e>
                                <m:r>
                                  <m:t>I</m:t>
                                </m:r>
                              </m:e>
                              <m:sub>
                                <m:r>
                                  <m:t>c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</m:sup>
                            </m:sSubSup>
                          </m:e>
                        </m:d>
                      </m:num>
                      <m:den>
                        <m:sSubSup>
                          <m:e>
                            <m:r>
                              <m:t>I</m:t>
                            </m:r>
                          </m:e>
                          <m:sub>
                            <m:r>
                              <m:t>c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m:t>+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m:t>+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</m:dPr>
                          <m:e>
                            <m:sSubSup>
                              <m:e>
                                <m:r>
                                  <m:t>I</m:t>
                                </m:r>
                              </m:e>
                              <m:sub>
                                <m:r>
                                  <m:t>c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</m:sup>
                            </m:sSubSup>
                          </m:e>
                        </m:d>
                      </m:den>
                    </m:f>
                  </m:oMath>
                </a14:m>
                <a:r>
                  <a:rPr/>
                  <a:t>.</a:t>
                </a:r>
              </a:p>
              <a:p>
                <a:pPr lvl="1"/>
                <a:r>
                  <a:rPr/>
                  <a:t>Tunable by magnetic field angle and magnitude.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Summary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Successful Fabrication</a:t>
                </a:r>
                <a:r>
                  <a:rPr/>
                  <a:t>:</a:t>
                </a:r>
              </a:p>
              <a:p>
                <a:pPr lvl="1"/>
                <a:r>
                  <a:rPr/>
                  <a:t>High-quality 1T-PtTe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Josephson junctions and SQUIDs realized.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Anomalous CPR</a:t>
                </a:r>
                <a:r>
                  <a:rPr/>
                  <a:t>:</a:t>
                </a:r>
              </a:p>
              <a:p>
                <a:pPr lvl="1"/>
                <a:r>
                  <a:rPr/>
                  <a:t>Observed significant </a:t>
                </a:r>
                <a:r>
                  <a:rPr b="1"/>
                  <a:t>second harmonic</a:t>
                </a:r>
                <a:r>
                  <a:rPr/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) contribution.</a:t>
                </a:r>
              </a:p>
              <a:p>
                <a:pPr lvl="1"/>
                <a:r>
                  <a:rPr/>
                  <a:t>Direct evidence of high-transparency transport modes.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Magnetic Tuning</a:t>
                </a:r>
                <a:r>
                  <a:rPr/>
                  <a:t>:</a:t>
                </a:r>
              </a:p>
              <a:p>
                <a:pPr lvl="1"/>
                <a:r>
                  <a:rPr/>
                  <a:t>In-plane magnetic field effectively modulates the CPR and induces </a:t>
                </a:r>
                <a:r>
                  <a:rPr b="1"/>
                  <a:t>Josephson Diode Effect</a:t>
                </a:r>
                <a:r>
                  <a:rPr/>
                  <a:t>.</a:t>
                </a:r>
              </a:p>
              <a:p>
                <a:pPr lvl="1"/>
                <a:r>
                  <a:rPr/>
                  <a:t>Demonstrates potential for </a:t>
                </a:r>
                <a:r>
                  <a:rPr b="1"/>
                  <a:t>tunable superconducting logic</a:t>
                </a:r>
                <a:r>
                  <a:rPr/>
                  <a:t> and </a:t>
                </a:r>
                <a:r>
                  <a:rPr b="1"/>
                  <a:t>phase batteries</a:t>
                </a:r>
                <a:r>
                  <a:rPr/>
                  <a:t>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Future Outlook</a:t>
                </a:r>
              </a:p>
              <a:p>
                <a:pPr lvl="0"/>
                <a:r>
                  <a:rPr b="1"/>
                  <a:t>Optimization</a:t>
                </a:r>
                <a:r>
                  <a:rPr/>
                  <a:t>: Improving fabrication yield and interface control.</a:t>
                </a:r>
              </a:p>
              <a:p>
                <a:pPr lvl="0"/>
                <a:r>
                  <a:rPr b="1"/>
                  <a:t>Material Exploration</a:t>
                </a:r>
                <a:r>
                  <a:rPr/>
                  <a:t>: Extending to other Weyl/Dirac semimetals.</a:t>
                </a:r>
              </a:p>
              <a:p>
                <a:pPr lvl="0"/>
                <a:r>
                  <a:rPr b="1"/>
                  <a:t>Quantum Information</a:t>
                </a:r>
                <a:r>
                  <a:rPr/>
                  <a:t>: Integration into superconducting qubit circuits (e.g., as non-linear inductive elements).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Investigation of Current-Phase Relationship in 1T-Phase Platinum Ditelluride Josephson Junctions under In-Plane Magnetic Field</dc:title>
  <dc:creator>Tao-Yi Hsu (徐道宜)</dc:creator>
  <cp:keywords/>
  <dcterms:created xsi:type="dcterms:W3CDTF">2026-01-02T11:18:34Z</dcterms:created>
  <dcterms:modified xsi:type="dcterms:W3CDTF">2026-01-02T11:18:34Z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date">
    <vt:lpwstr>2024-06-20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National Sun Yat-sen University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面內磁場下 1T 相二碲化鉑約瑟夫森接面之電流-相位關係研究</vt:lpwstr>
  </property>
  <property fmtid="{D5CDD505-2E9C-101B-9397-08002B2CF9AE}" pid="16" name="toc-title">
    <vt:lpwstr>Table of contents</vt:lpwstr>
  </property>
</Properties>
</file>