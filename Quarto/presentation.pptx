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Investigation of Current-Phase Relationship in 1T-Phase Platinum Ditelluride Josephson Junctions under In-Plane Magnetic Field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面內磁場下 1T 相二碲化鉑約瑟夫森接面之電流-相位關係研究</a:t>
            </a:r>
            <a:br/>
            <a:br/>
            <a:r>
              <a:rPr/>
              <a:t>Tao-Yi Hsu (徐道宜)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2024-06-20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Outline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Introduction</a:t>
                </a:r>
              </a:p>
              <a:p>
                <a:pPr lvl="0"/>
                <a:r>
                  <a:rPr/>
                  <a:t>Research motivation</a:t>
                </a:r>
              </a:p>
              <a:p>
                <a:pPr lvl="0"/>
                <a:r>
                  <a:rPr/>
                  <a:t>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(Type-II Dirac semimetal)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Theory</a:t>
                </a:r>
              </a:p>
              <a:p>
                <a:pPr lvl="0"/>
                <a:r>
                  <a:rPr/>
                  <a:t>Josephson effect &amp; CPR</a:t>
                </a:r>
              </a:p>
              <a:p>
                <a:pPr lvl="0"/>
                <a:r>
                  <a:rPr/>
                  <a:t>Josephson diode effect (JDE)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Methods</a:t>
                </a:r>
              </a:p>
              <a:p>
                <a:pPr lvl="0"/>
                <a:r>
                  <a:rPr/>
                  <a:t>Device fabrication</a:t>
                </a:r>
              </a:p>
              <a:p>
                <a:pPr lvl="0"/>
                <a:r>
                  <a:rPr/>
                  <a:t>Measurement setup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Results &amp; conclusion</a:t>
                </a:r>
              </a:p>
              <a:p>
                <a:pPr lvl="0"/>
                <a:r>
                  <a:rPr/>
                  <a:t>Basic characterization</a:t>
                </a:r>
              </a:p>
              <a:p>
                <a:pPr lvl="0"/>
                <a:r>
                  <a:rPr/>
                  <a:t>CPR analysis</a:t>
                </a:r>
              </a:p>
              <a:p>
                <a:pPr lvl="0"/>
                <a:r>
                  <a:rPr/>
                  <a:t>In-plane field effect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Research Motivation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Topological materials + superconductivity</a:t>
                </a:r>
              </a:p>
              <a:p>
                <a:pPr lvl="0"/>
                <a:r>
                  <a:rPr/>
                  <a:t>Type-II Dirac semimetal </a:t>
                </a:r>
                <a:r>
                  <a:rPr b="1"/>
                  <a:t>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proximitized by a superconductor</a:t>
                </a:r>
              </a:p>
              <a:p>
                <a:pPr lvl="0"/>
                <a:r>
                  <a:rPr/>
                  <a:t>Platform for novel quantum transport (e.g., surface/edge states)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Current–phase relation (CPR)</a:t>
                </a:r>
              </a:p>
              <a:p>
                <a:pPr lvl="0"/>
                <a:r>
                  <a:rPr/>
                  <a:t>Direct probe of junction physics beyond a simple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sin</m:t>
                    </m:r>
                    <m:r>
                      <m:t>ϕ</m:t>
                    </m:r>
                  </m:oMath>
                </a14:m>
              </a:p>
              <a:p>
                <a:pPr lvl="0"/>
                <a:r>
                  <a:rPr/>
                  <a:t>Harmonics encode transparency / Andreev bound states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Superconducting diode effect</a:t>
                </a:r>
              </a:p>
              <a:p>
                <a:pPr lvl="0"/>
                <a:r>
                  <a:rPr/>
                  <a:t>Non-reciprocal transport 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</a:p>
              <a:p>
                <a:pPr lvl="0"/>
                <a:r>
                  <a:rPr/>
                  <a:t>Route to dissipationless rectification &amp; superconducting electronics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b="1"/>
                  <a:t>: A Type-II Dirac Semimetal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Crystal Structure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Layered Transition Metal Dichalcogenide (TMD).</a:t>
                </a:r>
              </a:p>
              <a:p>
                <a:pPr lvl="1"/>
                <a:r>
                  <a:rPr/>
                  <a:t>CdI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-type trigonal structure (</a:t>
                </a:r>
                <a14:m>
                  <m:oMath xmlns:m="http://schemas.openxmlformats.org/officeDocument/2006/math">
                    <m:r>
                      <m:t>P</m:t>
                    </m:r>
                    <m:acc>
                      <m:accPr>
                        <m:chr m:val="‾"/>
                      </m:accPr>
                      <m:e>
                        <m:r>
                          <m:t>3</m:t>
                        </m:r>
                      </m:e>
                    </m:acc>
                    <m:r>
                      <m:t>m</m:t>
                    </m:r>
                    <m:r>
                      <m:t>1</m:t>
                    </m:r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Te-Pt-Te tri-layers bound by van der Waals forces.</a:t>
                </a:r>
              </a:p>
              <a:p>
                <a:pPr lvl="0"/>
                <a:r>
                  <a:rPr b="1"/>
                  <a:t>Electronic Properties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Type-II Dirac Fermions</a:t>
                </a:r>
                <a:r>
                  <a:rPr/>
                  <a:t>: Lorentz-invariance violating tilted Dirac cones.</a:t>
                </a:r>
              </a:p>
              <a:p>
                <a:pPr lvl="1"/>
                <a:r>
                  <a:rPr/>
                  <a:t>High conductivity and potential topological surface states (TSS).</a:t>
                </a:r>
              </a:p>
            </p:txBody>
          </p:sp>
        </mc:Choice>
      </mc:AlternateContent>
      <p:pic>
        <p:nvPicPr>
          <p:cNvPr descr="Images/topological_materi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84300"/>
            <a:ext cx="40386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/>
            </p:nvSpPr>
            <p:spPr>
              <a:xfrm>
                <a:off x="4648200" y="4076700"/>
                <a:ext cx="40386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Crystal structure of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Theoretical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Effect &amp; Current–Phase Relation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relations</a:t>
                </a:r>
              </a:p>
              <a:p>
                <a:pPr lvl="0"/>
                <a:r>
                  <a:rPr/>
                  <a:t>DC: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sin</m:t>
                    </m:r>
                    <m:r>
                      <m:t>ϕ</m:t>
                    </m:r>
                  </m:oMath>
                </a14:m>
                <a:r>
                  <a:rPr/>
                  <a:t> (ideal tunnel junction)</a:t>
                </a:r>
              </a:p>
              <a:p>
                <a:pPr lvl="0"/>
                <a:r>
                  <a:rPr/>
                  <a:t>AC: </a:t>
                </a:r>
                <a14:m>
                  <m:oMath xmlns:m="http://schemas.openxmlformats.org/officeDocument/2006/math">
                    <m:acc>
                      <m:accPr>
                        <m:chr m:val="̇"/>
                      </m:accPr>
                      <m:e>
                        <m:r>
                          <m:t>ϕ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2</m:t>
                        </m:r>
                        <m:r>
                          <m:t>e</m:t>
                        </m:r>
                      </m:num>
                      <m:den>
                        <m:r>
                          <m:rPr>
                            <m:sty m:val="p"/>
                          </m:rPr>
                          <m:t>ℏ</m:t>
                        </m:r>
                      </m:den>
                    </m:f>
                    <m:r>
                      <m:t>V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Beyond sinusoidal CPR</a:t>
                </a:r>
              </a:p>
              <a:p>
                <a:pPr lvl="0"/>
                <a:r>
                  <a:rPr/>
                  <a:t>High transparency → </a:t>
                </a:r>
                <a:r>
                  <a:rPr b="1"/>
                  <a:t>skewed</a:t>
                </a:r>
                <a:r>
                  <a:rPr/>
                  <a:t> CPR</a:t>
                </a:r>
              </a:p>
              <a:p>
                <a:pPr lvl="0"/>
                <a:r>
                  <a:rPr/>
                  <a:t>Harmonics: </a:t>
                </a:r>
                <a14:m>
                  <m:oMath xmlns:m="http://schemas.openxmlformats.org/officeDocument/2006/math">
                    <m:r>
                      <m:t>I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n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n</m:t>
                            </m:r>
                          </m:sub>
                        </m:sSub>
                      </m:e>
                    </m:nary>
                    <m:r>
                      <m:rPr>
                        <m:sty m:val="p"/>
                      </m:rPr>
                      <m:t>sin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t>ϕ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sSub>
                          <m:e>
                            <m:r>
                              <m:t>δ</m:t>
                            </m:r>
                          </m:e>
                          <m:sub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Access via </a:t>
                </a:r>
                <a:r>
                  <a:rPr b="1"/>
                  <a:t>asymmetric SQUID</a:t>
                </a:r>
                <a:r>
                  <a:rPr/>
                  <a:t> readout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Diode Effect (Concept)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Definition</a:t>
                </a:r>
              </a:p>
              <a:p>
                <a:pPr lvl="0"/>
                <a:r>
                  <a:rPr/>
                  <a:t>Non‑reciprocal critical current</a:t>
                </a:r>
                <a:br/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</a:p>
              <a:p>
                <a:pPr lvl="0"/>
                <a:r>
                  <a:rPr/>
                  <a:t>Superconducting rectification without Joule heating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Typical ingredients</a:t>
                </a:r>
              </a:p>
              <a:p>
                <a:pPr lvl="0"/>
                <a:r>
                  <a:rPr/>
                  <a:t>Broken inversion symmetry + broken time‑reversal symmetry</a:t>
                </a:r>
              </a:p>
              <a:p>
                <a:pPr lvl="0"/>
                <a:r>
                  <a:rPr/>
                  <a:t>Often tuned by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with strong spin–orbit coupling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Experimental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Device Fabrication 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Crystal Growth</a:t>
                </a:r>
                <a:r>
                  <a:rPr/>
                  <a:t>: Self-flux method (provided by Prof. C.S. Lue, NCKU).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Exfoliation</a:t>
                </a:r>
                <a:r>
                  <a:rPr/>
                  <a:t>: Mechanical exfoliation of 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flakes onto SiO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/Si substrates.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E-beam Lithography (EBL)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PMMA resist coating.</a:t>
                </a:r>
              </a:p>
              <a:p>
                <a:pPr lvl="1"/>
                <a:r>
                  <a:rPr/>
                  <a:t>Pattern definition for contacts and SQUID loops.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Metallization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Superconducting electrodes: </a:t>
                </a:r>
                <a:r>
                  <a:rPr b="1"/>
                  <a:t>Al (Aluminum)</a:t>
                </a:r>
                <a:r>
                  <a:rPr/>
                  <a:t> or </a:t>
                </a:r>
                <a:r>
                  <a:rPr b="1"/>
                  <a:t>Nb (Niobium)</a:t>
                </a:r>
                <a:r>
                  <a:rPr/>
                  <a:t>.</a:t>
                </a:r>
              </a:p>
              <a:p>
                <a:pPr lvl="1"/>
                <a:r>
                  <a:rPr i="1"/>
                  <a:t>In-situ</a:t>
                </a:r>
                <a:r>
                  <a:rPr/>
                  <a:t> Ar ion milling to ensure transparent interfaces.</a:t>
                </a:r>
              </a:p>
              <a:p>
                <a:pPr lvl="1"/>
                <a:r>
                  <a:rPr/>
                  <a:t>E-beam evaporation &amp; Liftoff.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Design</a:t>
                </a:r>
                <a:r>
                  <a:rPr/>
                  <a:t>: Asymmetric dc-SQUID geometry for CPR retrieval.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Measurement Setup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Cryogenic system</a:t>
                </a:r>
                <a:r>
                  <a:rPr/>
                  <a:t>: Dilution refrigerator (base </a:t>
                </a:r>
                <a:r>
                  <a:rPr b="1"/>
                  <a:t>~40 mK</a:t>
                </a:r>
                <a:r>
                  <a:rPr/>
                  <a:t>)</a:t>
                </a:r>
              </a:p>
              <a:p>
                <a:pPr lvl="0"/>
                <a:r>
                  <a:rPr b="1"/>
                  <a:t>Electronics</a:t>
                </a:r>
                <a:r>
                  <a:rPr/>
                  <a:t>: low-noise filtering, 4-terminal measurement</a:t>
                </a:r>
              </a:p>
              <a:p>
                <a:pPr lvl="0"/>
                <a:r>
                  <a:rPr b="1"/>
                  <a:t>Magnetic control</a:t>
                </a:r>
                <a:r>
                  <a:rPr/>
                  <a:t>: 3-axis vector magnet</a:t>
                </a:r>
                <a:br/>
                <a:r>
                  <a:rPr/>
                  <a:t>(precise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⟂</m:t>
                        </m:r>
                      </m:sub>
                    </m:sSub>
                  </m:oMath>
                </a14:m>
                <a:r>
                  <a:rPr/>
                  <a:t> alignment)</a:t>
                </a:r>
              </a:p>
            </p:txBody>
          </p:sp>
        </mc:Choice>
      </mc:AlternateContent>
      <p:pic>
        <p:nvPicPr>
          <p:cNvPr descr="Images/coordinate_system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53000" y="1193800"/>
            <a:ext cx="3416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Measurement Schematic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Basic Characterization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I-V Characteristics (DC Transport)</a:t>
                </a:r>
              </a:p>
              <a:p>
                <a:pPr lvl="0"/>
                <a:r>
                  <a:rPr b="1"/>
                  <a:t>Typical IV Curve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Clear Superconducting branch (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Switching Current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) and Retrapping Current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/>
                  <a:t>Hysteretic behavior (underdamped junction).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v_run20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47800"/>
            <a:ext cx="40386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I-V Curve at Base Temp.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Observation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Sharp transition indicates high-quality junction.</a:t>
                </a:r>
              </a:p>
              <a:p>
                <a:pPr lvl="1"/>
                <a:r>
                  <a:rPr/>
                  <a:t>Finite resistance in normal state (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:r>
                  <a:rPr b="1"/>
                  <a:t>Excess Current</a:t>
                </a:r>
                <a:r>
                  <a:rPr/>
                  <a:t> observed at high bias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High transparency interface.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Fraunhofer Pattern (AC Josephson Effect)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Field modulation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</m:oMath>
                </a14:m>
                <a:r>
                  <a:rPr/>
                  <a:t> vs. out-of-plane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⟂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Pattern cues</a:t>
                </a:r>
              </a:p>
              <a:p>
                <a:pPr lvl="1"/>
                <a:r>
                  <a:rPr/>
                  <a:t>Regular lobes → initially uniform current distribution</a:t>
                </a:r>
              </a:p>
              <a:p>
                <a:pPr lvl="1"/>
                <a:r>
                  <a:rPr/>
                  <a:t>Deviations → non-uniformity / phase winding changes</a:t>
                </a:r>
              </a:p>
            </p:txBody>
          </p:sp>
        </mc:Choice>
      </mc:AlternateContent>
      <p:pic>
        <p:nvPicPr>
          <p:cNvPr descr="Images/fraunhofer_heatmap_005-1_60mT_linear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606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Fraunhofer Pattern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Current-Phase Relation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CPR Retrieval Method</a:t>
                </a:r>
              </a:p>
              <a:p>
                <a:pPr lvl="0"/>
                <a:r>
                  <a:rPr b="1"/>
                  <a:t>Asymmetric SQUID Technique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Large junction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) // Small junction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Φ</m:t>
                            </m:r>
                          </m:e>
                          <m:sub>
                            <m:r>
                              <m:t>e</m:t>
                            </m:r>
                            <m:r>
                              <m:t>x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≈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Assumes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r>
                      <m:rPr>
                        <m:sty m:val="p"/>
                      </m:rPr>
                      <m:t>≫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t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and sinusoidal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f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ϕ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Math Model</a:t>
                </a:r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s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ϕ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sin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ϕ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sin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t>ϕ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δ</m:t>
                          </m:r>
                        </m:e>
                      </m:d>
                    </m:oMath>
                  </m:oMathPara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: Fundamental component (conventional).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Second harmonic (4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-periodic / ABS).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Measured CPR &amp; Fitting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pr_fit_127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Extracted CPR Waveforms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Key Findings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Skewed CPR</a:t>
                </a:r>
                <a:r>
                  <a:rPr/>
                  <a:t>: Deviation from pure sine wave.</a:t>
                </a:r>
              </a:p>
              <a:p>
                <a:pPr lvl="1"/>
                <a:r>
                  <a:rPr b="1"/>
                  <a:t>High 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 b="1"/>
                  <a:t> ratio</a:t>
                </a:r>
                <a:r>
                  <a:rPr/>
                  <a:t>: Significant second harmonic component detected.</a:t>
                </a:r>
              </a:p>
              <a:p>
                <a:pPr lvl="1"/>
                <a:r>
                  <a:rPr/>
                  <a:t>Indicates presence of highly transparent Andreev Bound States (ABS).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Results: In-Plane Magnetic Field Effect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Tunable CPR with In-Plane Field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Applying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m:t>∥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modifies CPR shape</a:t>
                </a:r>
              </a:p>
              <a:p>
                <a:pPr lvl="0"/>
                <a:r>
                  <a:rPr/>
                  <a:t>Suggests a </a:t>
                </a:r>
                <a:r>
                  <a:rPr b="1"/>
                  <a:t>phase shift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ϕ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) in higher harmonics</a:t>
                </a:r>
              </a:p>
              <a:p>
                <a:pPr lvl="0"/>
                <a:r>
                  <a:rPr/>
                  <a:t>Correlates with emergence of the </a:t>
                </a:r>
                <a:r>
                  <a:rPr b="1"/>
                  <a:t>Josephson diode effect</a:t>
                </a:r>
              </a:p>
            </p:txBody>
          </p:sp>
        </mc:Choice>
      </mc:AlternateContent>
      <p:pic>
        <p:nvPicPr>
          <p:cNvPr descr="Images/CPR_evolution_27_log_offset_correcte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65800" y="1193800"/>
            <a:ext cx="1803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CPR Evolution under In-Plane Field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Josephson Diode Effect (JDE)</a:t>
                </a:r>
              </a:p>
              <a:p>
                <a:pPr lvl="0"/>
                <a:r>
                  <a:rPr b="1"/>
                  <a:t>Definition</a:t>
                </a:r>
                <a:r>
                  <a:rPr/>
                  <a:t>: Non-reciprocal critical current (</a:t>
                </a:r>
                <a14:m>
                  <m:oMath xmlns:m="http://schemas.openxmlformats.org/officeDocument/2006/math">
                    <m:sSubSup>
                      <m:e>
                        <m:r>
                          <m:t>I</m:t>
                        </m:r>
                      </m:e>
                      <m:sub>
                        <m:r>
                          <m:t>c</m:t>
                        </m:r>
                      </m:sub>
                      <m:sup>
                        <m:r>
                          <m:rPr>
                            <m:sty m:val="p"/>
                          </m:rPr>
                          <m:t>+</m:t>
                        </m:r>
                      </m:sup>
                    </m:sSubSup>
                    <m:r>
                      <m:rPr>
                        <m:sty m:val="p"/>
                      </m:rPr>
                      <m:t>≠</m:t>
                    </m:r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Mechanism</a:t>
                </a:r>
                <a:r>
                  <a:rPr/>
                  <a:t>:</a:t>
                </a:r>
              </a:p>
              <a:p>
                <a:pPr lvl="1"/>
                <a:r>
                  <a:rPr/>
                  <a:t>Inversion symmetry breaking (structural or field-induced).</a:t>
                </a:r>
              </a:p>
              <a:p>
                <a:pPr lvl="1"/>
                <a:r>
                  <a:rPr/>
                  <a:t>Time-reversal symmetry breaking (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-field).</a:t>
                </a:r>
              </a:p>
              <a:p>
                <a:pPr lvl="1"/>
                <a:r>
                  <a:rPr/>
                  <a:t>Finite momentum Cooper pairs?</a:t>
                </a:r>
              </a:p>
              <a:p>
                <a:pPr lvl="0"/>
                <a:r>
                  <a:rPr b="1"/>
                  <a:t>Result</a:t>
                </a:r>
                <a:r>
                  <a:rPr/>
                  <a:t>:</a:t>
                </a:r>
              </a:p>
              <a:p>
                <a:pPr lvl="1"/>
                <a:r>
                  <a:rPr/>
                  <a:t>Efficiency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+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−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/>
                          </m:dPr>
                          <m:e>
                            <m:sSubSup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c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</m:sup>
                            </m:sSubSup>
                          </m:e>
                        </m:d>
                      </m:num>
                      <m:den>
                        <m:sSubSup>
                          <m:e>
                            <m:r>
                              <m:t>I</m:t>
                            </m:r>
                          </m:e>
                          <m:sub>
                            <m:r>
                              <m:t>c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+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d>
                          <m:dPr>
                            <m:begChr m:val="|"/>
                            <m:sepChr m:val=""/>
                            <m:endChr m:val="|"/>
                            <m:grow/>
                          </m:dPr>
                          <m:e>
                            <m:sSubSup>
                              <m:e>
                                <m:r>
                                  <m:t>I</m:t>
                                </m:r>
                              </m:e>
                              <m:sub>
                                <m:r>
                                  <m:t>c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</m:sup>
                            </m:sSubSup>
                          </m:e>
                        </m:d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Tunable by magnetic field angle and magnitude.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Summary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Successful Fabrication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High-quality 1T-PtTe</a:t>
                </a:r>
                <a14:m>
                  <m:oMath xmlns:m="http://schemas.openxmlformats.org/officeDocument/2006/math">
                    <m:sSub>
                      <m:e>
                        <m:r>
                          <m:t>​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Josephson junctions and SQUIDs realized.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Anomalous CPR</a:t>
                </a:r>
                <a:r>
                  <a:rPr/>
                  <a:t>:</a:t>
                </a:r>
              </a:p>
              <a:p>
                <a:pPr lvl="1"/>
                <a:r>
                  <a:rPr/>
                  <a:t>Observed significant </a:t>
                </a:r>
                <a:r>
                  <a:rPr b="1"/>
                  <a:t>second harmonic</a:t>
                </a:r>
                <a:r>
                  <a:rPr/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I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) contribution.</a:t>
                </a:r>
              </a:p>
              <a:p>
                <a:pPr lvl="1"/>
                <a:r>
                  <a:rPr/>
                  <a:t>Direct evidence of high-transparency transport modes.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Magnetic Tuning</a:t>
                </a:r>
                <a:r>
                  <a:rPr/>
                  <a:t>:</a:t>
                </a:r>
              </a:p>
              <a:p>
                <a:pPr lvl="1"/>
                <a:r>
                  <a:rPr/>
                  <a:t>In-plane magnetic field effectively modulates the CPR and induces </a:t>
                </a:r>
                <a:r>
                  <a:rPr b="1"/>
                  <a:t>Josephson Diode Effect</a:t>
                </a:r>
                <a:r>
                  <a:rPr/>
                  <a:t>.</a:t>
                </a:r>
              </a:p>
              <a:p>
                <a:pPr lvl="1"/>
                <a:r>
                  <a:rPr/>
                  <a:t>Demonstrates potential for </a:t>
                </a:r>
                <a:r>
                  <a:rPr b="1"/>
                  <a:t>tunable superconducting logic</a:t>
                </a:r>
                <a:r>
                  <a:rPr/>
                  <a:t> and </a:t>
                </a:r>
                <a:r>
                  <a:rPr b="1"/>
                  <a:t>phase batteries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Future Outlook</a:t>
                </a:r>
              </a:p>
              <a:p>
                <a:pPr lvl="0"/>
                <a:r>
                  <a:rPr b="1"/>
                  <a:t>Optimization</a:t>
                </a:r>
                <a:r>
                  <a:rPr/>
                  <a:t>: Improving fabrication yield and interface control.</a:t>
                </a:r>
              </a:p>
              <a:p>
                <a:pPr lvl="0"/>
                <a:r>
                  <a:rPr b="1"/>
                  <a:t>Material Exploration</a:t>
                </a:r>
                <a:r>
                  <a:rPr/>
                  <a:t>: Extending to other Weyl/Dirac semimetals.</a:t>
                </a:r>
              </a:p>
              <a:p>
                <a:pPr lvl="0"/>
                <a:r>
                  <a:rPr b="1"/>
                  <a:t>Quantum Information</a:t>
                </a:r>
                <a:r>
                  <a:rPr/>
                  <a:t>: Integration into superconducting qubit circuits (e.g., as non-linear inductive elements).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Investigation of Current-Phase Relationship in 1T-Phase Platinum Ditelluride Josephson Junctions under In-Plane Magnetic Field</dc:title>
  <dc:creator>Tao-Yi Hsu (徐道宜)</dc:creator>
  <cp:keywords/>
  <dcterms:created xsi:type="dcterms:W3CDTF">2026-01-03T15:09:47Z</dcterms:created>
  <dcterms:modified xsi:type="dcterms:W3CDTF">2026-01-03T15:09:47Z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2024-06-20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National Sun Yat-sen University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面內磁場下 1T 相二碲化鉑約瑟夫森接面之電流-相位關係研究</vt:lpwstr>
  </property>
  <property fmtid="{D5CDD505-2E9C-101B-9397-08002B2CF9AE}" pid="16" name="toc-title">
    <vt:lpwstr>Table of contents</vt:lpwstr>
  </property>
</Properties>
</file>