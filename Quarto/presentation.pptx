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sv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sv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sv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sv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面內磁場下1T相二碲化鉑約瑟夫森接面之電流－相位關係研究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idx="1" type="subTitle"/>
              </p:nvPr>
            </p:nvSpPr>
            <p:spPr>
              <a:xfrm>
                <a:off x="1371600" y="2914650"/>
                <a:ext cx="6400800" cy="1314450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Study of the Current–Phase Relation of a 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Josephson Junction Under an In-Plane Magnetic Field</a:t>
                </a:r>
                <a:br/>
                <a:br/>
                <a:r>
                  <a:rPr/>
                  <a:t>Student: Tao-Yi Hsu (徐道宜)  Advisor: Dr. Kuei-Lin Chiu (邱奎霖 博士)</a:t>
                </a:r>
              </a:p>
            </p:txBody>
          </p:sp>
        </mc:Choice>
      </mc:AlternateContent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Outline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Introduction</a:t>
                </a:r>
              </a:p>
              <a:p>
                <a:pPr lvl="0"/>
                <a:r>
                  <a:rPr/>
                  <a:t>Research motivation</a:t>
                </a:r>
              </a:p>
              <a:p>
                <a:pPr lvl="0"/>
                <a:r>
                  <a:rPr/>
                  <a:t>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(Type-II Dirac)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Theory</a:t>
            </a:r>
          </a:p>
          <a:p>
            <a:pPr lvl="0"/>
            <a:r>
              <a:rPr/>
              <a:t>Josephson effect &amp; CPR</a:t>
            </a:r>
          </a:p>
          <a:p>
            <a:pPr lvl="0"/>
            <a:r>
              <a:rPr/>
              <a:t>Josephson diode effect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Research Motivation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Topological SC</a:t>
                </a:r>
              </a:p>
              <a:p>
                <a:pPr lvl="0"/>
                <a:r>
                  <a:rPr/>
                  <a:t>Type-II Dirac semimetal </a:t>
                </a:r>
                <a:r>
                  <a:rPr b="1"/>
                  <a:t>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proximitized by a superconductor</a:t>
                </a:r>
              </a:p>
              <a:p>
                <a:pPr lvl="0"/>
                <a:r>
                  <a:rPr/>
                  <a:t>Platform for novel quantum transport (surface/edge states)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CPR</a:t>
                </a:r>
              </a:p>
              <a:p>
                <a:pPr lvl="0"/>
                <a:r>
                  <a:rPr/>
                  <a:t>Direct probe of junction physics beyond simple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ϕ</m:t>
                    </m:r>
                  </m:oMath>
                </a14:m>
              </a:p>
              <a:p>
                <a:pPr lvl="0"/>
                <a:r>
                  <a:rPr/>
                  <a:t>Harmonics encode transparency / Andreev bound states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: A Type-II Dirac Semimetal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Crystal Structure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Layered Transition Metal Dichalcogenide (TMD).</a:t>
                </a:r>
              </a:p>
              <a:p>
                <a:pPr lvl="1"/>
                <a:r>
                  <a:rPr/>
                  <a:t>CdI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-type trigonal structure (</a:t>
                </a:r>
                <a14:m>
                  <m:oMath xmlns:m="http://schemas.openxmlformats.org/officeDocument/2006/math">
                    <m:r>
                      <m:t>P</m:t>
                    </m:r>
                    <m:acc>
                      <m:accPr>
                        <m:chr m:val="‾"/>
                      </m:accPr>
                      <m:e>
                        <m:r>
                          <m:t>3</m:t>
                        </m:r>
                      </m:e>
                    </m:acc>
                    <m:r>
                      <m:t>m</m:t>
                    </m:r>
                    <m:r>
                      <m:t>1</m:t>
                    </m:r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Te-Pt-Te tri-layers bound by van der Waals forces.</a:t>
                </a:r>
              </a:p>
              <a:p>
                <a:pPr lvl="0"/>
                <a:r>
                  <a:rPr b="1"/>
                  <a:t>Electronic Properties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Type-II Dirac Fermions</a:t>
                </a:r>
                <a:r>
                  <a:rPr/>
                  <a:t>: Lorentz-invariance violating tilted Dirac cones.</a:t>
                </a:r>
              </a:p>
              <a:p>
                <a:pPr lvl="1"/>
                <a:r>
                  <a:rPr/>
                  <a:t>High conductivity and potential topological surface states (TSS).</a:t>
                </a:r>
              </a:p>
            </p:txBody>
          </p:sp>
        </mc:Choice>
      </mc:AlternateContent>
      <p:pic>
        <p:nvPicPr>
          <p:cNvPr descr="Images/topological_materia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384300"/>
            <a:ext cx="40386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/>
            </p:nvSpPr>
            <p:spPr>
              <a:xfrm>
                <a:off x="4648200" y="4076700"/>
                <a:ext cx="40386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Crystal structure of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Theoretical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Josephson Effect &amp; Current–Phase Relation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Josephson relations</a:t>
                </a:r>
              </a:p>
              <a:p>
                <a:pPr lvl="0"/>
                <a:r>
                  <a:rPr/>
                  <a:t>DC: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sin</m:t>
                    </m:r>
                    <m:r>
                      <m:t>ϕ</m:t>
                    </m:r>
                  </m:oMath>
                </a14:m>
                <a:r>
                  <a:rPr/>
                  <a:t> (ideal tunnel junction)</a:t>
                </a:r>
              </a:p>
              <a:p>
                <a:pPr lvl="0"/>
                <a:r>
                  <a:rPr/>
                  <a:t>AC: </a:t>
                </a:r>
                <a14:m>
                  <m:oMath xmlns:m="http://schemas.openxmlformats.org/officeDocument/2006/math">
                    <m:acc>
                      <m:accPr>
                        <m:chr m:val="̇"/>
                      </m:accPr>
                      <m:e>
                        <m:r>
                          <m:t>ϕ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  <m:r>
                          <m:t>e</m:t>
                        </m:r>
                      </m:num>
                      <m:den>
                        <m:r>
                          <m:rPr>
                            <m:sty m:val="p"/>
                          </m:rPr>
                          <m:t>ℏ</m:t>
                        </m:r>
                      </m:den>
                    </m:f>
                    <m:r>
                      <m:t>V</m:t>
                    </m:r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Beyond sinusoidal CPR</a:t>
                </a:r>
              </a:p>
              <a:p>
                <a:pPr lvl="0"/>
                <a:r>
                  <a:rPr/>
                  <a:t>High transparency → </a:t>
                </a:r>
                <a:r>
                  <a:rPr b="1"/>
                  <a:t>skewed</a:t>
                </a:r>
                <a:r>
                  <a:rPr/>
                  <a:t> CPR</a:t>
                </a:r>
              </a:p>
              <a:p>
                <a:pPr lvl="0"/>
                <a:r>
                  <a:rPr/>
                  <a:t>Harmonics: </a:t>
                </a:r>
                <a14:m>
                  <m:oMath xmlns:m="http://schemas.openxmlformats.org/officeDocument/2006/math">
                    <m:r>
                      <m:t>I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n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n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t>ϕ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sSub>
                          <m:e>
                            <m:r>
                              <m:t>δ</m:t>
                            </m:r>
                          </m:e>
                          <m:sub>
                            <m:r>
                              <m:t>n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/>
                  <a:t>Access via </a:t>
                </a:r>
                <a:r>
                  <a:rPr b="1"/>
                  <a:t>asymmetric SQUID</a:t>
                </a:r>
                <a:r>
                  <a:rPr/>
                  <a:t> readout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Josephson Diode Effect (Concept)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Definition</a:t>
                </a:r>
              </a:p>
              <a:p>
                <a:pPr lvl="0"/>
                <a:r>
                  <a:rPr/>
                  <a:t>Non‑reciprocal critical current</a:t>
                </a:r>
                <a:br/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m:t>≠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</a:p>
              <a:p>
                <a:pPr lvl="0"/>
                <a:r>
                  <a:rPr/>
                  <a:t>Superconducting rectification without Joule heating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Typical ingredients</a:t>
                </a:r>
              </a:p>
              <a:p>
                <a:pPr lvl="0"/>
                <a:r>
                  <a:rPr/>
                  <a:t>Broken inversion symmetry + broken time‑reversal symmetry</a:t>
                </a:r>
              </a:p>
              <a:p>
                <a:pPr lvl="0"/>
                <a:r>
                  <a:rPr/>
                  <a:t>Often tuned by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∥</m:t>
                        </m:r>
                      </m:sub>
                    </m:sSub>
                  </m:oMath>
                </a14:m>
                <a:r>
                  <a:rPr/>
                  <a:t> with strong spin–orbit coupling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Theoretical Model: Rashba + Zeeman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Rashba + Zeeman: Why We Care</a:t>
                </a:r>
              </a:p>
              <a:p>
                <a:pPr lvl="0"/>
                <a:r>
                  <a:rPr/>
                  <a:t>Platform: 2D electron system at an interface (e.g. 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surface / S–PtTe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junction)</a:t>
                </a:r>
              </a:p>
              <a:p>
                <a:pPr lvl="0"/>
                <a:r>
                  <a:rPr/>
                  <a:t>Key ingredients:</a:t>
                </a:r>
              </a:p>
              <a:p>
                <a:pPr lvl="1"/>
                <a:r>
                  <a:rPr/>
                  <a:t>Strong spin–orbit coupling (SOC) → Rashba effect</a:t>
                </a:r>
              </a:p>
              <a:p>
                <a:pPr lvl="1"/>
                <a:r>
                  <a:rPr/>
                  <a:t>External magnetic field → Zeeman effect</a:t>
                </a:r>
              </a:p>
              <a:p>
                <a:pPr lvl="0"/>
                <a:r>
                  <a:rPr/>
                  <a:t>Combined effect:</a:t>
                </a:r>
              </a:p>
              <a:p>
                <a:pPr lvl="1"/>
                <a:r>
                  <a:rPr/>
                  <a:t>Generates </a:t>
                </a:r>
                <a:r>
                  <a:rPr b="1"/>
                  <a:t>helical spin–momentum locking + spin splitting</a:t>
                </a:r>
              </a:p>
              <a:p>
                <a:pPr lvl="1"/>
                <a:r>
                  <a:rPr/>
                  <a:t>Breaks </a:t>
                </a:r>
                <a:r>
                  <a:rPr b="1"/>
                  <a:t>inversion</a:t>
                </a:r>
                <a:r>
                  <a:rPr/>
                  <a:t> and </a:t>
                </a:r>
                <a:r>
                  <a:rPr b="1"/>
                  <a:t>time-reversal</a:t>
                </a:r>
                <a:r>
                  <a:rPr/>
                  <a:t> symmetries → allows </a:t>
                </a:r>
                <a:r>
                  <a:rPr b="1"/>
                  <a:t>finite-momentum pairing</a:t>
                </a:r>
                <a:r>
                  <a:rPr/>
                  <a:t> and </a:t>
                </a:r>
                <a:r>
                  <a:rPr b="1"/>
                  <a:t>Josephson diode effect (JDE)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Minimal 2D Model (Rashba + Zeeman)</a:t>
                </a:r>
              </a:p>
              <a:p>
                <a:pPr lvl="0"/>
                <a:r>
                  <a:rPr/>
                  <a:t>Momentum in plane: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k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k</m:t>
                            </m:r>
                          </m:e>
                          <m:sub>
                            <m: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k</m:t>
                            </m:r>
                          </m:e>
                          <m:sub>
                            <m:r>
                              <m:t>y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/>
                  <a:t>Spin Pauli matrices: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σ</m:t>
                            </m:r>
                          </m:e>
                          <m:sub>
                            <m:r>
                              <m:t>x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σ</m:t>
                            </m:r>
                          </m:e>
                          <m:sub>
                            <m:r>
                              <m:t>y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,</m:t>
                        </m:r>
                        <m:sSub>
                          <m:e>
                            <m:r>
                              <m:t>σ</m:t>
                            </m:r>
                          </m:e>
                          <m:sub>
                            <m:r>
                              <m:t>z</m:t>
                            </m:r>
                          </m:sub>
                        </m:sSub>
                      </m:e>
                    </m:d>
                  </m:oMath>
                </a14:m>
              </a:p>
              <a:p>
                <a:pPr lvl="0"/>
                <a:r>
                  <a:rPr/>
                  <a:t>Total Hamiltonian: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limLow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m:t>ℏ</m:t>
                                      </m:r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  <m:sSup>
                                    <m:e>
                                      <m:r>
                                        <m:t>k</m:t>
                                      </m:r>
                                    </m:e>
                                    <m:sup>
                                      <m: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m:t>2</m:t>
                                  </m:r>
                                  <m:r>
                                    <m:t>m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μ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</m:lim>
                      </m:limLow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sSub>
                                <m:e>
                                  <m:r>
                                    <m:t>α</m:t>
                                  </m:r>
                                </m:e>
                                <m:sub>
                                  <m:r>
                                    <m:t>R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k</m:t>
                                      </m:r>
                                    </m:e>
                                    <m:sub>
                                      <m:r>
                                        <m:t>y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m:t>σ</m:t>
                                      </m:r>
                                    </m:e>
                                    <m:sub>
                                      <m:r>
                                        <m:t>x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sSub>
                                    <m:e>
                                      <m:r>
                                        <m:t>k</m:t>
                                      </m:r>
                                    </m:e>
                                    <m:sub>
                                      <m:r>
                                        <m:t>x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m:t>σ</m:t>
                                      </m:r>
                                    </m:e>
                                    <m:sub>
                                      <m:r>
                                        <m:t>y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</m:lim>
                      </m:limLow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f>
                                <m:fPr>
                                  <m:type m:val="lin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2</m:t>
                                  </m:r>
                                </m:den>
                              </m:f>
                              <m:r>
                                <m:t>g</m:t>
                              </m:r>
                              <m:sSub>
                                <m:e>
                                  <m:r>
                                    <m:t>μ</m:t>
                                  </m:r>
                                </m:e>
                                <m:sub>
                                  <m:r>
                                    <m:t>B</m:t>
                                  </m:r>
                                </m:sub>
                              </m:sSub>
                              <m:r>
                                <m:rPr>
                                  <m:sty m:val="b"/>
                                </m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m:t>⋅</m:t>
                              </m:r>
                              <m:r>
                                <m:rPr>
                                  <m:sty m:val="b"/>
                                </m:rPr>
                                <m:t>σ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sSub>
                            <m:e>
                              <m:r>
                                <m:t>H</m:t>
                              </m:r>
                            </m:e>
                            <m:sub>
                              <m:r>
                                <m:t>Z</m:t>
                              </m:r>
                            </m:sub>
                          </m:sSub>
                        </m:lim>
                      </m:limLow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We will discuss: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: Free 2D electron gas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: Rashba spin–orbit coupling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Z</m:t>
                        </m:r>
                      </m:sub>
                    </m:sSub>
                  </m:oMath>
                </a14:m>
                <a:r>
                  <a:rPr/>
                  <a:t>: Zeeman coupling to external magnetic field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Free 2D Electron Gas (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b="1"/>
                  <a:t>)</a:t>
                </a:r>
              </a:p>
              <a:p>
                <a:pPr lvl="0"/>
                <a:r>
                  <a:rPr/>
                  <a:t>Hamiltonian: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m:t>ℏ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sSup>
                            <m:e>
                              <m:r>
                                <m:t>k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2</m:t>
                          </m:r>
                          <m: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m:t>−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p>
                        <m:e>
                          <m:r>
                            <m:t>k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sSubSup>
                        <m:e>
                          <m:r>
                            <m:t>k</m:t>
                          </m:r>
                        </m:e>
                        <m:sub>
                          <m:r>
                            <m:t>x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sSubSup>
                        <m:e>
                          <m:r>
                            <m:t>k</m:t>
                          </m:r>
                        </m:e>
                        <m:sub>
                          <m:r>
                            <m:t>y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Symmetries:</a:t>
                </a:r>
              </a:p>
              <a:p>
                <a:pPr lvl="1"/>
                <a:r>
                  <a:rPr b="1"/>
                  <a:t>Time-reversal symmetry (TRS)</a:t>
                </a:r>
                <a:r>
                  <a:rPr/>
                  <a:t>: preserved</a:t>
                </a:r>
              </a:p>
              <a:p>
                <a:pPr lvl="1"/>
                <a:r>
                  <a:rPr b="1"/>
                  <a:t>Inversion / mirror symmetry</a:t>
                </a:r>
                <a:r>
                  <a:rPr/>
                  <a:t> (including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z</m:t>
                    </m:r>
                  </m:oMath>
                </a14:m>
                <a:r>
                  <a:rPr/>
                  <a:t>): preserved if structure is centrosymmetric</a:t>
                </a:r>
              </a:p>
              <a:p>
                <a:pPr lvl="1"/>
                <a:r>
                  <a:rPr b="1"/>
                  <a:t>Spin SU(2) symmetry</a:t>
                </a:r>
                <a:r>
                  <a:rPr/>
                  <a:t>: full spin-rotation invariance</a:t>
                </a:r>
              </a:p>
              <a:p>
                <a:pPr lvl="1"/>
                <a:r>
                  <a:rPr b="1"/>
                  <a:t>In-plane rotational symmetry</a:t>
                </a:r>
                <a:r>
                  <a:rPr/>
                  <a:t> (if effective mass isotropic): approx. preserved</a:t>
                </a:r>
              </a:p>
              <a:p>
                <a:pPr lvl="0"/>
                <a:r>
                  <a:rPr/>
                  <a:t>Physical picture:</a:t>
                </a:r>
              </a:p>
              <a:p>
                <a:pPr lvl="1"/>
                <a:r>
                  <a:rPr/>
                  <a:t>Spin-degenerate parabolic bands</a:t>
                </a:r>
              </a:p>
              <a:p>
                <a:pPr lvl="1"/>
                <a:r>
                  <a:rPr/>
                  <a:t>No spin–momentum locking; spin and momentum are independent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Rashba Term (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 b="1"/>
                  <a:t>): Origin and Form</a:t>
                </a:r>
              </a:p>
              <a:p>
                <a:pPr lvl="0"/>
                <a:r>
                  <a:rPr/>
                  <a:t>Requires </a:t>
                </a:r>
                <a:r>
                  <a:rPr b="1"/>
                  <a:t>structural inversion asymmetry (SIA)</a:t>
                </a:r>
                <a:r>
                  <a:rPr/>
                  <a:t> + strong SOC</a:t>
                </a:r>
              </a:p>
              <a:p>
                <a:pPr lvl="0"/>
                <a:r>
                  <a:rPr/>
                  <a:t>Rashba Hamiltonian: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m:t>σ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r>
                            <m:rPr>
                              <m:sty m:val="b"/>
                            </m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m:t>⋅</m:t>
                      </m:r>
                      <m:acc>
                        <m:accPr>
                          <m:chr m:val="̂"/>
                        </m:accPr>
                        <m:e>
                          <m:r>
                            <m:rPr>
                              <m:sty m:val="b"/>
                            </m:rPr>
                            <m:t>z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k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k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Parameters: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: Rashba coupling strength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∝</m:t>
                    </m:r>
                  </m:oMath>
                </a14:m>
                <a:r>
                  <a:rPr/>
                  <a:t> interfacial electric field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z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Physical effect:</a:t>
                </a:r>
              </a:p>
              <a:p>
                <a:pPr lvl="1"/>
                <a:r>
                  <a:rPr b="1"/>
                  <a:t>Spin–momentum locking in the plane</a:t>
                </a:r>
                <a:r>
                  <a:rPr/>
                  <a:t>:</a:t>
                </a:r>
              </a:p>
              <a:p>
                <a:pPr lvl="2"/>
                <a:r>
                  <a:rPr/>
                  <a:t>Spin lies in-plane and perpendicular to momentum</a:t>
                </a:r>
              </a:p>
              <a:p>
                <a:pPr lvl="1"/>
                <a:r>
                  <a:rPr/>
                  <a:t>Splits the spin-degenerate Fermi surface into two helically polarized Fermi circles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Rashba: Symmetry Breaking</a:t>
                </a:r>
              </a:p>
              <a:p>
                <a:pPr lvl="0"/>
                <a:r>
                  <a:rPr b="1"/>
                  <a:t>Breaks structural inversion symmetry</a:t>
                </a:r>
                <a:r>
                  <a:rPr/>
                  <a:t> (SIA):</a:t>
                </a:r>
              </a:p>
              <a:p>
                <a:pPr lvl="1"/>
                <a:r>
                  <a:rPr/>
                  <a:t>Under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z</m:t>
                    </m:r>
                  </m:oMath>
                </a14:m>
                <a:r>
                  <a:rPr/>
                  <a:t>: interfacial electric field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z</m:t>
                        </m:r>
                      </m:sub>
                    </m:sSub>
                  </m:oMath>
                </a14:m>
                <a:r>
                  <a:rPr/>
                  <a:t> changes sign</a:t>
                </a:r>
              </a:p>
              <a:p>
                <a:pPr lvl="1"/>
                <a:r>
                  <a:rPr/>
                  <a:t>Rashba coupling </a:t>
                </a:r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 changes sign →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 is not inversion-invariant</a:t>
                </a:r>
              </a:p>
              <a:p>
                <a:pPr lvl="0"/>
                <a:r>
                  <a:rPr b="1"/>
                  <a:t>Breaks full spin SU(2) symmetry</a:t>
                </a:r>
                <a:r>
                  <a:rPr/>
                  <a:t>:</a:t>
                </a:r>
              </a:p>
              <a:p>
                <a:pPr lvl="1"/>
                <a:r>
                  <a:rPr/>
                  <a:t>Spin no longer freely rotates; spin orientation is tied to momentum direction</a:t>
                </a:r>
              </a:p>
              <a:p>
                <a:pPr lvl="1"/>
                <a:r>
                  <a:rPr/>
                  <a:t>Only combined spin–orbital rotations may remain as approximate symmetries</a:t>
                </a:r>
              </a:p>
              <a:p>
                <a:pPr lvl="0"/>
                <a:r>
                  <a:rPr b="1"/>
                  <a:t>Preserves time-reversal symmetry (TRS)</a:t>
                </a:r>
                <a:r>
                  <a:rPr/>
                  <a:t>:</a:t>
                </a:r>
              </a:p>
              <a:p>
                <a:pPr lvl="1"/>
                <a:r>
                  <a:rPr/>
                  <a:t>Under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T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k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b"/>
                      </m:rPr>
                      <m:t>k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σ</m:t>
                    </m:r>
                    <m:r>
                      <m:rPr>
                        <m:sty m:val="p"/>
                      </m:rPr>
                      <m:t>→</m:t>
                    </m:r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b"/>
                      </m:rPr>
                      <m:t>σ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b"/>
                          </m:rPr>
                          <m:t>k</m:t>
                        </m:r>
                      </m:e>
                    </m:d>
                    <m:r>
                      <m:rPr>
                        <m:sty m:val="p"/>
                      </m:rPr>
                      <m:t>→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rPr>
                            <m:sty m:val="p"/>
                          </m:rPr>
                          <m:t>−</m:t>
                        </m:r>
                        <m:r>
                          <m:rPr>
                            <m:sty m:val="b"/>
                          </m:rPr>
                          <m:t>k</m:t>
                        </m:r>
                      </m:e>
                    </m:d>
                  </m:oMath>
                </a14:m>
                <a:r>
                  <a:rPr/>
                  <a:t> → TRS holds</a:t>
                </a:r>
              </a:p>
              <a:p>
                <a:pPr lvl="1"/>
                <a:r>
                  <a:rPr/>
                  <a:t>Kramers degeneracy: states at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k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rPr>
                        <m:sty m:val="b"/>
                      </m:rPr>
                      <m:t>k</m:t>
                    </m:r>
                  </m:oMath>
                </a14:m>
                <a:r>
                  <a:rPr/>
                  <a:t> remain degenerate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Zeeman Term (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Z</m:t>
                        </m:r>
                      </m:sub>
                    </m:sSub>
                  </m:oMath>
                </a14:m>
                <a:r>
                  <a:rPr b="1"/>
                  <a:t>): Origin and Form</a:t>
                </a:r>
              </a:p>
              <a:p>
                <a:pPr lvl="0"/>
                <a:r>
                  <a:rPr/>
                  <a:t>External magnetic field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</m:oMath>
                </a14:m>
                <a:r>
                  <a:rPr/>
                  <a:t> couples to spin: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Z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t>g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B</m:t>
                          </m:r>
                        </m:sub>
                      </m:sSub>
                      <m:r>
                        <m:rPr>
                          <m:sty m:val="b"/>
                        </m:rPr>
                        <m:t>B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b"/>
                        </m:rPr>
                        <m:t>σ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t>g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B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B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B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B</m:t>
                              </m:r>
                            </m:e>
                            <m:sub>
                              <m:r>
                                <m:t>z</m:t>
                              </m:r>
                            </m:sub>
                          </m:sSub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z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Examples:</a:t>
                </a:r>
              </a:p>
              <a:p>
                <a:pPr lvl="1"/>
                <a:r>
                  <a:rPr/>
                  <a:t>In-plane field along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m:t>H</m:t>
                        </m:r>
                      </m:e>
                      <m:sub>
                        <m:r>
                          <m:t>Z</m:t>
                        </m:r>
                      </m:sub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y</m:t>
                            </m:r>
                          </m:e>
                        </m:d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lin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t>g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sSub>
                      <m:e>
                        <m:r>
                          <m:t>B</m:t>
                        </m:r>
                      </m:e>
                      <m:sub>
                        <m:r>
                          <m:t>y</m:t>
                        </m:r>
                      </m:sub>
                    </m:sSub>
                    <m:sSub>
                      <m:e>
                        <m:r>
                          <m:t>σ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Physical effects:</a:t>
                </a:r>
              </a:p>
              <a:p>
                <a:pPr lvl="1"/>
                <a:r>
                  <a:rPr/>
                  <a:t>Spin-splitting of bands</a:t>
                </a:r>
              </a:p>
              <a:p>
                <a:pPr lvl="1"/>
                <a:r>
                  <a:rPr/>
                  <a:t>Polarization of spins along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</m:oMath>
                </a14:m>
              </a:p>
              <a:p>
                <a:pPr lvl="1"/>
                <a:r>
                  <a:rPr/>
                  <a:t>Modifies Fermi surfaces for spin-up and spin-down differently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Zeeman: Symmetry Breaking</a:t>
                </a:r>
              </a:p>
              <a:p>
                <a:pPr lvl="0"/>
                <a:r>
                  <a:rPr b="1"/>
                  <a:t>Breaks time-reversal symmetry (TRS)</a:t>
                </a:r>
                <a:r>
                  <a:rPr/>
                  <a:t>:</a:t>
                </a:r>
              </a:p>
              <a:p>
                <a:pPr lvl="1"/>
                <a:r>
                  <a:rPr/>
                  <a:t>Magnetic field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</m:oMath>
                </a14:m>
                <a:r>
                  <a:rPr/>
                  <a:t> is odd under time reversal</a:t>
                </a:r>
              </a:p>
              <a:p>
                <a:pPr lvl="1"/>
                <a:r>
                  <a:rPr/>
                  <a:t>With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  <m:r>
                      <m:rPr>
                        <m:sty m:val="p"/>
                      </m:rPr>
                      <m:t>≠</m:t>
                    </m:r>
                    <m:r>
                      <m:t>0</m:t>
                    </m:r>
                  </m:oMath>
                </a14:m>
                <a:r>
                  <a:rPr/>
                  <a:t>, the system is no longer invariant under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T</m:t>
                    </m:r>
                  </m:oMath>
                </a14:m>
              </a:p>
              <a:p>
                <a:pPr lvl="1"/>
                <a:r>
                  <a:rPr/>
                  <a:t>Lifts Kramers degeneracy</a:t>
                </a:r>
              </a:p>
              <a:p>
                <a:pPr lvl="0"/>
                <a:r>
                  <a:rPr b="1"/>
                  <a:t>Reduces spin SU(2) to U(1)</a:t>
                </a:r>
                <a:r>
                  <a:rPr/>
                  <a:t>:</a:t>
                </a:r>
              </a:p>
              <a:p>
                <a:pPr lvl="1"/>
                <a:r>
                  <a:rPr/>
                  <a:t>Only spin rotations about the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</m:oMath>
                </a14:m>
                <a:r>
                  <a:rPr/>
                  <a:t> axis remain symmetric</a:t>
                </a:r>
              </a:p>
              <a:p>
                <a:pPr lvl="1"/>
                <a:r>
                  <a:rPr/>
                  <a:t>Spin is preferentially aligned parallel or antiparallel to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</m:oMath>
                </a14:m>
              </a:p>
              <a:p>
                <a:pPr lvl="0"/>
                <a:r>
                  <a:rPr b="1"/>
                  <a:t>Spatial symmetries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Depending on the crystal,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</m:oMath>
                </a14:m>
                <a:r>
                  <a:rPr/>
                  <a:t> selects a preferred axis</a:t>
                </a:r>
              </a:p>
              <a:p>
                <a:pPr lvl="1"/>
                <a:r>
                  <a:rPr/>
                  <a:t>May break certain rotational or mirror symmetries (e.g. in-plane mirrors) depending on direction of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Rashba + Zeeman Together</a:t>
                </a:r>
              </a:p>
              <a:p>
                <a:pPr lvl="0"/>
                <a:r>
                  <a:rPr/>
                  <a:t>Combined Hamiltonian: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rPr>
                                  <m:sty m:val="p"/>
                                </m:rPr>
                                <m:t>ℏ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sSup>
                            <m:e>
                              <m:r>
                                <m:t>k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2</m:t>
                          </m:r>
                          <m: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m:t>−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k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k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r>
                        <m:t>g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B</m:t>
                          </m:r>
                        </m:sub>
                      </m:sSub>
                      <m:r>
                        <m:rPr>
                          <m:sty m:val="b"/>
                        </m:rPr>
                        <m:t>B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b"/>
                        </m:rPr>
                        <m:t>σ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Symmetry summary:</a:t>
                </a:r>
              </a:p>
              <a:p>
                <a:pPr lvl="1"/>
                <a:r>
                  <a:rPr b="1"/>
                  <a:t>Inversion symmetry</a:t>
                </a:r>
                <a:r>
                  <a:rPr/>
                  <a:t> (along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): broken by Rashba</a:t>
                </a:r>
              </a:p>
              <a:p>
                <a:pPr lvl="1"/>
                <a:r>
                  <a:rPr b="1"/>
                  <a:t>Time-reversal symmetry</a:t>
                </a:r>
                <a:r>
                  <a:rPr/>
                  <a:t>: broken by Zeeman (finite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B</m:t>
                    </m:r>
                  </m:oMath>
                </a14:m>
                <a:r>
                  <a:rPr/>
                  <a:t>)</a:t>
                </a:r>
              </a:p>
              <a:p>
                <a:pPr lvl="1"/>
                <a:r>
                  <a:rPr b="1"/>
                  <a:t>Spin SU(2)</a:t>
                </a:r>
                <a:r>
                  <a:rPr/>
                  <a:t>: strongly broken; only residual rotations around special axes</a:t>
                </a:r>
              </a:p>
              <a:p>
                <a:pPr lvl="0"/>
                <a:r>
                  <a:rPr/>
                  <a:t>Physical consequences:</a:t>
                </a:r>
              </a:p>
              <a:p>
                <a:pPr lvl="1"/>
                <a:r>
                  <a:rPr/>
                  <a:t>Spin texture becomes </a:t>
                </a:r>
                <a:r>
                  <a:rPr b="1"/>
                  <a:t>helical + spin-split</a:t>
                </a:r>
              </a:p>
              <a:p>
                <a:pPr lvl="1"/>
                <a:r>
                  <a:rPr/>
                  <a:t>Fermi surfaces for opposite spins are shifted and distorted</a:t>
                </a:r>
              </a:p>
              <a:p>
                <a:pPr lvl="1"/>
                <a:r>
                  <a:rPr/>
                  <a:t>This structure is the microscopic origin of:</a:t>
                </a:r>
              </a:p>
              <a:p>
                <a:pPr lvl="2"/>
                <a:r>
                  <a:rPr b="1"/>
                  <a:t>finite-momentum Cooper pairing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≠</m:t>
                    </m:r>
                    <m:r>
                      <m:t>0</m:t>
                    </m:r>
                  </m:oMath>
                </a14:m>
                <a:r>
                  <a:rPr/>
                  <a:t>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b="1"/>
                  <a:t>-shifted and second-harmonic CPR</a:t>
                </a:r>
              </a:p>
              <a:p>
                <a:pPr lvl="2"/>
                <a:r>
                  <a:rPr b="1"/>
                  <a:t>Josephson diode effect (JDE)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Connection to Finite-Momentum Pairing</a:t>
                </a:r>
              </a:p>
              <a:p>
                <a:pPr lvl="0"/>
                <a:r>
                  <a:rPr/>
                  <a:t>In presence of Rashba + Zeeman:</a:t>
                </a:r>
              </a:p>
              <a:p>
                <a:pPr lvl="1"/>
                <a:r>
                  <a:rPr/>
                  <a:t>Spin–momentum locking: spin orientation tied to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m:t>k</m:t>
                    </m:r>
                  </m:oMath>
                </a14:m>
              </a:p>
              <a:p>
                <a:pPr lvl="1"/>
                <a:r>
                  <a:rPr/>
                  <a:t>Zeeman shifts spin-split Fermi surfaces in momentum space</a:t>
                </a:r>
              </a:p>
              <a:p>
                <a:pPr lvl="0"/>
                <a:r>
                  <a:rPr/>
                  <a:t>Result:</a:t>
                </a:r>
              </a:p>
              <a:p>
                <a:pPr lvl="1"/>
                <a:r>
                  <a:rPr/>
                  <a:t>Cooper pairs formed between time-reversed partners no longer centered at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1"/>
                <a:r>
                  <a:rPr/>
                  <a:t>Effective pair momentum: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b"/>
                        </m:rPr>
                        <m:t>q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∝</m:t>
                      </m:r>
                      <m:sSub>
                        <m:e>
                          <m:r>
                            <m:rPr>
                              <m:sty m:val="b"/>
                            </m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∥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1"/>
                <a:r>
                  <a:rPr/>
                  <a:t>e.g. 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x</m:t>
                        </m:r>
                      </m:sub>
                    </m:sSub>
                    <m:r>
                      <m:rPr>
                        <m:sty m:val="p"/>
                      </m:rPr>
                      <m:t>∝</m:t>
                    </m:r>
                    <m:sSub>
                      <m:e>
                        <m:r>
                          <m:t>B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  <a:r>
                  <a:rPr/>
                  <a:t> for certain helical textures</a:t>
                </a:r>
              </a:p>
              <a:p>
                <a:pPr lvl="0"/>
                <a:r>
                  <a:rPr/>
                  <a:t>In the Josephson junction:</a:t>
                </a:r>
              </a:p>
              <a:p>
                <a:pPr lvl="1"/>
                <a:r>
                  <a:rPr/>
                  <a:t>Additional phase: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δ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≃</m:t>
                      </m:r>
                      <m:r>
                        <m:t>2</m:t>
                      </m:r>
                      <m:r>
                        <m:rPr>
                          <m:sty m:val="b"/>
                        </m:rPr>
                        <m:t>q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b"/>
                        </m:rPr>
                        <m:t>L</m:t>
                      </m:r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1"/>
                <a:r>
                  <a:rPr/>
                  <a:t>Appears in CPR as: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ϕ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r>
                        <m:t>ϕ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t>ϕ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δ</m:t>
                          </m:r>
                        </m:e>
                      </m:d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1"/>
                <a:r>
                  <a:rPr/>
                  <a:t>This is the GL-level description used to model JDE in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/ NiTe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junctions.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Symmetry &amp; JDE (Summary)</a:t>
                </a:r>
              </a:p>
              <a:p>
                <a:pPr lvl="0"/>
                <a:r>
                  <a:rPr b="1"/>
                  <a:t>Two key symmetry breakings for JDE / 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b="1"/>
                  <a:t>-junction:</a:t>
                </a:r>
              </a:p>
              <a:p>
                <a:pPr lvl="1" indent="-342900" marL="685800">
                  <a:buAutoNum type="arabicPeriod"/>
                </a:pPr>
                <a:r>
                  <a:rPr b="1"/>
                  <a:t>Inversion symmetry broken</a:t>
                </a:r>
                <a:r>
                  <a:rPr/>
                  <a:t> → Rashba SOC</a:t>
                </a:r>
              </a:p>
              <a:p>
                <a:pPr lvl="1" indent="-342900" marL="685800">
                  <a:buAutoNum type="arabicPeriod"/>
                </a:pPr>
                <a:r>
                  <a:rPr b="1"/>
                  <a:t>Time-reversal symmetry broken</a:t>
                </a:r>
                <a:r>
                  <a:rPr/>
                  <a:t> → Zeeman field</a:t>
                </a:r>
              </a:p>
              <a:p>
                <a:pPr lvl="0"/>
                <a:r>
                  <a:rPr/>
                  <a:t>Rashba + Zeeman together:</a:t>
                </a:r>
              </a:p>
              <a:p>
                <a:pPr lvl="1"/>
                <a:r>
                  <a:rPr/>
                  <a:t>Generate helical spin–momentum locking + finite-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pairing</a:t>
                </a:r>
              </a:p>
              <a:p>
                <a:pPr lvl="1"/>
                <a:r>
                  <a:rPr/>
                  <a:t>Lead to a CPR containing higher harmonics and phase shifts: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ϕ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r>
                        <m:t>ϕ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t>ϕ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δ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</m:oMath>
                  </m:oMathPara>
                </a14:m>
              </a:p>
              <a:p>
                <a:pPr lvl="1"/>
                <a:r>
                  <a:rPr/>
                  <a:t>Allow nonreciprocal critical current: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m:t>I</m:t>
                          </m:r>
                        </m:e>
                        <m:sub>
                          <m:r>
                            <m:t>c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m:t>≠</m:t>
                      </m:r>
                      <m:d>
                        <m:dPr>
                          <m:begChr m:val="|"/>
                          <m:sepChr m:val=""/>
                          <m:endChr m:val="|"/>
                          <m:grow/>
                        </m:dPr>
                        <m:e>
                          <m:sSubSup>
                            <m:e>
                              <m:r>
                                <m:t>I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</m:sup>
                          </m:sSubSup>
                        </m:e>
                      </m:d>
                      <m:r>
                        <m:t> 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Josephson diode effect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/>
                <a:r>
                  <a:rPr/>
                  <a:t>Take-home message:</a:t>
                </a:r>
              </a:p>
              <a:p>
                <a:pPr lvl="1"/>
                <a:r>
                  <a:rPr b="1"/>
                  <a:t>Rashba = inversion breaking + SOC</a:t>
                </a:r>
              </a:p>
              <a:p>
                <a:pPr lvl="1"/>
                <a:r>
                  <a:rPr b="1"/>
                  <a:t>Zeeman = time-reversal breaking</a:t>
                </a:r>
              </a:p>
              <a:p>
                <a:pPr lvl="1"/>
                <a:r>
                  <a:rPr b="1"/>
                  <a:t>Combination is the microscopic mechanism for JDE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Experimental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Device Fabrication Flow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Crystal Growth</a:t>
                </a:r>
                <a:r>
                  <a:rPr/>
                  <a:t>: Self-flux method (provided by Prof. C.S. Lue, NCKU).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Exfoliation</a:t>
                </a:r>
                <a:r>
                  <a:rPr/>
                  <a:t>: Mechanical exfoliation of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flakes onto SiO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/Si substrates.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E-beam Lithography (EBL)</a:t>
                </a:r>
                <a:r>
                  <a:rPr/>
                  <a:t>:</a:t>
                </a:r>
              </a:p>
              <a:p>
                <a:pPr lvl="1"/>
                <a:r>
                  <a:rPr/>
                  <a:t>PMMA resist coating.</a:t>
                </a:r>
              </a:p>
              <a:p>
                <a:pPr lvl="1"/>
                <a:r>
                  <a:rPr/>
                  <a:t>Pattern definition for contacts and SQUID loops.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Metallization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Superconducting electrodes: </a:t>
                </a:r>
                <a:r>
                  <a:rPr b="1"/>
                  <a:t>Al (Aluminum)</a:t>
                </a:r>
                <a:r>
                  <a:rPr/>
                  <a:t> or </a:t>
                </a:r>
                <a:r>
                  <a:rPr b="1"/>
                  <a:t>Nb (Niobium)</a:t>
                </a:r>
                <a:r>
                  <a:rPr/>
                  <a:t>.</a:t>
                </a:r>
              </a:p>
              <a:p>
                <a:pPr lvl="1"/>
                <a:r>
                  <a:rPr i="1"/>
                  <a:t>In-situ</a:t>
                </a:r>
                <a:r>
                  <a:rPr/>
                  <a:t> Ar ion milling to ensure transparent interfaces.</a:t>
                </a:r>
              </a:p>
              <a:p>
                <a:pPr lvl="1"/>
                <a:r>
                  <a:rPr/>
                  <a:t>E-beam evaporation &amp; Liftoff.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Design</a:t>
                </a:r>
                <a:r>
                  <a:rPr/>
                  <a:t>: Asymmetric dc-SQUID geometry for CPR retrieval.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Measurement Setup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Cryogenic system</a:t>
                </a:r>
                <a:r>
                  <a:rPr/>
                  <a:t>: Dilution refrigerator (base </a:t>
                </a:r>
                <a:r>
                  <a:rPr b="1"/>
                  <a:t>~40 mK</a:t>
                </a:r>
                <a:r>
                  <a:rPr/>
                  <a:t>)</a:t>
                </a:r>
              </a:p>
              <a:p>
                <a:pPr lvl="0"/>
                <a:r>
                  <a:rPr b="1"/>
                  <a:t>Electronics</a:t>
                </a:r>
                <a:r>
                  <a:rPr/>
                  <a:t>: low-noise filtering, 4-terminal measurement</a:t>
                </a:r>
              </a:p>
              <a:p>
                <a:pPr lvl="0"/>
                <a:r>
                  <a:rPr b="1"/>
                  <a:t>Magnetic control</a:t>
                </a:r>
                <a:r>
                  <a:rPr/>
                  <a:t>: 3-axis vector magnet</a:t>
                </a:r>
                <a:br/>
                <a:r>
                  <a:rPr/>
                  <a:t>(precise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∥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⟂</m:t>
                        </m:r>
                      </m:sub>
                    </m:sSub>
                  </m:oMath>
                </a14:m>
                <a:r>
                  <a:rPr/>
                  <a:t> alignment)</a:t>
                </a:r>
              </a:p>
            </p:txBody>
          </p:sp>
        </mc:Choice>
      </mc:AlternateContent>
      <p:pic>
        <p:nvPicPr>
          <p:cNvPr descr="Images/coordinate_system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530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Measurement Schematic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Results: Basic Characterization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I-V Characteristics (DC Transport)</a:t>
                </a:r>
              </a:p>
              <a:p>
                <a:pPr lvl="0"/>
                <a:r>
                  <a:rPr b="1"/>
                  <a:t>Typical IV Curve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Clear Superconducting branch (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Switching Current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) and Retrapping Current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Hysteretic behavior (underdamped junction).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iv_run20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40386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I-V Curve at Base Temp.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Observation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Sharp transition indicates high-quality junction.</a:t>
                </a:r>
              </a:p>
              <a:p>
                <a:pPr lvl="1"/>
                <a:r>
                  <a:rPr/>
                  <a:t>Finite resistance in normal state (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 b="1"/>
                  <a:t>Excess Current</a:t>
                </a:r>
                <a:r>
                  <a:rPr/>
                  <a:t> observed at high bias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High transparency interface.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Fraunhofer Pattern (AC Josephson Effect)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Field modulation</a:t>
                </a:r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 vs. out-of-plane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⟂</m:t>
                        </m:r>
                      </m:sub>
                    </m:sSub>
                  </m:oMath>
                </a14:m>
              </a:p>
              <a:p>
                <a:pPr lvl="0"/>
                <a:r>
                  <a:rPr b="1"/>
                  <a:t>Pattern cues</a:t>
                </a:r>
              </a:p>
              <a:p>
                <a:pPr lvl="1"/>
                <a:r>
                  <a:rPr/>
                  <a:t>Regular lobes → initially uniform current distribution</a:t>
                </a:r>
              </a:p>
              <a:p>
                <a:pPr lvl="1"/>
                <a:r>
                  <a:rPr/>
                  <a:t>Deviations → non-uniformity / phase winding changes</a:t>
                </a:r>
              </a:p>
            </p:txBody>
          </p:sp>
        </mc:Choice>
      </mc:AlternateContent>
      <p:pic>
        <p:nvPicPr>
          <p:cNvPr descr="Images/fraunhofer_heatmap_005-1_60mT_linear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Fraunhofer Pattern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Results: Current-Phase Relation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CPR Retrieval Method</a:t>
                </a:r>
              </a:p>
              <a:p>
                <a:pPr lvl="0"/>
                <a:r>
                  <a:rPr b="1"/>
                  <a:t>Asymmetric SQUID Technique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Large junction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) // Small junction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Φ</m:t>
                            </m:r>
                          </m:e>
                          <m:sub>
                            <m:r>
                              <m:t>e</m:t>
                            </m:r>
                            <m:r>
                              <m:t>x</m:t>
                            </m:r>
                            <m:r>
                              <m:t>t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≈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Assumes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r>
                      <m:rPr>
                        <m:sty m:val="p"/>
                      </m:rPr>
                      <m:t>≫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and sinusoidal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Math Model</a:t>
                </a:r>
                <a:r>
                  <a:rPr/>
                  <a:t>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ϕ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ϕ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t>ϕ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δ</m:t>
                          </m:r>
                        </m:e>
                      </m:d>
                    </m:oMath>
                  </m:oMathPara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: Fundamental component (conventional).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: Second harmonic (4</a:t>
                </a:r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  <a:r>
                  <a:rPr/>
                  <a:t>-periodic / ABS).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Measured CPR &amp; Fitting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pr_fit_127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40386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Extracted CPR Waveforms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Key Findings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Skewed CPR</a:t>
                </a:r>
                <a:r>
                  <a:rPr/>
                  <a:t>: Deviation from pure sine wave.</a:t>
                </a:r>
              </a:p>
              <a:p>
                <a:pPr lvl="1"/>
                <a:r>
                  <a:rPr b="1"/>
                  <a:t>High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 b="1"/>
                  <a:t> ratio</a:t>
                </a:r>
                <a:r>
                  <a:rPr/>
                  <a:t>: Significant second harmonic component detected.</a:t>
                </a:r>
              </a:p>
              <a:p>
                <a:pPr lvl="1"/>
                <a:r>
                  <a:rPr/>
                  <a:t>Indicates presence of highly transparent Andreev Bound States (ABS).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Results: In-Plane Magnetic Field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Tunable CPR with In-Plane Field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Applying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∥</m:t>
                        </m:r>
                      </m:sub>
                    </m:sSub>
                  </m:oMath>
                </a14:m>
                <a:r>
                  <a:rPr/>
                  <a:t> </a:t>
                </a:r>
                <a:r>
                  <a:rPr b="1"/>
                  <a:t>modifies CPR shape</a:t>
                </a:r>
              </a:p>
              <a:p>
                <a:pPr lvl="0"/>
                <a:r>
                  <a:rPr/>
                  <a:t>Suggests a </a:t>
                </a:r>
                <a:r>
                  <a:rPr b="1"/>
                  <a:t>phase shift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) in higher harmonics</a:t>
                </a:r>
              </a:p>
              <a:p>
                <a:pPr lvl="0"/>
                <a:r>
                  <a:rPr/>
                  <a:t>Correlates with emergence of the </a:t>
                </a:r>
                <a:r>
                  <a:rPr b="1"/>
                  <a:t>Josephson diode effect</a:t>
                </a:r>
              </a:p>
            </p:txBody>
          </p:sp>
        </mc:Choice>
      </mc:AlternateContent>
      <p:pic>
        <p:nvPicPr>
          <p:cNvPr descr="Images/CPR_evolution_27_log_offset_corrected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65800" y="1193800"/>
            <a:ext cx="180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CPR Evolution under In-Plane Field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Josephson Diode Effect (JDE)</a:t>
                </a:r>
              </a:p>
              <a:p>
                <a:pPr lvl="0"/>
                <a:r>
                  <a:rPr b="1"/>
                  <a:t>Definition</a:t>
                </a:r>
                <a:r>
                  <a:rPr/>
                  <a:t>: Non-reciprocal critical current (</a:t>
                </a:r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m:t>≠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 b="1"/>
                  <a:t>Mechanism</a:t>
                </a:r>
                <a:r>
                  <a:rPr/>
                  <a:t>:</a:t>
                </a:r>
              </a:p>
              <a:p>
                <a:pPr lvl="1"/>
                <a:r>
                  <a:rPr/>
                  <a:t>Inversion symmetry breaking (structural or field-induced).</a:t>
                </a:r>
              </a:p>
              <a:p>
                <a:pPr lvl="1"/>
                <a:r>
                  <a:rPr/>
                  <a:t>Time-reversal symmetry breaking (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-field).</a:t>
                </a:r>
              </a:p>
              <a:p>
                <a:pPr lvl="1"/>
                <a:r>
                  <a:rPr/>
                  <a:t>Finite momentum Cooper pairs?</a:t>
                </a:r>
              </a:p>
              <a:p>
                <a:pPr lvl="0"/>
                <a:r>
                  <a:rPr b="1"/>
                  <a:t>Result</a:t>
                </a:r>
                <a:r>
                  <a:rPr/>
                  <a:t>:</a:t>
                </a:r>
              </a:p>
              <a:p>
                <a:pPr lvl="1"/>
                <a:r>
                  <a:rPr/>
                  <a:t>Efficiency 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+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−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</m:dPr>
                          <m:e>
                            <m:sSubSup>
                              <m:e>
                                <m:r>
                                  <m:t>I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+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+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</m:dPr>
                          <m:e>
                            <m:sSubSup>
                              <m:e>
                                <m:r>
                                  <m:t>I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Tunable by magnetic field angle and magnitude.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Summary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Successful Fabrication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High-quality 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Josephson junctions and SQUIDs realized.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Anomalous CPR</a:t>
                </a:r>
                <a:r>
                  <a:rPr/>
                  <a:t>:</a:t>
                </a:r>
              </a:p>
              <a:p>
                <a:pPr lvl="1"/>
                <a:r>
                  <a:rPr/>
                  <a:t>Observed significant </a:t>
                </a:r>
                <a:r>
                  <a:rPr b="1"/>
                  <a:t>second harmonic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 contribution.</a:t>
                </a:r>
              </a:p>
              <a:p>
                <a:pPr lvl="1"/>
                <a:r>
                  <a:rPr/>
                  <a:t>Direct evidence of high-transparency transport modes.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Magnetic Tuning</a:t>
                </a:r>
                <a:r>
                  <a:rPr/>
                  <a:t>:</a:t>
                </a:r>
              </a:p>
              <a:p>
                <a:pPr lvl="1"/>
                <a:r>
                  <a:rPr/>
                  <a:t>In-plane magnetic field effectively modulates the CPR and induces </a:t>
                </a:r>
                <a:r>
                  <a:rPr b="1"/>
                  <a:t>Josephson Diode Effect</a:t>
                </a:r>
                <a:r>
                  <a:rPr/>
                  <a:t>.</a:t>
                </a:r>
              </a:p>
              <a:p>
                <a:pPr lvl="1"/>
                <a:r>
                  <a:rPr/>
                  <a:t>Demonstrates potential for </a:t>
                </a:r>
                <a:r>
                  <a:rPr b="1"/>
                  <a:t>tunable superconducting logic</a:t>
                </a:r>
                <a:r>
                  <a:rPr/>
                  <a:t> and </a:t>
                </a:r>
                <a:r>
                  <a:rPr b="1"/>
                  <a:t>phase batteries</a:t>
                </a:r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Future Outlook</a:t>
                </a:r>
              </a:p>
              <a:p>
                <a:pPr lvl="0"/>
                <a:r>
                  <a:rPr b="1"/>
                  <a:t>Optimization</a:t>
                </a:r>
                <a:r>
                  <a:rPr/>
                  <a:t>: Improving fabrication yield and interface control.</a:t>
                </a:r>
              </a:p>
              <a:p>
                <a:pPr lvl="0"/>
                <a:r>
                  <a:rPr b="1"/>
                  <a:t>Material Exploration</a:t>
                </a:r>
                <a:r>
                  <a:rPr/>
                  <a:t>: Extending to other Weyl/Dirac semimetals.</a:t>
                </a:r>
              </a:p>
              <a:p>
                <a:pPr lvl="0"/>
                <a:r>
                  <a:rPr b="1"/>
                  <a:t>Quantum Information</a:t>
                </a:r>
                <a:r>
                  <a:rPr/>
                  <a:t>: Integration into superconducting qubit circuits (e.g., as non-linear inductive elements).</a:t>
                </a:r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面內磁場下1T相二碲化鉑約瑟夫森接面 之電流－相位關係研究</dc:title>
  <dc:creator>Student: Tao-Yi Hsu (徐道宜)   Advisor: Dr. Kuei-Lin Chiu (邱奎霖 博士)</dc:creator>
  <cp:keywords/>
  <dcterms:created xsi:type="dcterms:W3CDTF">2026-01-05T04:20:05Z</dcterms:created>
  <dcterms:modified xsi:type="dcterms:W3CDTF">2026-01-05T04:20:05Z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2026-01-05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National Sun Yat-sen University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Study of the Current–Phase Relation of a 1T-PtTe_2 Josephson Junction Under an In-Plane Magnetic Field</vt:lpwstr>
  </property>
  <property fmtid="{D5CDD505-2E9C-101B-9397-08002B2CF9AE}" pid="16" name="toc-title">
    <vt:lpwstr>Table of contents</vt:lpwstr>
  </property>
</Properties>
</file>