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大標題文字"/>
          <p:cNvSpPr txBox="1"/>
          <p:nvPr>
            <p:ph type="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12" name="內文層級一…"/>
          <p:cNvSpPr txBox="1"/>
          <p:nvPr>
            <p:ph type="body" sz="quarter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3429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6858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0287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21" name="內文層級一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22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大標題文字"/>
          <p:cNvSpPr txBox="1"/>
          <p:nvPr>
            <p:ph type="title"/>
          </p:nvPr>
        </p:nvSpPr>
        <p:spPr>
          <a:xfrm>
            <a:off x="722312" y="3305176"/>
            <a:ext cx="7772401" cy="1021557"/>
          </a:xfrm>
          <a:prstGeom prst="rect">
            <a:avLst/>
          </a:prstGeom>
        </p:spPr>
        <p:txBody>
          <a:bodyPr anchor="t"/>
          <a:lstStyle>
            <a:lvl1pPr algn="l">
              <a:defRPr b="1" cap="all" sz="3000"/>
            </a:lvl1pPr>
          </a:lstStyle>
          <a:p>
            <a:pPr/>
            <a:r>
              <a:t>大標題文字</a:t>
            </a:r>
          </a:p>
        </p:txBody>
      </p:sp>
      <p:sp>
        <p:nvSpPr>
          <p:cNvPr id="30" name="內文層級一…"/>
          <p:cNvSpPr txBox="1"/>
          <p:nvPr>
            <p:ph type="body" sz="quarter" idx="1"/>
          </p:nvPr>
        </p:nvSpPr>
        <p:spPr>
          <a:xfrm>
            <a:off x="722312" y="2180034"/>
            <a:ext cx="7772401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3429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6858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10287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13716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31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39" name="內文層級一…"/>
          <p:cNvSpPr txBox="1"/>
          <p:nvPr>
            <p:ph type="body" sz="half" idx="1"/>
          </p:nvPr>
        </p:nvSpPr>
        <p:spPr>
          <a:xfrm>
            <a:off x="457200" y="1200150"/>
            <a:ext cx="4038600" cy="339447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 marL="742950" indent="-400050">
              <a:defRPr sz="2100"/>
            </a:lvl2pPr>
            <a:lvl3pPr marL="1165860" indent="-480060">
              <a:defRPr sz="2100"/>
            </a:lvl3pPr>
            <a:lvl4pPr marL="1582615" indent="-553915">
              <a:defRPr sz="2100"/>
            </a:lvl4pPr>
            <a:lvl5pPr marL="1925515" indent="-553915">
              <a:defRPr sz="21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0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48" name="內文層級一…"/>
          <p:cNvSpPr txBox="1"/>
          <p:nvPr>
            <p:ph type="body" sz="quarter" idx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b="1" sz="1800"/>
            </a:lvl1pPr>
            <a:lvl2pPr marL="0" indent="342900">
              <a:spcBef>
                <a:spcPts val="400"/>
              </a:spcBef>
              <a:buSzTx/>
              <a:buFontTx/>
              <a:buNone/>
              <a:defRPr b="1" sz="1800"/>
            </a:lvl2pPr>
            <a:lvl3pPr marL="0" indent="685800">
              <a:spcBef>
                <a:spcPts val="400"/>
              </a:spcBef>
              <a:buSzTx/>
              <a:buFontTx/>
              <a:buNone/>
              <a:defRPr b="1" sz="1800"/>
            </a:lvl3pPr>
            <a:lvl4pPr marL="0" indent="1028700">
              <a:spcBef>
                <a:spcPts val="400"/>
              </a:spcBef>
              <a:buSzTx/>
              <a:buFontTx/>
              <a:buNone/>
              <a:defRPr b="1" sz="1800"/>
            </a:lvl4pPr>
            <a:lvl5pPr marL="0" indent="1371600">
              <a:spcBef>
                <a:spcPts val="400"/>
              </a:spcBef>
              <a:buSzTx/>
              <a:buFontTx/>
              <a:buNone/>
              <a:defRPr b="1" sz="18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6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400"/>
              </a:spcBef>
              <a:buSzTx/>
              <a:buFontTx/>
              <a:buNone/>
              <a:defRPr b="1" sz="1800"/>
            </a:pPr>
          </a:p>
        </p:txBody>
      </p:sp>
      <p:sp>
        <p:nvSpPr>
          <p:cNvPr id="50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58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大標題文字"/>
          <p:cNvSpPr txBox="1"/>
          <p:nvPr>
            <p:ph type="title"/>
          </p:nvPr>
        </p:nvSpPr>
        <p:spPr>
          <a:xfrm>
            <a:off x="457201" y="204786"/>
            <a:ext cx="3008314" cy="871539"/>
          </a:xfrm>
          <a:prstGeom prst="rect">
            <a:avLst/>
          </a:prstGeom>
        </p:spPr>
        <p:txBody>
          <a:bodyPr anchor="b"/>
          <a:lstStyle>
            <a:lvl1pPr algn="l">
              <a:defRPr b="1" sz="1500"/>
            </a:lvl1pPr>
          </a:lstStyle>
          <a:p>
            <a:pPr/>
            <a:r>
              <a:t>大標題文字</a:t>
            </a:r>
          </a:p>
        </p:txBody>
      </p:sp>
      <p:sp>
        <p:nvSpPr>
          <p:cNvPr id="73" name="內文層級一…"/>
          <p:cNvSpPr txBox="1"/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</p:spPr>
        <p:txBody>
          <a:bodyPr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000"/>
            </a:pPr>
          </a:p>
        </p:txBody>
      </p:sp>
      <p:sp>
        <p:nvSpPr>
          <p:cNvPr id="7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大標題文字"/>
          <p:cNvSpPr txBox="1"/>
          <p:nvPr>
            <p:ph type="title"/>
          </p:nvPr>
        </p:nvSpPr>
        <p:spPr>
          <a:xfrm>
            <a:off x="1792288" y="3600450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b="1" sz="1500"/>
            </a:lvl1pPr>
          </a:lstStyle>
          <a:p>
            <a:pPr/>
            <a:r>
              <a:t>大標題文字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內文層級一…"/>
          <p:cNvSpPr txBox="1"/>
          <p:nvPr>
            <p:ph type="body" sz="quarter" idx="1"/>
          </p:nvPr>
        </p:nvSpPr>
        <p:spPr>
          <a:xfrm>
            <a:off x="1792288" y="4025503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342900">
              <a:spcBef>
                <a:spcPts val="200"/>
              </a:spcBef>
              <a:buSzTx/>
              <a:buFontTx/>
              <a:buNone/>
              <a:defRPr sz="1000"/>
            </a:lvl2pPr>
            <a:lvl3pPr marL="0" indent="685800">
              <a:spcBef>
                <a:spcPts val="200"/>
              </a:spcBef>
              <a:buSzTx/>
              <a:buFontTx/>
              <a:buNone/>
              <a:defRPr sz="1000"/>
            </a:lvl3pPr>
            <a:lvl4pPr marL="0" indent="1028700">
              <a:spcBef>
                <a:spcPts val="200"/>
              </a:spcBef>
              <a:buSzTx/>
              <a:buFontTx/>
              <a:buNone/>
              <a:defRPr sz="1000"/>
            </a:lvl4pPr>
            <a:lvl5pPr marL="0" indent="1371600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大標題文字</a:t>
            </a:r>
          </a:p>
        </p:txBody>
      </p:sp>
      <p:sp>
        <p:nvSpPr>
          <p:cNvPr id="3" name="內文層級一…"/>
          <p:cNvSpPr txBox="1"/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/>
          <p:nvPr>
            <p:ph type="sldNum" sz="quarter" idx="2"/>
          </p:nvPr>
        </p:nvSpPr>
        <p:spPr>
          <a:xfrm>
            <a:off x="8466797" y="4801228"/>
            <a:ext cx="220003" cy="20591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34785" marR="0" indent="-391885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143000" marR="0" indent="-4572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5773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19202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2631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26060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29489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3291840" marR="0" indent="-54864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pPr defTabSz="277749">
              <a:defRPr sz="2673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面內磁場下</a:t>
            </a:r>
            <a:r>
              <a:t>1T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相二碲化鉑約瑟夫森接面之電流</a:t>
            </a:r>
            <a:r>
              <a:t>-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相位關係研究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碩士學位論文口試</a:t>
            </a:r>
            <a:br>
              <a:rPr>
                <a:latin typeface="+mn-lt"/>
                <a:ea typeface="+mn-ea"/>
                <a:cs typeface="+mn-cs"/>
                <a:sym typeface="Helvetica"/>
              </a:rPr>
            </a:br>
            <a:br>
              <a:rPr>
                <a:latin typeface="+mn-lt"/>
                <a:ea typeface="+mn-ea"/>
                <a:cs typeface="+mn-cs"/>
                <a:sym typeface="Helvetica"/>
              </a:rPr>
            </a:br>
            <a:r>
              <a:rPr>
                <a:latin typeface="+mn-lt"/>
                <a:ea typeface="+mn-ea"/>
                <a:cs typeface="+mn-cs"/>
                <a:sym typeface="Helvetica"/>
              </a:rPr>
              <a:t>徐道宜 </a:t>
            </a:r>
            <a:r>
              <a:t>(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指導教授：邱奎霖 博士</a:t>
            </a:r>
            <a:r>
              <a:t>)</a:t>
            </a:r>
          </a:p>
        </p:txBody>
      </p:sp>
      <p:sp>
        <p:nvSpPr>
          <p:cNvPr id="96" name="Date Placeholder 3"/>
          <p:cNvSpPr txBox="1"/>
          <p:nvPr/>
        </p:nvSpPr>
        <p:spPr>
          <a:xfrm>
            <a:off x="502919" y="4801228"/>
            <a:ext cx="20421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888888"/>
                </a:solidFill>
              </a:defRPr>
            </a:lvl1pPr>
          </a:lstStyle>
          <a:p>
            <a:pPr/>
            <a:r>
              <a:t>2026-01-02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/>
          <p:nvPr>
            <p:ph type="title"/>
          </p:nvPr>
        </p:nvSpPr>
        <p:spPr>
          <a:xfrm>
            <a:off x="722312" y="3305176"/>
            <a:ext cx="7772401" cy="1021556"/>
          </a:xfrm>
          <a:prstGeom prst="rect">
            <a:avLst/>
          </a:prstGeom>
        </p:spPr>
        <p:txBody>
          <a:bodyPr/>
          <a:lstStyle/>
          <a:p>
            <a:pPr defTabSz="312039">
              <a:defRPr sz="273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開場：面內磁場讓 </a:t>
            </a:r>
            <a:r>
              <a:t>PtTe</a:t>
            </a:r>
            <a14:m>
              <m:oMath>
                <m:sSub>
                  <m:e>
                    <m:r>
                      <a:rPr xmlns:a="http://schemas.openxmlformats.org/drawingml/2006/main" sz="2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2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接面成為可調式 </a:t>
            </a: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平台</a:t>
            </a:r>
            <a:endParaRPr sz="2739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一分鐘摘要 </a:t>
            </a:r>
            <a:r>
              <a:t>(Executive Summary)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274320" indent="-274320" defTabSz="274320">
              <a:spcBef>
                <a:spcPts val="400"/>
              </a:spcBef>
              <a:defRPr b="1" sz="192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問題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：拓樸半金屬接面的 </a:t>
            </a:r>
            <a:r>
              <a:rPr b="0"/>
              <a:t>CPR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難以被「連續調控」，現有研究缺乏直接量測。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marL="274320" indent="-274320" defTabSz="274320">
              <a:spcBef>
                <a:spcPts val="400"/>
              </a:spcBef>
              <a:defRPr b="1" sz="192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方法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：以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非對稱 </a:t>
            </a:r>
            <a:r>
              <a:t>SQUID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作為相位偏壓探頭，量測 </a:t>
            </a:r>
            <a14:m>
              <m:oMath>
                <m:sSub>
                  <m:e>
                    <m: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</m:sSub>
                <m:d>
                  <m:dPr>
                    <m:ctrlP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sepChr m:val=""/>
                  </m:dPr>
                  <m:e>
                    <m: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</m:d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並反推 </a:t>
            </a:r>
            <a:r>
              <a:rPr b="0"/>
              <a:t>CPR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，掃描面內磁場向量。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marL="274320" indent="-274320" defTabSz="274320">
              <a:spcBef>
                <a:spcPts val="400"/>
              </a:spcBef>
              <a:defRPr b="1" sz="192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核心發現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：面內磁場會放大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二階諧波 </a:t>
            </a:r>
            <a:r>
              <a:t>(</a:t>
            </a:r>
            <a14:m>
              <m:oMath>
                <m:sSub>
                  <m:e>
                    <m: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t>)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並產生相位偏移 </a:t>
            </a:r>
            <a14:m>
              <m:oMath>
                <m:r>
                  <a:rPr xmlns:a="http://schemas.openxmlformats.org/drawingml/2006/main" sz="1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，形成可調式 </a:t>
            </a:r>
            <a14:m>
              <m:oMath>
                <m:sSub>
                  <m:e>
                    <m: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  <m:sub>
                    <m: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接面。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marL="274320" indent="-274320" defTabSz="274320">
              <a:spcBef>
                <a:spcPts val="400"/>
              </a:spcBef>
              <a:defRPr b="1" sz="192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意涵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：證實 </a:t>
            </a:r>
            <a:r>
              <a:rPr b="0"/>
              <a:t>PtTe</a:t>
            </a:r>
            <a14:m>
              <m:oMath>
                <m:sSub>
                  <m:e>
                    <m: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1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可作為可程式化相位旋鈕，對超導二極體與拓樸量子元件具指標性。</a:t>
            </a:r>
            <a:endParaRPr sz="2212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01752">
              <a:defRPr sz="2904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研究問題與目標：回答「能否用磁場調控 </a:t>
            </a:r>
            <a:r>
              <a:t>CPR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？」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>
              <a:buFontTx/>
              <a:buAutoNum type="arabicPeriod" startAt="1"/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定量重構 </a:t>
            </a:r>
            <a:r>
              <a:t>CPR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：直接量測並拆解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sepChr m:val="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</m:d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的諧波成分，確認高階諧波的權重。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buFontTx/>
              <a:buAutoNum type="arabicPeriod" startAt="1"/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磁場調控機制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：檢驗面內磁場對 </a:t>
            </a:r>
            <a:r>
              <a:rPr b="0"/>
              <a:t>CPR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形狀與相位的影響，建立可調旋鈕的實驗證據。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buFontTx/>
              <a:buAutoNum type="arabicPeriod" startAt="1"/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物理圖像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：釐清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體相多能帶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與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拓樸表面態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的競合，評估 </a:t>
            </a:r>
            <a:r>
              <a:rPr b="0"/>
              <a:t>PtTe</a:t>
            </a:r>
            <a14:m>
              <m:oMath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作為可調式量子元件的潛力。</a:t>
            </a:r>
            <a:endParaRPr sz="2212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32613">
              <a:defRPr sz="320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簡報路線圖：先廣角掃描，再對關鍵發現深潛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Swath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（前半）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：建構研究背景、缺口與方法論，交代量測與樣品品質。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t>Dive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（中段）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：聚焦兩個核心發現</a:t>
            </a:r>
            <a:r>
              <a:rPr b="0"/>
              <a:t>——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干涉圖樣畸變與二階諧波增強，對應兩個主要質疑。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收斂（後段）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：討論意涵與限制，提出未來工作與備用投影片，讓委員可即時查核。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xfrm>
            <a:off x="722312" y="3305176"/>
            <a:ext cx="7772401" cy="1021556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研究脈絡：缺乏可調式 </a:t>
            </a: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的直接證據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88035">
              <a:defRPr sz="2772"/>
            </a:pPr>
            <a:r>
              <a:t>Gap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與重要性：需要能被操控的 </a:t>
            </a: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來驅動量子元件</a:t>
            </a:r>
          </a:p>
        </p:txBody>
      </p:sp>
      <p:sp>
        <p:nvSpPr>
          <p:cNvPr id="112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拓樸半金屬 </a:t>
            </a:r>
            <a:r>
              <a:t>+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超導近接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被視為實現超導二極體與拓樸量子位元的候選平台，但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可連續調控的 </a:t>
            </a:r>
            <a:r>
              <a:t>CPR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實驗證據稀少。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既有研究多聚焦於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約瑟夫森二極體效應 </a:t>
            </a:r>
            <a:r>
              <a:rPr b="1"/>
              <a:t>(JDE)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，缺乏針對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高階諧波與相位偏移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 的直接量測與模型驗證。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本工作以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面內磁場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 作為控制參數，驗證 </a:t>
            </a:r>
            <a:r>
              <a:t>PtTe</a:t>
            </a:r>
            <a14:m>
              <m:oMath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接面 </a:t>
            </a: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是否具備工程化的可調性。</a:t>
            </a:r>
            <a:endParaRPr sz="2212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74320">
              <a:defRPr sz="264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理論支撐：</a:t>
            </a:r>
            <a:r>
              <a:t>Type-II DSM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與超導近接效應預期非正弦 </a:t>
            </a:r>
            <a:r>
              <a:t>CPR</a:t>
            </a:r>
          </a:p>
        </p:txBody>
      </p:sp>
      <p:sp>
        <p:nvSpPr>
          <p:cNvPr id="115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329184" indent="-329184" defTabSz="329184">
              <a:defRPr b="1" sz="2304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第二類狄拉克半金屬 </a:t>
            </a:r>
            <a:r>
              <a:t>(Type-II DSM, PtTe</a:t>
            </a:r>
            <a14:m>
              <m:oMath>
                <m:sSub>
                  <m:e>
                    <m:r>
                      <a:rPr xmlns:a="http://schemas.openxmlformats.org/drawingml/2006/main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t>)</a:t>
            </a:r>
          </a:p>
          <a:p>
            <a:pPr lvl="1" marL="658368" indent="-329184" defTabSz="329184">
              <a:spcBef>
                <a:spcPts val="400"/>
              </a:spcBef>
              <a:defRPr sz="2016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受晶體對稱性保護的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狄拉克錐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 與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拓樸表面態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，伴隨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多能帶 </a:t>
            </a:r>
            <a:r>
              <a:rPr b="1"/>
              <a:t>(Multiband)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 輸運。</a:t>
            </a:r>
          </a:p>
          <a:p>
            <a:pPr marL="329184" indent="-329184" defTabSz="329184">
              <a:defRPr b="1" sz="2304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超導近接效應 </a:t>
            </a:r>
            <a:r>
              <a:t>(Proximity Effect)</a:t>
            </a:r>
          </a:p>
          <a:p>
            <a:pPr lvl="1" marL="658368" indent="-329184" defTabSz="329184">
              <a:spcBef>
                <a:spcPts val="400"/>
              </a:spcBef>
              <a:defRPr sz="2016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在 </a:t>
            </a:r>
            <a:r>
              <a:rPr b="1"/>
              <a:t>S-DSM-S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接面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 中，安德烈夫反射促成超導關聯穿透半金屬。</a:t>
            </a:r>
          </a:p>
          <a:p>
            <a:pPr lvl="1" marL="658368" indent="-329184" defTabSz="329184">
              <a:spcBef>
                <a:spcPts val="400"/>
              </a:spcBef>
              <a:defRPr sz="2016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高透明度或拓樸態可導致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非正弦 </a:t>
            </a:r>
            <a:r>
              <a:rPr b="1"/>
              <a:t>CPR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：</a:t>
            </a:r>
            <a14:m>
              <m:oMath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sepChr m:val=""/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</m:d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∑</m:t>
                </m:r>
                <m:sSub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e>
                  <m:sub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r>
                  <m:rPr>
                    <m:sty m:val="p"/>
                  </m:rPr>
                  <a:rPr xmlns:a="http://schemas.openxmlformats.org/drawingml/2006/main" sz="20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d>
                  <m:dPr>
                    <m:ctrlP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sepChr m:val=""/>
                  </m:dPr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</m:d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，高階諧波反映內部相位結構。</a:t>
            </a:r>
            <a:endParaRPr sz="1935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量測策略：非對稱 </a:t>
            </a:r>
            <a:r>
              <a:t>SQUID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直接讀取 </a:t>
            </a:r>
            <a:r>
              <a:t>CPR</a:t>
            </a:r>
          </a:p>
        </p:txBody>
      </p:sp>
      <p:sp>
        <p:nvSpPr>
          <p:cNvPr id="118" name="Content Placeholder 2"/>
          <p:cNvSpPr txBox="1"/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marL="298322" indent="-298322" defTabSz="298322">
              <a:spcBef>
                <a:spcPts val="400"/>
              </a:spcBef>
              <a:defRPr b="1" sz="1827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操作原理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：設定 </a:t>
            </a:r>
            <a14:m>
              <m:oMath>
                <m:sSubSup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  <m:sup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sup>
                </m:sSubSup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≫</m:t>
                </m:r>
                <m:sSubSup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  <m:sup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p>
                </m:sSubSup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，以強參考接面鎖定 </a:t>
            </a:r>
            <a14:m>
              <m:oMath>
                <m:sSub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  <m:sub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marL="298322" indent="-298322" defTabSz="298322">
              <a:spcBef>
                <a:spcPts val="400"/>
              </a:spcBef>
              <a:defRPr b="1" sz="1827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相位掃描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：外加磁通 </a:t>
            </a:r>
            <a14:m>
              <m:oMath>
                <m:sSub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  <m:sub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線性掃描目標接面相位 </a:t>
            </a:r>
            <a14:m>
              <m:oMath>
                <m:sSub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  <m:sub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，</a:t>
            </a:r>
            <a14:m>
              <m:oMath>
                <m:sSub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</m:sSub>
                <m:d>
                  <m:dPr>
                    <m:ctrlP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sepChr m:val=""/>
                  </m:dPr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</m:d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即為 </a:t>
            </a:r>
            <a:r>
              <a:rPr b="0"/>
              <a:t>CPR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的映射。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marL="298322" indent="-298322" defTabSz="298322">
              <a:spcBef>
                <a:spcPts val="400"/>
              </a:spcBef>
              <a:defRPr b="1" sz="1827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優勢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：充當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相位偏壓探測器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，以單次量測取得完整 </a:t>
            </a:r>
            <a:r>
              <a:rPr b="0"/>
              <a:t>CPR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，符合白皮書「視覺化優先」與「快速定錨」原則。</a:t>
            </a:r>
          </a:p>
        </p:txBody>
      </p:sp>
      <p:pic>
        <p:nvPicPr>
          <p:cNvPr id="11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27600" y="1193800"/>
            <a:ext cx="3479800" cy="3390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xfrm>
            <a:off x="722312" y="3305176"/>
            <a:ext cx="7772401" cy="1021556"/>
          </a:xfrm>
          <a:prstGeom prst="rect">
            <a:avLst/>
          </a:prstGeom>
        </p:spPr>
        <p:txBody>
          <a:bodyPr/>
          <a:lstStyle/>
          <a:p>
            <a:pPr defTabSz="315468">
              <a:defRPr sz="276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研究設計：高透明 </a:t>
            </a:r>
            <a:r>
              <a:t>PtTe</a:t>
            </a:r>
            <a14:m>
              <m:oMath>
                <m:sSub>
                  <m:e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接面搭配低雜訊向量磁場</a:t>
            </a:r>
            <a:endParaRPr sz="2739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製程關鍵：確保低阻抗與均勻度</a:t>
            </a:r>
          </a:p>
        </p:txBody>
      </p:sp>
      <p:sp>
        <p:nvSpPr>
          <p:cNvPr id="124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材料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</a:t>
            </a:r>
            <a:r>
              <a:rPr b="0"/>
              <a:t>1T-PtTe</a:t>
            </a:r>
            <a14:m>
              <m:oMath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單晶（助熔劑法生長）。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流程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lvl="1" marL="685800" indent="-342900">
              <a:buFontTx/>
              <a:buAutoNum type="arabicPeriod" startAt="1"/>
              <a:defRPr b="1" sz="2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機械剝離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製得原子級厚度薄片。</a:t>
            </a:r>
          </a:p>
          <a:p>
            <a:pPr lvl="1" marL="685800" indent="-342900">
              <a:buFontTx/>
              <a:buAutoNum type="arabicPeriod" startAt="1"/>
              <a:defRPr b="1" sz="2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電子束微影 </a:t>
            </a:r>
            <a:r>
              <a:t>(EBL)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定義奈米電極圖案。</a:t>
            </a:r>
          </a:p>
          <a:p>
            <a:pPr lvl="1" marL="685800" indent="-342900">
              <a:buFontTx/>
              <a:buAutoNum type="arabicPeriod" startAt="1"/>
              <a:defRPr b="1" sz="2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原位離子銑削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清潔接面以降低接觸電阻。</a:t>
            </a:r>
          </a:p>
          <a:p>
            <a:pPr lvl="1" marL="685800" indent="-342900">
              <a:buFontTx/>
              <a:buAutoNum type="arabicPeriod" startAt="1"/>
              <a:defRPr b="1" sz="2100"/>
            </a:pPr>
            <a:r>
              <a:t>NbTi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濺鍍 </a:t>
            </a:r>
            <a:r>
              <a:t>(70–120 nm)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形成超導電極並維持側壁品質。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29184">
              <a:defRPr sz="3167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量測設定：向量磁場 </a:t>
            </a:r>
            <a:r>
              <a:t>+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濾波管線支撐 </a:t>
            </a: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讀取</a:t>
            </a:r>
          </a:p>
        </p:txBody>
      </p:sp>
      <p:sp>
        <p:nvSpPr>
          <p:cNvPr id="127" name="Content Placeholder 2"/>
          <p:cNvSpPr txBox="1"/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marL="308609" indent="-308609" defTabSz="308609">
              <a:spcBef>
                <a:spcPts val="400"/>
              </a:spcBef>
              <a:defRPr b="1" sz="189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環境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</a:t>
            </a:r>
            <a:r>
              <a:rPr b="0"/>
              <a:t>Bluefors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稀釋制冷機 </a:t>
            </a:r>
            <a:r>
              <a:rPr b="0"/>
              <a:t>(</a:t>
            </a:r>
            <a14:m>
              <m:oMath>
                <m:r>
                  <a:rPr xmlns:a="http://schemas.openxmlformats.org/drawingml/2006/main" sz="1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1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xmlns:a="http://schemas.openxmlformats.org/drawingml/2006/main" sz="1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40</m:t>
                </m:r>
              </m:oMath>
            </a14:m>
            <a:r>
              <a:rPr b="0"/>
              <a:t> mK)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，穩定低電子溫度。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marL="308609" indent="-308609" defTabSz="308609">
              <a:spcBef>
                <a:spcPts val="400"/>
              </a:spcBef>
              <a:defRPr b="1" sz="189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磁場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</a:t>
            </a:r>
            <a:r>
              <a:rPr b="0"/>
              <a:t>3D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向量超導磁鐵 </a:t>
            </a:r>
            <a:r>
              <a:rPr b="0"/>
              <a:t>(9-1-1 T)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，可精確設定面內場方向。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marL="308609" indent="-308609" defTabSz="308609">
              <a:spcBef>
                <a:spcPts val="400"/>
              </a:spcBef>
              <a:defRPr b="1" sz="189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訊號鏈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lvl="1" marL="617219" indent="-308609" defTabSz="308609">
              <a:spcBef>
                <a:spcPts val="300"/>
              </a:spcBef>
              <a:defRPr sz="1619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多級濾波（</a:t>
            </a:r>
            <a:r>
              <a:t>QDevil + IR Filter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）抑制熱雜訊。</a:t>
            </a:r>
          </a:p>
          <a:p>
            <a:pPr lvl="1" marL="617219" indent="-308609" defTabSz="308609">
              <a:spcBef>
                <a:spcPts val="300"/>
              </a:spcBef>
              <a:defRPr sz="1619"/>
            </a:pPr>
            <a:r>
              <a:t>BPI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低雜訊放大器 </a:t>
            </a:r>
            <a:r>
              <a:t>+ IVVI-rack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（電池供電）確保高訊雜比。</a:t>
            </a:r>
          </a:p>
        </p:txBody>
      </p:sp>
      <p:sp>
        <p:nvSpPr>
          <p:cNvPr id="128" name="Content Placeholder 3"/>
          <p:cNvSpPr txBox="1"/>
          <p:nvPr/>
        </p:nvSpPr>
        <p:spPr>
          <a:xfrm>
            <a:off x="4693919" y="1200151"/>
            <a:ext cx="3947162" cy="339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342900">
              <a:spcBef>
                <a:spcPts val="500"/>
              </a:spcBef>
              <a:defRPr b="1" sz="2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設計重點</a:t>
            </a:r>
            <a:br>
              <a:rPr>
                <a:latin typeface="+mn-lt"/>
                <a:ea typeface="+mn-ea"/>
                <a:cs typeface="+mn-cs"/>
                <a:sym typeface="Helvetica"/>
              </a:rPr>
            </a:br>
            <a:r>
              <a:rPr b="0">
                <a:latin typeface="+mn-lt"/>
                <a:ea typeface="+mn-ea"/>
                <a:cs typeface="+mn-cs"/>
                <a:sym typeface="Helvetica"/>
              </a:rPr>
              <a:t>極低電子溫度</a:t>
            </a:r>
            <a:br>
              <a:rPr b="0">
                <a:latin typeface="+mn-lt"/>
                <a:ea typeface="+mn-ea"/>
                <a:cs typeface="+mn-cs"/>
                <a:sym typeface="Helvetica"/>
              </a:rPr>
            </a:br>
            <a:r>
              <a:rPr b="0">
                <a:latin typeface="+mn-lt"/>
                <a:ea typeface="+mn-ea"/>
                <a:cs typeface="+mn-cs"/>
                <a:sym typeface="Helvetica"/>
              </a:rPr>
              <a:t>任意磁場向量</a:t>
            </a:r>
            <a:br>
              <a:rPr b="0">
                <a:latin typeface="+mn-lt"/>
                <a:ea typeface="+mn-ea"/>
                <a:cs typeface="+mn-cs"/>
                <a:sym typeface="Helvetica"/>
              </a:rPr>
            </a:br>
            <a:r>
              <a:rPr b="0">
                <a:latin typeface="+mn-lt"/>
                <a:ea typeface="+mn-ea"/>
                <a:cs typeface="+mn-cs"/>
                <a:sym typeface="Helvetica"/>
              </a:rPr>
              <a:t>低噪訊讀出路徑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數據品質控管：</a:t>
            </a:r>
            <a:r>
              <a:t>I_c(Φ) → 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重構的可信度</a:t>
            </a:r>
          </a:p>
        </p:txBody>
      </p:sp>
      <p:sp>
        <p:nvSpPr>
          <p:cNvPr id="131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重構流程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：量測 </a:t>
            </a:r>
            <a14:m>
              <m:oMath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</m:sSub>
                <m:d>
                  <m:dPr>
                    <m:ctrlP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sepChr m:val=""/>
                  </m:dPr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</m:d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，以諧波展開模型擬合，提取 </a:t>
            </a:r>
            <a14:m>
              <m:oMath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a14:m>
            <a:r>
              <a:rPr b="0"/>
              <a:t>, </a:t>
            </a:r>
            <a14:m>
              <m:oMath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 b="0"/>
              <a:t>,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交叉驗證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：多重安德烈夫反射 </a:t>
            </a:r>
            <a:r>
              <a:rPr b="0"/>
              <a:t>(MAR)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分析得到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0.97</m:t>
                </m:r>
              </m:oMath>
            </a14:m>
            <a:r>
              <a:rPr b="0"/>
              <a:t> meV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、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0.63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，與 </a:t>
            </a:r>
            <a:r>
              <a:rPr b="0"/>
              <a:t>CPR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擬合所需透明度一致。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錯誤防範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：控制磁場與樣品座標角度（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α</m:t>
                </m:r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sSup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121</m:t>
                    </m:r>
                  </m:e>
                  <m:sup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），避免投影誤差，符合白皮書「方法論防禦」要求。</a:t>
            </a:r>
            <a:endParaRPr sz="2212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1"/>
          <p:cNvSpPr txBox="1"/>
          <p:nvPr>
            <p:ph type="title"/>
          </p:nvPr>
        </p:nvSpPr>
        <p:spPr>
          <a:xfrm>
            <a:off x="722312" y="3305176"/>
            <a:ext cx="7772401" cy="1021556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核心結果：面內磁場重塑 </a:t>
            </a:r>
            <a:r>
              <a:t>PtTe</a:t>
            </a:r>
            <a14:m>
              <m:oMath>
                <m:sSub>
                  <m:e>
                    <m:r>
                      <a:rPr xmlns:a="http://schemas.openxmlformats.org/drawingml/2006/mai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t> CPR</a:t>
            </a:r>
            <a:endParaRPr sz="2739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基線確認：</a:t>
            </a:r>
            <a:r>
              <a:t>I-V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與 </a:t>
            </a:r>
            <a:r>
              <a:t>MAR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顯示高透明接面</a:t>
            </a:r>
          </a:p>
        </p:txBody>
      </p:sp>
      <p:sp>
        <p:nvSpPr>
          <p:cNvPr id="136" name="Picture 1"/>
          <p:cNvSpPr/>
          <p:nvPr/>
        </p:nvSpPr>
        <p:spPr>
          <a:xfrm>
            <a:off x="457200" y="1422400"/>
            <a:ext cx="4038600" cy="293370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37" name="Content Placeholder 3"/>
          <p:cNvSpPr txBox="1"/>
          <p:nvPr>
            <p:ph type="body" sz="half" idx="1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I-V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：清晰超電流 </a:t>
            </a:r>
            <a:r>
              <a:rPr b="0"/>
              <a:t>(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</m:sSub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24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μ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</m:oMath>
            </a14:m>
            <a:r>
              <a:rPr b="0"/>
              <a:t>)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，遲滯顯示欠阻尼。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t>MAR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：次諧波能隙結構 </a:t>
            </a:r>
            <a:r>
              <a:rPr b="0"/>
              <a:t>(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/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e</m:t>
                </m:r>
              </m:oMath>
            </a14:m>
            <a:r>
              <a:rPr b="0"/>
              <a:t>)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清楚，推得 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0.97</m:t>
                </m:r>
              </m:oMath>
            </a14:m>
            <a:r>
              <a:rPr b="0"/>
              <a:t> meV, 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0.63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，支撐高透明度假設。</a:t>
            </a:r>
            <a:endParaRPr sz="1935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零場干涉：對稱 </a:t>
            </a:r>
            <a:r>
              <a:t>Fraunhofer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顯示均勻 </a:t>
            </a:r>
            <a:r>
              <a:t>CPR</a:t>
            </a:r>
          </a:p>
        </p:txBody>
      </p:sp>
      <p:pic>
        <p:nvPicPr>
          <p:cNvPr id="14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371600"/>
            <a:ext cx="4038600" cy="3022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Content Placeholder 3"/>
          <p:cNvSpPr txBox="1"/>
          <p:nvPr>
            <p:ph type="body" sz="half" idx="1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干涉型態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</m:sub>
                </m:sSub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時高度對稱，形式接近 </a:t>
            </a:r>
            <a14:m>
              <m:oMath>
                <m:d>
                  <m:dPr>
                    <m:ctrlP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|"/>
                    <m:sepChr m:val=""/>
                    <m:endChr m:val="|"/>
                  </m:dPr>
                  <m:e>
                    <m:r>
                      <m:rPr>
                        <m:nor/>
                      </m:rP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sinc</m:t>
                    </m:r>
                    <m:d>
                      <m:dPr>
                        <m:ctrlPr>
                          <a:rPr xmlns:a="http://schemas.openxmlformats.org/drawingml/2006/main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sepChr m:val=""/>
                      </m:dPr>
                      <m:e>
                        <m:r>
                          <a:rPr xmlns:a="http://schemas.openxmlformats.org/drawingml/2006/main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e>
                </m:d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意義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：證實接面內部超電流密度分佈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均勻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，排除結構缺陷干擾後續磁場實驗。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Deep Dive 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：面內磁場扭曲干涉 </a:t>
            </a:r>
            <a:r>
              <a:t>→ 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變形</a:t>
            </a:r>
          </a:p>
        </p:txBody>
      </p:sp>
      <p:sp>
        <p:nvSpPr>
          <p:cNvPr id="144" name="Picture 1"/>
          <p:cNvSpPr/>
          <p:nvPr/>
        </p:nvSpPr>
        <p:spPr>
          <a:xfrm>
            <a:off x="1270000" y="1193800"/>
            <a:ext cx="2425700" cy="339090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5" name="Content Placeholder 3"/>
          <p:cNvSpPr txBox="1"/>
          <p:nvPr>
            <p:ph type="body" sz="half" idx="1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marL="329184" indent="-329184" defTabSz="329184">
              <a:spcBef>
                <a:spcPts val="400"/>
              </a:spcBef>
              <a:defRPr b="1" sz="2016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觀察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：施加 </a:t>
            </a:r>
            <a14:m>
              <m:oMath>
                <m:sSub>
                  <m:e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b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後，干涉圖樣失去對稱。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lvl="1" marL="658368" indent="-329184" defTabSz="329184">
              <a:spcBef>
                <a:spcPts val="400"/>
              </a:spcBef>
              <a:defRPr sz="1727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節點偏移 </a:t>
            </a:r>
            <a:r>
              <a:t>(Node Shift)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、包絡線畸變。</a:t>
            </a:r>
          </a:p>
          <a:p>
            <a:pPr lvl="1" marL="632595" indent="-303411" defTabSz="329184">
              <a:spcBef>
                <a:spcPts val="400"/>
              </a:spcBef>
              <a:defRPr sz="1727"/>
            </a:pPr>
            <a14:m>
              <m:oMath>
                <m:sSubSup>
                  <m:e>
                    <m:r>
                      <a:rPr xmlns:a="http://schemas.openxmlformats.org/drawingml/2006/main" sz="1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1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  <m:sup>
                    <m:r>
                      <a:rPr xmlns:a="http://schemas.openxmlformats.org/drawingml/2006/main" sz="1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sup>
                </m:sSubSup>
                <m:r>
                  <a:rPr xmlns:a="http://schemas.openxmlformats.org/drawingml/2006/main" sz="1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d>
                  <m:dPr>
                    <m:ctrlPr>
                      <a:rPr xmlns:a="http://schemas.openxmlformats.org/drawingml/2006/main" sz="1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|"/>
                    <m:sepChr m:val=""/>
                    <m:endChr m:val="|"/>
                  </m:dPr>
                  <m:e>
                    <m:sSubSup>
                      <m:e>
                        <m:r>
                          <a:rPr xmlns:a="http://schemas.openxmlformats.org/drawingml/2006/main" sz="1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xmlns:a="http://schemas.openxmlformats.org/drawingml/2006/main" sz="1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  <m:sup>
                        <m:r>
                          <a:rPr xmlns:a="http://schemas.openxmlformats.org/drawingml/2006/main" sz="1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e>
                </m:d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，出現二極體式非互易訊號。</a:t>
            </a:r>
          </a:p>
          <a:p>
            <a:pPr marL="329184" indent="-329184" defTabSz="329184">
              <a:spcBef>
                <a:spcPts val="400"/>
              </a:spcBef>
              <a:defRPr b="1" sz="2016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推論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：面內磁場正在改變 </a:t>
            </a: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形狀與相位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，需要模型化驗證。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角度掃描：各向異性證實磁場耦合</a:t>
            </a:r>
          </a:p>
        </p:txBody>
      </p:sp>
      <p:sp>
        <p:nvSpPr>
          <p:cNvPr id="148" name="Content Placeholder 2"/>
          <p:cNvSpPr txBox="1"/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marL="316053" indent="-316053"/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</m:sub>
                </m:sSub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效應顯著依賴於角度 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θ</m:t>
                </m:r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實驗室座標與樣品座標需校正（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α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sSup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121</m:t>
                    </m:r>
                  </m:e>
                  <m:sup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∘</m:t>
                    </m:r>
                  </m:sup>
                </m:sSup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），確保相位掃描正確。</a:t>
            </a:r>
            <a:endParaRPr sz="1935"/>
          </a:p>
        </p:txBody>
      </p:sp>
      <p:pic>
        <p:nvPicPr>
          <p:cNvPr id="14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78400" y="1193800"/>
            <a:ext cx="3390900" cy="3390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模型選擇：諧波展開優於純透明度模型</a:t>
            </a:r>
          </a:p>
        </p:txBody>
      </p:sp>
      <p:pic>
        <p:nvPicPr>
          <p:cNvPr id="15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587500"/>
            <a:ext cx="4038600" cy="2590800"/>
          </a:xfrm>
          <a:prstGeom prst="rect">
            <a:avLst/>
          </a:prstGeom>
          <a:ln w="12700">
            <a:miter lim="400000"/>
          </a:ln>
        </p:spPr>
      </p:pic>
      <p:sp>
        <p:nvSpPr>
          <p:cNvPr id="153" name="Content Placeholder 3"/>
          <p:cNvSpPr txBox="1"/>
          <p:nvPr>
            <p:ph type="body" sz="half" idx="1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marL="336042" indent="-336042" defTabSz="336042">
              <a:spcBef>
                <a:spcPts val="400"/>
              </a:spcBef>
              <a:defRPr b="1" sz="2058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排除純透明度模型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：觀測到 </a:t>
            </a:r>
            <a14:m>
              <m:oMath>
                <m:sSub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/</m:t>
                </m:r>
                <m:sSub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0.25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，若以透明度解釋需 </a:t>
            </a:r>
            <a14:m>
              <m:oMath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0.9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，與 </a:t>
            </a:r>
            <a:r>
              <a:rPr b="0"/>
              <a:t>MAR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得到的 </a:t>
            </a:r>
            <a14:m>
              <m:oMath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0.6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不符。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marL="336042" indent="-336042" defTabSz="336042">
              <a:spcBef>
                <a:spcPts val="400"/>
              </a:spcBef>
              <a:defRPr b="1" sz="2058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選擇諧波展開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</a:t>
            </a:r>
            <a14:m>
              <m:oMath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d>
                  <m:d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sepChr m:val=""/>
                  </m:dPr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</m:d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sSub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  <m:r>
                  <m:rPr>
                    <m:sty m:val="p"/>
                  </m:rP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m:rPr>
                    <m:sty m:val="p"/>
                  </m:rP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r>
                  <m:rPr>
                    <m:sty m:val="p"/>
                  </m:rP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d>
                  <m:d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sepChr m:val=""/>
                  </m:dPr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</m:d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m:rPr>
                    <m:sty m:val="p"/>
                  </m:rP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m:rPr>
                    <m:sty m:val="p"/>
                  </m:rP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r>
                  <m:rPr>
                    <m:sty m:val="p"/>
                  </m:rP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n</m:t>
                </m:r>
                <m:d>
                  <m:dPr>
                    <m:ctrlP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sepChr m:val=""/>
                  </m:dPr>
                  <m:e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20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</m:e>
                </m:d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，以 </a:t>
            </a:r>
            <a14:m>
              <m:oMath>
                <m:r>
                  <a:rPr xmlns:a="http://schemas.openxmlformats.org/drawingml/2006/main" sz="2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描述 </a:t>
            </a:r>
            <a:r>
              <a:rPr b="0"/>
              <a:t>TRS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破缺並量化二階諧波。</a:t>
            </a:r>
            <a:endParaRPr sz="1935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01752">
              <a:defRPr sz="2904"/>
            </a:pPr>
            <a:r>
              <a:t>Deep Dive 2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：高面內場下二階諧波與相位差的崛起</a:t>
            </a:r>
          </a:p>
        </p:txBody>
      </p:sp>
      <p:sp>
        <p:nvSpPr>
          <p:cNvPr id="156" name="Picture 1"/>
          <p:cNvSpPr/>
          <p:nvPr/>
        </p:nvSpPr>
        <p:spPr>
          <a:xfrm>
            <a:off x="457200" y="1676400"/>
            <a:ext cx="4038600" cy="242570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7" name="Content Placeholder 3"/>
          <p:cNvSpPr txBox="1"/>
          <p:nvPr>
            <p:ph type="body" sz="half" idx="1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擬合 </a:t>
            </a:r>
            <a:r>
              <a:t>(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180</m:t>
                </m:r>
              </m:oMath>
            </a14:m>
            <a:r>
              <a:t> mT)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：諧波相位可調模型貼合 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</m:sSub>
                <m:d>
                  <m:dPr>
                    <m:ctrlP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sepChr m:val=""/>
                  </m:dPr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</m:d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關鍵發現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 lvl="1" marL="658953" indent="-316053">
              <a:spcBef>
                <a:spcPts val="400"/>
              </a:spcBef>
              <a:defRPr sz="1800"/>
            </a:pPr>
            <a14:m>
              <m:oMath>
                <m:sSub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顯著增強，支持非正弦 </a:t>
            </a:r>
            <a:r>
              <a:t>CPR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</a:t>
            </a:r>
          </a:p>
          <a:p>
            <a:pPr lvl="1" marL="685800" indent="-342900">
              <a:spcBef>
                <a:spcPts val="400"/>
              </a:spcBef>
              <a:defRPr sz="18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相位差 </a:t>
            </a:r>
            <a14:m>
              <m:oMath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r>
                  <a:rPr xmlns:a="http://schemas.openxmlformats.org/drawingml/2006/main" sz="1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，對應 </a:t>
            </a:r>
            <a14:m>
              <m:oMath>
                <m:sSub>
                  <m:e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  <m:sub>
                    <m:r>
                      <a:rPr xmlns:a="http://schemas.openxmlformats.org/drawingml/2006/main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偏移，與干涉畸變一致。</a:t>
            </a:r>
            <a:endParaRPr sz="1659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收斂：面內磁場是 </a:t>
            </a: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的可調旋鈕</a:t>
            </a:r>
          </a:p>
        </p:txBody>
      </p:sp>
      <p:sp>
        <p:nvSpPr>
          <p:cNvPr id="160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磁場作為「調控旋鈕」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 lvl="1" marL="658953" indent="-316053">
              <a:defRPr sz="2100"/>
            </a:pP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</m:sub>
                </m:sSub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直接耦合到接面中的安德烈夫束縛態。</a:t>
            </a: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主要證據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 lvl="1" marL="685800" indent="-342900">
              <a:defRPr sz="2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夫朗和費圖樣的對稱性破缺。</a:t>
            </a:r>
          </a:p>
          <a:p>
            <a:pPr lvl="1" marL="685800" indent="-342900">
              <a:defRPr sz="2100"/>
            </a:pP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中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二階諧波 </a:t>
            </a:r>
            <a:r>
              <a:rPr b="1"/>
              <a:t>(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 b="1"/>
              <a:t>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 與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相位差 </a:t>
            </a:r>
            <a:r>
              <a:rPr b="1"/>
              <a:t>(</a:t>
            </a:r>
            <a14:m>
              <m:oMath>
                <m:r>
                  <a:rPr xmlns:a="http://schemas.openxmlformats.org/drawingml/2006/main" sz="2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</m:oMath>
            </a14:m>
            <a:r>
              <a:rPr b="1"/>
              <a:t>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 的顯著演化。</a:t>
            </a: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結論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 lvl="1" marL="685800" indent="-342900">
              <a:defRPr sz="21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證實 </a:t>
            </a:r>
            <a:r>
              <a:t>PtTe</a:t>
            </a:r>
            <a14:m>
              <m:oMath>
                <m:sSub>
                  <m:e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接面具備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高度可調的非正弦 </a:t>
            </a:r>
            <a:r>
              <a:rPr b="1"/>
              <a:t>CPR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</a:t>
            </a:r>
            <a:endParaRPr sz="1935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1"/>
          <p:cNvSpPr txBox="1"/>
          <p:nvPr>
            <p:ph type="title"/>
          </p:nvPr>
        </p:nvSpPr>
        <p:spPr>
          <a:xfrm>
            <a:off x="722312" y="3305176"/>
            <a:ext cx="7772401" cy="1021556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討論與意涵：磁場耦合 </a:t>
            </a:r>
            <a:r>
              <a:t>ABS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，形塑非正弦 </a:t>
            </a:r>
            <a:r>
              <a:t>CPR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機制判讀：諧波相位差捕捉 </a:t>
            </a:r>
            <a:r>
              <a:t>TRS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破缺</a:t>
            </a:r>
          </a:p>
        </p:txBody>
      </p:sp>
      <p:sp>
        <p:nvSpPr>
          <p:cNvPr id="165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marL="308609" indent="-308609" defTabSz="308609">
              <a:defRPr b="1" sz="2159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現象對應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</a:t>
            </a:r>
            <a14:m>
              <m:oMath>
                <m:sSub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</m:sub>
                </m:sSub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時干涉畸變、</a:t>
            </a:r>
            <a14:m>
              <m:oMath>
                <m:sSubSup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sub>
                  <m:sup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sup>
                </m:sSubSup>
                <m:r>
                  <a:rPr xmlns:a="http://schemas.openxmlformats.org/drawingml/2006/main" sz="2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≠</m:t>
                </m:r>
                <m:d>
                  <m:dPr>
                    <m:ctrlP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begChr m:val="|"/>
                    <m:sepChr m:val=""/>
                    <m:endChr m:val="|"/>
                  </m:dPr>
                  <m:e>
                    <m:sSubSup>
                      <m:e>
                        <m:r>
                          <a:rPr xmlns:a="http://schemas.openxmlformats.org/drawingml/2006/main"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xmlns:a="http://schemas.openxmlformats.org/drawingml/2006/main"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  <m:sup>
                        <m:r>
                          <a:rPr xmlns:a="http://schemas.openxmlformats.org/drawingml/2006/main" sz="2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e>
                </m:d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皆指向時間反演對稱破缺。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marL="308609" indent="-308609" defTabSz="308609">
              <a:defRPr b="1" sz="2159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模型比較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 lvl="1" marL="617219" indent="-308609" defTabSz="308609">
              <a:spcBef>
                <a:spcPts val="400"/>
              </a:spcBef>
              <a:defRPr sz="189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透明度模型需 </a:t>
            </a:r>
            <a14:m>
              <m:oMath>
                <m:r>
                  <a:rPr xmlns:a="http://schemas.openxmlformats.org/drawingml/2006/main" sz="1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xmlns:a="http://schemas.openxmlformats.org/drawingml/2006/main" sz="1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xmlns:a="http://schemas.openxmlformats.org/drawingml/2006/main" sz="1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0.9</m:t>
                </m:r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才能產生足夠 </a:t>
            </a:r>
            <a14:m>
              <m:oMath>
                <m:sSub>
                  <m:e>
                    <m:r>
                      <a:rPr xmlns:a="http://schemas.openxmlformats.org/drawingml/2006/main" sz="1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1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，與實測 </a:t>
            </a:r>
            <a14:m>
              <m:oMath>
                <m:r>
                  <a:rPr xmlns:a="http://schemas.openxmlformats.org/drawingml/2006/main" sz="1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xmlns:a="http://schemas.openxmlformats.org/drawingml/2006/main" sz="1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xmlns:a="http://schemas.openxmlformats.org/drawingml/2006/main" sz="1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0.6</m:t>
                </m:r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不符。</a:t>
            </a:r>
          </a:p>
          <a:p>
            <a:pPr lvl="1" marL="617219" indent="-308609" defTabSz="308609">
              <a:spcBef>
                <a:spcPts val="400"/>
              </a:spcBef>
              <a:defRPr sz="189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諧波展開模型藉由相位差 </a:t>
            </a:r>
            <a14:m>
              <m:oMath>
                <m:r>
                  <a:rPr xmlns:a="http://schemas.openxmlformats.org/drawingml/2006/main" sz="1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同時描述高階諧波與不對稱，與實驗吻合。</a:t>
            </a:r>
          </a:p>
          <a:p>
            <a:pPr marL="308609" indent="-308609" defTabSz="308609">
              <a:defRPr b="1" sz="2159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結論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：面內磁場耦合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安德烈夫束縛態 </a:t>
            </a:r>
            <a:r>
              <a:t>(ABS)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，在 </a:t>
            </a:r>
            <a:r>
              <a:rPr b="0"/>
              <a:t>PtTe</a:t>
            </a:r>
            <a14:m>
              <m:oMath>
                <m:sSub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中誘發可調式 </a:t>
            </a:r>
            <a14:m>
              <m:oMath>
                <m:sSub>
                  <m:e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  <m:sub>
                    <m:r>
                      <a:rPr xmlns:a="http://schemas.openxmlformats.org/drawingml/2006/main"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行為。</a:t>
            </a:r>
            <a:endParaRPr sz="2212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29184">
              <a:defRPr sz="3167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學術與實務意涵：可調式 </a:t>
            </a: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為拓樸元件奠基</a:t>
            </a:r>
          </a:p>
        </p:txBody>
      </p:sp>
      <p:sp>
        <p:nvSpPr>
          <p:cNvPr id="168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學術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：提供 </a:t>
            </a:r>
            <a:r>
              <a:rPr b="0"/>
              <a:t>Type-II DSM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在超導近接下的實驗證據，量化高階諧波與相位偏移，填補 </a:t>
            </a:r>
            <a:r>
              <a:rPr b="0"/>
              <a:t>CPR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可調性的缺口。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實務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：磁場即可設定 </a:t>
            </a:r>
            <a:r>
              <a:rPr b="0"/>
              <a:t>CPR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形狀，對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超導二極體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可程式化相位邏輯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拓樸量子位元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的相位操控具直接可行性。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展示策略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：依白皮書建議，以圖表凸顯「相位旋鈕」效果，口試時可快速定錨委員關注焦點。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限制與風險：製程與均勻度仍需優化</a:t>
            </a:r>
          </a:p>
        </p:txBody>
      </p:sp>
      <p:sp>
        <p:nvSpPr>
          <p:cNvPr id="171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製程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：側壁沉積可能形成並聯路徑；</a:t>
            </a:r>
            <a:r>
              <a:rPr b="0"/>
              <a:t>TMD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易氧化，需嚴格原位清洗與側壁保護。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量測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：接面均勻度影響干涉對比度；面內磁場角度校正仍是誤差源。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未來優化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：細調離子銑削、加入防護層，並擴充角度與溫度掃描，以強化方法論防禦。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le 1"/>
          <p:cNvSpPr txBox="1"/>
          <p:nvPr>
            <p:ph type="title"/>
          </p:nvPr>
        </p:nvSpPr>
        <p:spPr>
          <a:xfrm>
            <a:off x="722312" y="3305176"/>
            <a:ext cx="7772401" cy="1021556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收斂與下一步：</a:t>
            </a:r>
            <a:r>
              <a:t>PtTe</a:t>
            </a:r>
            <a14:m>
              <m:oMath>
                <m:sSub>
                  <m:e>
                    <m:r>
                      <a:rPr xmlns:a="http://schemas.openxmlformats.org/drawingml/2006/mai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>
                <a:latin typeface="+mn-lt"/>
                <a:ea typeface="+mn-ea"/>
                <a:cs typeface="+mn-cs"/>
                <a:sym typeface="Helvetica"/>
              </a:rPr>
              <a:t> 展現可調式 </a:t>
            </a: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平台</a:t>
            </a:r>
            <a:endParaRPr sz="2739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主要回答：磁場可重塑 </a:t>
            </a: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並建立相位偏壓</a:t>
            </a:r>
          </a:p>
        </p:txBody>
      </p:sp>
      <p:sp>
        <p:nvSpPr>
          <p:cNvPr id="176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>
              <a:buFontTx/>
              <a:buAutoNum type="arabicPeriod" startAt="1"/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高品質平台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：以非對稱 </a:t>
            </a:r>
            <a:r>
              <a:rPr b="0"/>
              <a:t>SQUID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量測高透明 </a:t>
            </a:r>
            <a:r>
              <a:rPr b="0"/>
              <a:t>PtTe</a:t>
            </a:r>
            <a14:m>
              <m:oMath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/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接面，完成 </a:t>
            </a:r>
            <a14:m>
              <m:oMath>
                <m:r>
                  <m:rPr>
                    <m:nor/>
                  </m:rP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Swath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階段的品質驗證。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buFontTx/>
              <a:buAutoNum type="arabicPeriod" startAt="1"/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非正弦 </a:t>
            </a:r>
            <a:r>
              <a:t>CPR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：直接觀測到顯著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二階諧波 </a:t>
            </a:r>
            <a14:m>
              <m:oMath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，並以諧波模型量化相位差 </a:t>
            </a:r>
            <a14:m>
              <m:oMath>
                <m:r>
                  <a:rPr xmlns:a="http://schemas.openxmlformats.org/drawingml/2006/main" sz="2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δ</m:t>
                </m:r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buFontTx/>
              <a:buAutoNum type="arabicPeriod" startAt="1"/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磁場調控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：證實面內磁場可連續調整 </a:t>
            </a:r>
            <a:r>
              <a:rPr b="0"/>
              <a:t>CPR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（</a:t>
            </a:r>
            <a14:m>
              <m:oMath>
                <m:sSub>
                  <m:e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e>
                  <m:sub>
                    <m:r>
                      <a:rPr xmlns:a="http://schemas.openxmlformats.org/drawingml/2006/mai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  <a:r>
              <a:rPr b="0">
                <a:latin typeface="+mn-lt"/>
                <a:ea typeface="+mn-ea"/>
                <a:cs typeface="+mn-cs"/>
                <a:sym typeface="Helvetica"/>
              </a:rPr>
              <a:t> 偏移），為可程式化超導元件提供相位旋鈕。</a:t>
            </a:r>
            <a:endParaRPr sz="2212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下一步：深化機制並向應用推進</a:t>
            </a:r>
          </a:p>
        </p:txBody>
      </p:sp>
      <p:sp>
        <p:nvSpPr>
          <p:cNvPr id="179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機制釐清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：溫度依賴量測以區分體相與表面態；</a:t>
            </a:r>
            <a:r>
              <a:rPr b="0"/>
              <a:t>Shapiro steps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驗證 </a:t>
            </a:r>
            <a:r>
              <a:rPr b="0"/>
              <a:t>AC 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約瑟夫森效應。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應用路線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：邁向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超導二極體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 與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拓樸量子位元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，探索零磁場下的非互易與相位操控。</a:t>
            </a:r>
            <a:endParaRPr b="0">
              <a:latin typeface="+mn-lt"/>
              <a:ea typeface="+mn-ea"/>
              <a:cs typeface="+mn-cs"/>
              <a:sym typeface="Helvetica"/>
            </a:endParaRPr>
          </a:p>
          <a:p>
            <a:pPr>
              <a:defRPr b="1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資料強化</a:t>
            </a:r>
            <a:r>
              <a:rPr b="0">
                <a:latin typeface="+mn-lt"/>
                <a:ea typeface="+mn-ea"/>
                <a:cs typeface="+mn-cs"/>
                <a:sym typeface="Helvetica"/>
              </a:rPr>
              <a:t>：擴充角度與場強掃描，與白皮書強調的「備用投影片」策略搭配，應對委員質疑。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臨場策略：對齊白皮書的收尾與 </a:t>
            </a:r>
            <a:r>
              <a:t>Q&amp;A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節奏</a:t>
            </a:r>
          </a:p>
        </p:txBody>
      </p:sp>
      <p:sp>
        <p:nvSpPr>
          <p:cNvPr id="182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結尾重申核心貢獻與可調性，並預告備用投影片涵蓋樣品統計、完整 </a:t>
            </a:r>
            <a:r>
              <a:t>CPR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擬合與檢定結果。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Q&amp;A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將依「承認限制</a:t>
            </a:r>
            <a:r>
              <a:t>→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合理辯護」話術回應方法論挑戰，確保展演與文件一致。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itle 1"/>
          <p:cNvSpPr txBox="1"/>
          <p:nvPr>
            <p:ph type="title"/>
          </p:nvPr>
        </p:nvSpPr>
        <p:spPr>
          <a:xfrm>
            <a:off x="722312" y="3305176"/>
            <a:ext cx="7772401" cy="1021556"/>
          </a:xfrm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備用投影片：</a:t>
            </a:r>
            <a:r>
              <a:t>Q&amp;A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即時切換 </a:t>
            </a:r>
            <a:r>
              <a:t>(Backup Slides)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1"/>
          <p:cNvSpPr txBox="1"/>
          <p:nvPr>
            <p:ph type="title"/>
          </p:nvPr>
        </p:nvSpPr>
        <p:spPr>
          <a:xfrm>
            <a:off x="722312" y="3305176"/>
            <a:ext cx="7772401" cy="1021556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備用投影片：委員質疑時的數據佐證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le 1"/>
          <p:cNvSpPr txBox="1"/>
          <p:nvPr>
            <p:ph type="title"/>
          </p:nvPr>
        </p:nvSpPr>
        <p:spPr>
          <a:xfrm>
            <a:off x="457200" y="204786"/>
            <a:ext cx="3008315" cy="871539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備查：樣品統計與補充分析</a:t>
            </a:r>
          </a:p>
        </p:txBody>
      </p:sp>
      <p:sp>
        <p:nvSpPr>
          <p:cNvPr id="189" name="Text Placeholder 3"/>
          <p:cNvSpPr txBox="1"/>
          <p:nvPr>
            <p:ph type="body" sz="half" idx="1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依白皮書建議，本區保留可即時切換的佐證表與補充參數。</a:t>
            </a:r>
          </a:p>
          <a:p>
            <a:pPr marL="0" indent="0" defTabSz="137160">
              <a:spcBef>
                <a:spcPts val="1200"/>
              </a:spcBef>
              <a:buSzTx/>
              <a:buNone/>
              <a:defRPr b="1"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樣品詳細資訊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樣品詳細資訊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樣品編號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厚度</a:t>
            </a:r>
            <a:r>
              <a:t>(nm)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接面寬度</a:t>
            </a:r>
            <a:r>
              <a:t>(μm)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參考接面長度</a:t>
            </a:r>
            <a:r>
              <a:t>(μm)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目標接面長度</a:t>
            </a:r>
            <a:r>
              <a:t>(μm)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臨界電流</a:t>
            </a:r>
            <a:r>
              <a:t>(μA)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重捕電流</a:t>
            </a:r>
            <a:r>
              <a:t>(μA)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正常態電阻</a:t>
            </a:r>
            <a:r>
              <a:t>(Ω)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IcRn (μV)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二極體效率</a:t>
            </a:r>
            <a:r>
              <a:t>(η)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鈮鈦厚度</a:t>
            </a:r>
            <a:r>
              <a:t>(nm)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備註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003-2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21.17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1.16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0.40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0.73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19.1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3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1.92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36.6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150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003-3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27.79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0.88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0.33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0.65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14.5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1.5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3.24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46.9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150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004-1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1.26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0.26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0.68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19.4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16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11.17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217.1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70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Only Ref. JJ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004-2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0.56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0.17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0.67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32.5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30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22.29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725.1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70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004-3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1.34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0.24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0.70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44.5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33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35.93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1600.4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70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005-1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63.5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1.15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0.42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0.87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88.4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28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0.30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26.5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70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005-2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24.2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1.57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0.41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0.88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33.9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6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1.07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36.2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70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019-1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2.59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1.53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2.26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13.8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1.5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0.70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9.7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120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019-3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1.73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1.52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2.36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13.3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0.8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1.25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16.7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120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019-5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3.42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1.79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6.09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14.8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6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0.26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3.9</a:t>
            </a:r>
          </a:p>
          <a:p>
            <a:pPr marL="0" indent="0" defTabSz="137160">
              <a:spcBef>
                <a:spcPts val="0"/>
              </a:spcBef>
              <a:buSzTx/>
              <a:buNone/>
              <a:defRPr sz="400"/>
            </a:pPr>
            <a:r>
              <a:t>120</a:t>
            </a:r>
          </a:p>
          <a:p>
            <a:pPr marL="0" indent="0" defTabSz="137160">
              <a:spcBef>
                <a:spcPts val="1200"/>
              </a:spcBef>
              <a:buSzTx/>
              <a:buNone/>
              <a:defRPr b="1" sz="400"/>
            </a:pPr>
            <a:r>
              <a:t>PtTe2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t>NbTi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量子輸運參數表</a:t>
            </a:r>
          </a:p>
        </p:txBody>
      </p:sp>
      <p:graphicFrame>
        <p:nvGraphicFramePr>
          <p:cNvPr id="190" name="Content Placeholder 5"/>
          <p:cNvGraphicFramePr/>
          <p:nvPr/>
        </p:nvGraphicFramePr>
        <p:xfrm>
          <a:off x="3568700" y="203200"/>
          <a:ext cx="5092700" cy="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231900"/>
                <a:gridCol w="1930400"/>
                <a:gridCol w="698500"/>
                <a:gridCol w="762000"/>
                <a:gridCol w="469900"/>
              </a:tblGrid>
              <a:tr h="50800">
                <a:tc>
                  <a:txBody>
                    <a:bodyPr/>
                    <a:lstStyle/>
                    <a:p>
                      <a:pPr algn="ctr" defTabSz="342900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參數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 defTabSz="342900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符號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 defTabSz="3429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NbTi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 defTabSz="3429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PtTe2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 defTabSz="342900">
                        <a:defRPr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單位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0800">
                <a:tc>
                  <a:txBody>
                    <a:bodyPr/>
                    <a:lstStyle/>
                    <a:p>
                      <a:pPr algn="ctr" defTabSz="342900">
                        <a:defRPr b="1"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費米速度</a:t>
                      </a:r>
                      <a:b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</a:br>
                      <a:r>
                        <a:t>Fermi velocity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3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1.25–1.55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3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m/s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 defTabSz="342900">
                        <a:defRPr b="1"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平均碰撞時間</a:t>
                      </a:r>
                      <a:b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</a:br>
                      <a:r>
                        <a:t>Mean free time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3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10⁻¹²–10⁻¹¹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10⁻¹²–10⁻¹¹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 defTabSz="342900">
                        <a:defRPr b="1"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擴散係數</a:t>
                      </a:r>
                      <a:b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</a:br>
                      <a:r>
                        <a:t>Diffusion coefficient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3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5.6×10²–5.6×10³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1.5×10²–2.4×10³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cm²/s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 defTabSz="342900">
                        <a:defRPr b="1"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電阻率</a:t>
                      </a:r>
                      <a:b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</a:br>
                      <a:r>
                        <a:t>Resistivity</a:t>
                      </a:r>
                      <a:r>
                        <a:rPr b="0"/>
                        <a:t> ¹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3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0.001–0.01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0.0002–0.002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kΩ (per □)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 defTabSz="342900">
                        <a:defRPr b="1"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費米波長</a:t>
                      </a:r>
                      <a:b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</a:br>
                      <a:r>
                        <a:t>Fermi wavelength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3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0.32 nm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7–11 nm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nm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 defTabSz="342900">
                        <a:defRPr b="1"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平均自由路徑</a:t>
                      </a:r>
                      <a:b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</a:br>
                      <a:r>
                        <a:t>Mean-free path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3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80–800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180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nm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 defTabSz="342900">
                        <a:defRPr b="1"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載子遷移率</a:t>
                      </a:r>
                      <a:b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</a:br>
                      <a:r>
                        <a:t>Electron mobility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3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1.25–1.55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6.5–7.5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cm²/Vs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 defTabSz="342900">
                        <a:defRPr b="1"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狄拉克點</a:t>
                      </a:r>
                      <a:b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</a:br>
                      <a:r>
                        <a:t>Dirac point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3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0.32 eV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0.32 eV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eV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 defTabSz="342900">
                        <a:defRPr b="1" sz="1300"/>
                      </a:pP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超導相干長度</a:t>
                      </a:r>
                      <a:b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</a:br>
                      <a:r>
                        <a:t>Superconducting coherence length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342900">
                        <a:defRPr sz="1300"/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10 nm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≈ 10 nm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342900">
                        <a:defRPr sz="1800"/>
                      </a:pPr>
                      <a:r>
                        <a:rPr sz="1300"/>
                        <a:t>nm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91" name="TextBox 3"/>
          <p:cNvSpPr txBox="1"/>
          <p:nvPr/>
        </p:nvSpPr>
        <p:spPr>
          <a:xfrm>
            <a:off x="3614419" y="4076700"/>
            <a:ext cx="5013962" cy="408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/>
            <a:r>
              <a:t>PtTe2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t>NbTi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量子輸運參數表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itle 1"/>
          <p:cNvSpPr txBox="1"/>
          <p:nvPr>
            <p:ph type="title"/>
          </p:nvPr>
        </p:nvSpPr>
        <p:spPr>
          <a:xfrm>
            <a:off x="722312" y="3305176"/>
            <a:ext cx="7772401" cy="1021556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參考文獻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