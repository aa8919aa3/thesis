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2" Type="http://schemas.openxmlformats.org/officeDocument/2006/relationships/viewProps" Target="viewProps.xml" /><Relationship Id="rId3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4" Type="http://schemas.openxmlformats.org/officeDocument/2006/relationships/tableStyles" Target="tableStyles.xml" /><Relationship Id="rId3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sv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sv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sv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面內磁場下1T相二碲化鉑約瑟夫森接面之電流-相位關係研究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碩士學位論文口試</a:t>
            </a:r>
            <a:br/>
            <a:br/>
            <a:r>
              <a:rPr/>
              <a:t>徐道宜 (指導教授：邱奎霖 博士)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2026-01-02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緒論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研究背景與動機：為何選擇 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？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新興量子材料與宏觀量子元件的結合</a:t>
                </a:r>
              </a:p>
              <a:p>
                <a:pPr lvl="1"/>
                <a:r>
                  <a:rPr b="1"/>
                  <a:t>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 b="1"/>
                  <a:t> (Type-II Dirac Semimetal)</a:t>
                </a:r>
                <a:r>
                  <a:rPr/>
                  <a:t>：具有極度傾斜的狄拉克錐與拓樸表面態。</a:t>
                </a:r>
              </a:p>
              <a:p>
                <a:pPr lvl="1"/>
                <a:r>
                  <a:rPr b="1"/>
                  <a:t>SQUID (Superconducting Quantum Interference Device)</a:t>
                </a:r>
                <a:r>
                  <a:rPr/>
                  <a:t>：極高靈敏度的磁通量測平台。</a:t>
                </a:r>
              </a:p>
              <a:p>
                <a:pPr lvl="0"/>
                <a:r>
                  <a:rPr b="1"/>
                  <a:t>關鍵缺口 (Research Gap)</a:t>
                </a:r>
              </a:p>
              <a:p>
                <a:pPr lvl="1"/>
                <a:r>
                  <a:rPr/>
                  <a:t>既有研究多聚焦於 </a:t>
                </a:r>
                <a:r>
                  <a:rPr b="1"/>
                  <a:t>約瑟夫森二極體效應 (JDE)</a:t>
                </a:r>
                <a:r>
                  <a:rPr/>
                  <a:t>。</a:t>
                </a:r>
              </a:p>
              <a:p>
                <a:pPr lvl="1"/>
                <a:r>
                  <a:rPr b="1"/>
                  <a:t>缺乏</a:t>
                </a:r>
                <a:r>
                  <a:rPr/>
                  <a:t> 對 </a:t>
                </a:r>
                <a:r>
                  <a:rPr b="1"/>
                  <a:t>電流-相位關係 (CPR)</a:t>
                </a:r>
                <a:r>
                  <a:rPr/>
                  <a:t> 及其 </a:t>
                </a:r>
                <a:r>
                  <a:rPr b="1"/>
                  <a:t>磁場調控</a:t>
                </a:r>
                <a:r>
                  <a:rPr/>
                  <a:t> 的直接、定量量測。</a:t>
                </a:r>
              </a:p>
              <a:p>
                <a:pPr lvl="0"/>
                <a:r>
                  <a:rPr b="1"/>
                  <a:t>核心策略</a:t>
                </a:r>
              </a:p>
              <a:p>
                <a:pPr lvl="1"/>
                <a:r>
                  <a:rPr/>
                  <a:t>利用 </a:t>
                </a:r>
                <a:r>
                  <a:rPr b="1"/>
                  <a:t>非對稱 SQUID (aSQUID)</a:t>
                </a:r>
                <a:r>
                  <a:rPr/>
                  <a:t> 作為相位探針。</a:t>
                </a:r>
              </a:p>
              <a:p>
                <a:pPr lvl="1"/>
                <a:r>
                  <a:rPr/>
                  <a:t>解析 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 在超導近接效應下的 </a:t>
                </a:r>
                <a:r>
                  <a:rPr b="1"/>
                  <a:t>高階諧波</a:t>
                </a:r>
                <a:r>
                  <a:rPr/>
                  <a:t> 與 </a:t>
                </a:r>
                <a:r>
                  <a:rPr b="1"/>
                  <a:t>輸運機制</a:t>
                </a:r>
                <a:r>
                  <a:rPr/>
                  <a:t>。</a:t>
                </a:r>
              </a:p>
            </p:txBody>
          </p:sp>
        </mc:Choice>
      </mc:AlternateContent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研究目的 (Research Objectives)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type="arabicPeriod"/>
                </a:pPr>
                <a:r>
                  <a:rPr b="1"/>
                  <a:t>定量重構 CPR (Reconstruct CPR)</a:t>
                </a:r>
              </a:p>
              <a:p>
                <a:pPr lvl="1"/>
                <a:r>
                  <a:rPr/>
                  <a:t>直接量測 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 接面的電流-相位關係。</a:t>
                </a:r>
              </a:p>
              <a:p>
                <a:pPr lvl="1"/>
                <a:r>
                  <a:rPr/>
                  <a:t>解析 </a:t>
                </a:r>
                <a:r>
                  <a:rPr b="1"/>
                  <a:t>高階諧波 (Higher Harmonics)</a:t>
                </a:r>
                <a:r>
                  <a:rPr/>
                  <a:t> 成分。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磁場調控機制 (Magnetic Tuning)</a:t>
                </a:r>
              </a:p>
              <a:p>
                <a:pPr lvl="1"/>
                <a:r>
                  <a:rPr/>
                  <a:t>探討 </a:t>
                </a:r>
                <a:r>
                  <a:rPr b="1"/>
                  <a:t>面內磁場</a:t>
                </a:r>
                <a:r>
                  <a:rPr/>
                  <a:t> 對 CPR 的連續調控行為。</a:t>
                </a:r>
              </a:p>
              <a:p>
                <a:pPr lvl="1"/>
                <a:r>
                  <a:rPr/>
                  <a:t>連結微觀拓樸性質與宏觀輸運現象。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建立物理圖像 (Physical Picture)</a:t>
                </a:r>
              </a:p>
              <a:p>
                <a:pPr lvl="1"/>
                <a:r>
                  <a:rPr/>
                  <a:t>釐清 </a:t>
                </a:r>
                <a:r>
                  <a:rPr b="1"/>
                  <a:t>體相多能帶 (Bulk Multiband)</a:t>
                </a:r>
                <a:r>
                  <a:rPr/>
                  <a:t> vs. </a:t>
                </a:r>
                <a:r>
                  <a:rPr b="1"/>
                  <a:t>拓樸表面態 (Surface States)</a:t>
                </a:r>
                <a:r>
                  <a:rPr/>
                  <a:t> 的競爭機制。</a:t>
                </a:r>
              </a:p>
              <a:p>
                <a:pPr lvl="1"/>
                <a:r>
                  <a:rPr/>
                  <a:t>評估 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 作為可調式量子元件的潛力。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理論背景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核心理論架構：從材料到元件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第二類狄拉克半金屬 (Type-II DSM, 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 b="1"/>
                  <a:t>)</a:t>
                </a:r>
              </a:p>
              <a:p>
                <a:pPr lvl="1"/>
                <a:r>
                  <a:rPr/>
                  <a:t>具有受晶體對稱性保護的 </a:t>
                </a:r>
                <a:r>
                  <a:rPr b="1"/>
                  <a:t>狄拉克錐 (Dirac Cone)</a:t>
                </a:r>
                <a:r>
                  <a:rPr/>
                  <a:t> 與 </a:t>
                </a:r>
                <a:r>
                  <a:rPr b="1"/>
                  <a:t>拓樸表面態</a:t>
                </a:r>
                <a:r>
                  <a:rPr/>
                  <a:t>。</a:t>
                </a:r>
              </a:p>
              <a:p>
                <a:pPr lvl="1"/>
                <a:r>
                  <a:rPr/>
                  <a:t>費米能階附近的 </a:t>
                </a:r>
                <a:r>
                  <a:rPr b="1"/>
                  <a:t>多能帶 (Multiband)</a:t>
                </a:r>
                <a:r>
                  <a:rPr/>
                  <a:t> 特性主導低能輸運。</a:t>
                </a:r>
              </a:p>
              <a:p>
                <a:pPr lvl="0"/>
                <a:r>
                  <a:rPr b="1"/>
                  <a:t>超導近接效應 (Proximity Effect)</a:t>
                </a:r>
              </a:p>
              <a:p>
                <a:pPr lvl="1"/>
                <a:r>
                  <a:rPr b="1"/>
                  <a:t>S-DSM-S 接面</a:t>
                </a:r>
                <a:r>
                  <a:rPr/>
                  <a:t>：超導關聯透過 </a:t>
                </a:r>
                <a:r>
                  <a:rPr b="1"/>
                  <a:t>安德烈夫反射 (Andreev Reflection)</a:t>
                </a:r>
                <a:r>
                  <a:rPr/>
                  <a:t> 穿透半金屬。</a:t>
                </a:r>
              </a:p>
              <a:p>
                <a:pPr lvl="1"/>
                <a:r>
                  <a:rPr b="1"/>
                  <a:t>非正弦 CPR</a:t>
                </a:r>
                <a:r>
                  <a:rPr/>
                  <a:t>：高透明度接面或拓樸態可導致 </a:t>
                </a:r>
                <a14:m>
                  <m:oMath xmlns:m="http://schemas.openxmlformats.org/officeDocument/2006/math">
                    <m:r>
                      <m:t>I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φ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∑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n</m:t>
                        </m:r>
                        <m:r>
                          <m:t>φ</m:t>
                        </m:r>
                      </m:e>
                    </m:d>
                  </m:oMath>
                </a14:m>
                <a:r>
                  <a:rPr/>
                  <a:t>。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關鍵測量工具：非對稱 SQUID (aSQUID)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操作原理</a:t>
                </a:r>
                <a:r>
                  <a:rPr/>
                  <a:t>：</a:t>
                </a:r>
                <a14:m>
                  <m:oMath xmlns:m="http://schemas.openxmlformats.org/officeDocument/2006/math">
                    <m:sSubSup>
                      <m:e>
                        <m:r>
                          <m:t>I</m:t>
                        </m:r>
                      </m:e>
                      <m:sub>
                        <m:r>
                          <m:t>c</m:t>
                        </m:r>
                      </m:sub>
                      <m:sup>
                        <m:r>
                          <m:t>R</m:t>
                        </m:r>
                        <m:r>
                          <m:t>e</m:t>
                        </m:r>
                        <m:r>
                          <m:t>f</m:t>
                        </m:r>
                      </m:sup>
                    </m:sSubSup>
                    <m:r>
                      <m:rPr>
                        <m:sty m:val="p"/>
                      </m:rPr>
                      <m:t>≫</m:t>
                    </m:r>
                    <m:sSubSup>
                      <m:e>
                        <m:r>
                          <m:t>I</m:t>
                        </m:r>
                      </m:e>
                      <m:sub>
                        <m:r>
                          <m:t>c</m:t>
                        </m:r>
                      </m:sub>
                      <m:sup>
                        <m:r>
                          <m:t>T</m:t>
                        </m:r>
                        <m:r>
                          <m:t>a</m:t>
                        </m:r>
                        <m:r>
                          <m:t>r</m:t>
                        </m:r>
                        <m:r>
                          <m:t>g</m:t>
                        </m:r>
                        <m:r>
                          <m:t>e</m:t>
                        </m:r>
                        <m:r>
                          <m:t>t</m:t>
                        </m:r>
                      </m:sup>
                    </m:sSubSup>
                  </m:oMath>
                </a14:m>
              </a:p>
              <a:p>
                <a:pPr lvl="1"/>
                <a:r>
                  <a:rPr/>
                  <a:t>強參考接面 (Reference Junction) 鎖定相位 </a:t>
                </a:r>
                <a14:m>
                  <m:oMath xmlns:m="http://schemas.openxmlformats.org/officeDocument/2006/math">
                    <m:sSub>
                      <m:e>
                        <m:r>
                          <m:t>φ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≈</m:t>
                    </m:r>
                    <m:r>
                      <m:t>π</m:t>
                    </m:r>
                    <m:r>
                      <m:rPr>
                        <m:sty m:val="p"/>
                      </m:rPr>
                      <m:t>/</m:t>
                    </m:r>
                    <m:r>
                      <m:t>2</m:t>
                    </m:r>
                  </m:oMath>
                </a14:m>
                <a:r>
                  <a:rPr/>
                  <a:t>。</a:t>
                </a:r>
              </a:p>
              <a:p>
                <a:pPr lvl="1"/>
                <a:r>
                  <a:rPr/>
                  <a:t>外加磁通 </a:t>
                </a:r>
                <a14:m>
                  <m:oMath xmlns:m="http://schemas.openxmlformats.org/officeDocument/2006/math">
                    <m:sSub>
                      <m:e>
                        <m:r>
                          <m:t>Φ</m:t>
                        </m:r>
                      </m:e>
                      <m:sub>
                        <m:r>
                          <m:t>e</m:t>
                        </m:r>
                        <m:r>
                          <m:t>x</m:t>
                        </m:r>
                        <m:r>
                          <m:t>t</m:t>
                        </m:r>
                      </m:sub>
                    </m:sSub>
                  </m:oMath>
                </a14:m>
                <a:r>
                  <a:rPr/>
                  <a:t> 線性掃描目標接面相位 </a:t>
                </a:r>
                <a14:m>
                  <m:oMath xmlns:m="http://schemas.openxmlformats.org/officeDocument/2006/math">
                    <m:sSub>
                      <m:e>
                        <m:r>
                          <m:t>φ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。</a:t>
                </a:r>
              </a:p>
              <a:p>
                <a:pPr lvl="0"/>
                <a:r>
                  <a:rPr b="1"/>
                  <a:t>核心優勢</a:t>
                </a:r>
              </a:p>
              <a:p>
                <a:pPr lvl="1"/>
                <a:r>
                  <a:rPr b="1"/>
                  <a:t>“相位偏置探測器” (Phase-Biased Detector)</a:t>
                </a:r>
                <a:r>
                  <a:rPr/>
                  <a:t>。</a:t>
                </a:r>
              </a:p>
              <a:p>
                <a:pPr lvl="1"/>
                <a:r>
                  <a:rPr/>
                  <a:t>可直接從 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c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Φ</m:t>
                        </m:r>
                      </m:e>
                    </m:d>
                  </m:oMath>
                </a14:m>
                <a:r>
                  <a:rPr/>
                  <a:t> 調變曲線 </a:t>
                </a:r>
                <a:r>
                  <a:rPr b="1"/>
                  <a:t>讀出 (Readout)</a:t>
                </a:r>
                <a:r>
                  <a:rPr/>
                  <a:t> 目標接面的 CPR。</a:t>
                </a:r>
              </a:p>
            </p:txBody>
          </p:sp>
        </mc:Choice>
      </mc:AlternateContent>
      <p:pic>
        <p:nvPicPr>
          <p:cNvPr descr="Images/SQUID_schematic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27600" y="1193800"/>
            <a:ext cx="3479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實驗方法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元件製備流程 (Fabrication)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材料來源</a:t>
                </a:r>
                <a:r>
                  <a:rPr/>
                  <a:t>：1T-PtTe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 單晶 (助熔劑法生長)。</a:t>
                </a:r>
              </a:p>
              <a:p>
                <a:pPr lvl="0"/>
                <a:r>
                  <a:rPr b="1"/>
                  <a:t>關鍵製程</a:t>
                </a:r>
              </a:p>
              <a:p>
                <a:pPr lvl="1" indent="-342900" marL="685800">
                  <a:buAutoNum type="arabicPeriod"/>
                </a:pPr>
                <a:r>
                  <a:rPr b="1"/>
                  <a:t>機械剝離 (Exfoliation)</a:t>
                </a:r>
                <a:r>
                  <a:rPr/>
                  <a:t>：製備原子級厚度薄片。</a:t>
                </a:r>
              </a:p>
              <a:p>
                <a:pPr lvl="1" indent="-342900" marL="685800">
                  <a:buAutoNum type="arabicPeriod"/>
                </a:pPr>
                <a:r>
                  <a:rPr b="1"/>
                  <a:t>電子束微影 (EBL)</a:t>
                </a:r>
                <a:r>
                  <a:rPr/>
                  <a:t>：定義奈米級電極圖案。</a:t>
                </a:r>
              </a:p>
              <a:p>
                <a:pPr lvl="1" indent="-342900" marL="685800">
                  <a:buAutoNum type="arabicPeriod"/>
                </a:pPr>
                <a:r>
                  <a:rPr b="1"/>
                  <a:t>原位離子銑削 (In-situ Ion Milling)</a:t>
                </a:r>
                <a:r>
                  <a:rPr/>
                  <a:t>：確保低阻抗介面接觸。</a:t>
                </a:r>
              </a:p>
              <a:p>
                <a:pPr lvl="1" indent="-342900" marL="685800">
                  <a:buAutoNum type="arabicPeriod"/>
                </a:pPr>
                <a:r>
                  <a:rPr b="1"/>
                  <a:t>超導電極沉積</a:t>
                </a:r>
                <a:r>
                  <a:rPr/>
                  <a:t>：濺鍍 </a:t>
                </a:r>
                <a:r>
                  <a:rPr b="1"/>
                  <a:t>NbTi</a:t>
                </a:r>
                <a:r>
                  <a:rPr/>
                  <a:t> (70-120 nm)。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極低溫精密量測系統 (Measurement Setup)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環境</a:t>
                </a:r>
                <a:r>
                  <a:rPr/>
                  <a:t>：Bluefors 稀釋制冷機 (</a:t>
                </a: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≈</m:t>
                    </m:r>
                    <m:r>
                      <m:t>40</m:t>
                    </m:r>
                  </m:oMath>
                </a14:m>
                <a:r>
                  <a:rPr/>
                  <a:t> mK)。</a:t>
                </a:r>
              </a:p>
              <a:p>
                <a:pPr lvl="0"/>
                <a:r>
                  <a:rPr b="1"/>
                  <a:t>磁場</a:t>
                </a:r>
                <a:r>
                  <a:rPr/>
                  <a:t>：3D 向量超導磁鐵 (9-1-1 T)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任意方向磁場。</a:t>
                </a:r>
              </a:p>
              <a:p>
                <a:pPr lvl="0"/>
                <a:r>
                  <a:rPr b="1"/>
                  <a:t>訊號處理</a:t>
                </a:r>
              </a:p>
              <a:p>
                <a:pPr lvl="1"/>
                <a:r>
                  <a:rPr b="1"/>
                  <a:t>多級濾波</a:t>
                </a:r>
                <a:r>
                  <a:rPr/>
                  <a:t>：QDevil (mK段) + IR Filter，抑制熱噪聲。</a:t>
                </a:r>
              </a:p>
              <a:p>
                <a:pPr lvl="1"/>
                <a:r>
                  <a:rPr b="1"/>
                  <a:t>低雜訊量測</a:t>
                </a:r>
                <a:r>
                  <a:rPr/>
                  <a:t>：BPI 低噪聲放大器 + IVVI-rack (電池供電)。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關鍵特點</a:t>
            </a:r>
            <a:r>
              <a:rPr/>
              <a:t>： 極低電子溫度 高訊雜比 任意磁場向量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實驗結果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基礎電性特徵：高品質擴散型接面</a:t>
            </a:r>
          </a:p>
        </p:txBody>
      </p:sp>
      <p:pic>
        <p:nvPicPr>
          <p:cNvPr descr="Images/run_33_expert_vis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22400"/>
            <a:ext cx="4038600" cy="2933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典型 I-V 曲線</a:t>
                </a:r>
              </a:p>
              <a:p>
                <a:pPr lvl="1"/>
                <a:r>
                  <a:rPr/>
                  <a:t>清晰的超電流 (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c</m:t>
                        </m:r>
                      </m:sub>
                    </m:sSub>
                    <m:r>
                      <m:rPr>
                        <m:sty m:val="p"/>
                      </m:rPr>
                      <m:t>≈</m:t>
                    </m:r>
                    <m:r>
                      <m:t>24</m:t>
                    </m:r>
                    <m:r>
                      <m:t>μ</m:t>
                    </m:r>
                    <m:r>
                      <m:t>A</m:t>
                    </m:r>
                  </m:oMath>
                </a14:m>
                <a:r>
                  <a:rPr/>
                  <a:t>)。</a:t>
                </a:r>
              </a:p>
              <a:p>
                <a:pPr lvl="1"/>
                <a:r>
                  <a:rPr/>
                  <a:t>顯著遲滯 (Hysteresis)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欠阻尼狀態。</a:t>
                </a:r>
              </a:p>
              <a:p>
                <a:pPr lvl="0"/>
                <a:r>
                  <a:rPr b="1"/>
                  <a:t>多重安德烈夫反射 (MAR)</a:t>
                </a:r>
              </a:p>
              <a:p>
                <a:pPr lvl="1"/>
                <a:r>
                  <a:rPr/>
                  <a:t>觀測到次諧波能隙結構 (</a:t>
                </a:r>
                <a14:m>
                  <m:oMath xmlns:m="http://schemas.openxmlformats.org/officeDocument/2006/math">
                    <m:sSub>
                      <m:e>
                        <m:r>
                          <m:t>V</m:t>
                        </m:r>
                      </m:e>
                      <m:sub>
                        <m: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  <m:r>
                      <m:t>Δ</m:t>
                    </m:r>
                    <m:r>
                      <m:rPr>
                        <m:sty m:val="p"/>
                      </m:rPr>
                      <m:t>/</m:t>
                    </m:r>
                    <m:r>
                      <m:t>n</m:t>
                    </m:r>
                    <m:r>
                      <m:t>e</m:t>
                    </m:r>
                  </m:oMath>
                </a14:m>
                <a:r>
                  <a:rPr/>
                  <a:t>)。</a:t>
                </a:r>
              </a:p>
              <a:p>
                <a:pPr lvl="1"/>
                <a:r>
                  <a:rPr/>
                  <a:t>推導參數：</a:t>
                </a:r>
                <a14:m>
                  <m:oMath xmlns:m="http://schemas.openxmlformats.org/officeDocument/2006/math">
                    <m:r>
                      <m:t>Δ</m:t>
                    </m:r>
                    <m:r>
                      <m:rPr>
                        <m:sty m:val="p"/>
                      </m:rPr>
                      <m:t>≈</m:t>
                    </m:r>
                    <m:r>
                      <m:t>0.97</m:t>
                    </m:r>
                  </m:oMath>
                </a14:m>
                <a:r>
                  <a:rPr/>
                  <a:t> meV, </a:t>
                </a:r>
                <a14:m>
                  <m:oMath xmlns:m="http://schemas.openxmlformats.org/officeDocument/2006/math">
                    <m:r>
                      <m:t>τ</m:t>
                    </m:r>
                    <m:r>
                      <m:rPr>
                        <m:sty m:val="p"/>
                      </m:rPr>
                      <m:t>≈</m:t>
                    </m:r>
                    <m:r>
                      <m:t>0.63</m:t>
                    </m:r>
                  </m:oMath>
                </a14:m>
                <a:r>
                  <a:rPr/>
                  <a:t> (高透明度)。</a:t>
                </a:r>
              </a:p>
            </p:txBody>
          </p:sp>
        </mc:Choice>
      </mc:AlternateContent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零面內場特性：均勻的超電流分佈</a:t>
            </a:r>
          </a:p>
        </p:txBody>
      </p:sp>
      <p:pic>
        <p:nvPicPr>
          <p:cNvPr descr="Images/Ic_Norm_354_40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71600"/>
            <a:ext cx="4038600" cy="3022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類夫朗和費干涉 (Fraunhofer-like)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B</m:t>
                        </m:r>
                      </m:e>
                      <m:sub>
                        <m:r>
                          <m:t>i</m:t>
                        </m:r>
                        <m:r>
                          <m:t>n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p</m:t>
                        </m:r>
                        <m:r>
                          <m:t>l</m:t>
                        </m:r>
                        <m:r>
                          <m:t>a</m:t>
                        </m:r>
                        <m:r>
                          <m:t>n</m:t>
                        </m:r>
                        <m:r>
                          <m:t>e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 時呈現高度對稱。</a:t>
                </a:r>
              </a:p>
              <a:p>
                <a:pPr lvl="1"/>
                <a:r>
                  <a:rPr/>
                  <a:t>形式接近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</m:dPr>
                      <m:e>
                        <m:r>
                          <m:rPr>
                            <m:nor/>
                            <m:sty m:val="p"/>
                          </m:rPr>
                          <m:t>sinc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r>
                              <m:t>Φ</m:t>
                            </m:r>
                          </m:e>
                        </m:d>
                      </m:e>
                    </m:d>
                  </m:oMath>
                </a14:m>
                <a:r>
                  <a:rPr/>
                  <a:t>。</a:t>
                </a:r>
              </a:p>
              <a:p>
                <a:pPr lvl="0"/>
                <a:r>
                  <a:rPr b="1"/>
                  <a:t>物理意義</a:t>
                </a:r>
              </a:p>
              <a:p>
                <a:pPr lvl="1"/>
                <a:r>
                  <a:rPr/>
                  <a:t>證實接面內部超電流密度分佈 </a:t>
                </a:r>
                <a:r>
                  <a:rPr b="1"/>
                  <a:t>高度均勻</a:t>
                </a:r>
                <a:r>
                  <a:rPr/>
                  <a:t>。</a:t>
                </a:r>
              </a:p>
              <a:p>
                <a:pPr lvl="1"/>
                <a:r>
                  <a:rPr/>
                  <a:t>無明顯缺陷或不均勻性。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面內磁場效應 I：干涉圖樣畸變</a:t>
            </a:r>
          </a:p>
        </p:txBody>
      </p:sp>
      <p:pic>
        <p:nvPicPr>
          <p:cNvPr descr="Images/fraunhofer_evolution_60mT_filtered_linear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0" y="1193800"/>
            <a:ext cx="24257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現象</a:t>
                </a:r>
                <a:r>
                  <a:rPr/>
                  <a:t>：施加 </a:t>
                </a:r>
                <a14:m>
                  <m:oMath xmlns:m="http://schemas.openxmlformats.org/officeDocument/2006/math">
                    <m:sSub>
                      <m:e>
                        <m:r>
                          <m:t>B</m:t>
                        </m:r>
                      </m:e>
                      <m:sub>
                        <m:r>
                          <m:t>i</m:t>
                        </m:r>
                        <m:r>
                          <m:t>n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p</m:t>
                        </m:r>
                        <m:r>
                          <m:t>l</m:t>
                        </m:r>
                        <m:r>
                          <m:t>a</m:t>
                        </m:r>
                        <m:r>
                          <m:t>n</m:t>
                        </m:r>
                        <m:r>
                          <m:t>e</m:t>
                        </m:r>
                      </m:sub>
                    </m:sSub>
                  </m:oMath>
                </a14:m>
                <a:r>
                  <a:rPr/>
                  <a:t> 後，干涉圖樣 </a:t>
                </a:r>
                <a:r>
                  <a:rPr b="1"/>
                  <a:t>不再對稱</a:t>
                </a:r>
                <a:r>
                  <a:rPr/>
                  <a:t>。</a:t>
                </a:r>
              </a:p>
              <a:p>
                <a:pPr lvl="1"/>
                <a:r>
                  <a:rPr/>
                  <a:t>極小值位置偏移 (Node Shift)。</a:t>
                </a:r>
              </a:p>
              <a:p>
                <a:pPr lvl="1"/>
                <a:r>
                  <a:rPr/>
                  <a:t>包絡線形狀改變 (Envelope Distortion)。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e>
                        <m:r>
                          <m:t>I</m:t>
                        </m:r>
                      </m:e>
                      <m:sub>
                        <m:r>
                          <m:t>c</m:t>
                        </m:r>
                      </m:sub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bSup>
                    <m:r>
                      <m:rPr>
                        <m:sty m:val="p"/>
                      </m:rPr>
                      <m:t>≠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</m:dPr>
                      <m:e>
                        <m:sSubSup>
                          <m:e>
                            <m:r>
                              <m:t>I</m:t>
                            </m:r>
                          </m:e>
                          <m:sub>
                            <m:r>
                              <m:t>c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</m:sup>
                        </m:sSubSup>
                      </m:e>
                    </m:d>
                  </m:oMath>
                </a14:m>
                <a:r>
                  <a:rPr/>
                  <a:t> (潛在的二極體效應訊號)。</a:t>
                </a:r>
              </a:p>
              <a:p>
                <a:pPr lvl="0"/>
                <a:r>
                  <a:rPr b="1"/>
                  <a:t>推論</a:t>
                </a:r>
                <a:r>
                  <a:rPr/>
                  <a:t>：面內磁場改變了內部的 </a:t>
                </a:r>
                <a:r>
                  <a:rPr b="1"/>
                  <a:t>電流-相位關係 (CPR)</a:t>
                </a:r>
                <a:r>
                  <a:rPr/>
                  <a:t>。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座標系效應：角度依賴性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各向異性 (Anisotropy)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B</m:t>
                        </m:r>
                      </m:e>
                      <m:sub>
                        <m:r>
                          <m:t>i</m:t>
                        </m:r>
                        <m:r>
                          <m:t>n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p</m:t>
                        </m:r>
                        <m:r>
                          <m:t>l</m:t>
                        </m:r>
                        <m:r>
                          <m:t>a</m:t>
                        </m:r>
                        <m:r>
                          <m:t>n</m:t>
                        </m:r>
                        <m:r>
                          <m:t>e</m:t>
                        </m:r>
                      </m:sub>
                    </m:sSub>
                  </m:oMath>
                </a14:m>
                <a:r>
                  <a:rPr/>
                  <a:t> 的效應顯著依賴於角度 </a:t>
                </a:r>
                <a14:m>
                  <m:oMath xmlns:m="http://schemas.openxmlformats.org/officeDocument/2006/math">
                    <m:r>
                      <m:t>θ</m:t>
                    </m:r>
                  </m:oMath>
                </a14:m>
                <a:r>
                  <a:rPr/>
                  <a:t>。</a:t>
                </a:r>
              </a:p>
              <a:p>
                <a:pPr lvl="1"/>
                <a:r>
                  <a:rPr/>
                  <a:t>需考慮實驗室座標與樣品座標的轉換 (</a:t>
                </a:r>
                <a14:m>
                  <m:oMath xmlns:m="http://schemas.openxmlformats.org/officeDocument/2006/math">
                    <m:r>
                      <m:t>α</m:t>
                    </m:r>
                    <m:r>
                      <m:rPr>
                        <m:sty m:val="p"/>
                      </m:rPr>
                      <m:t>≈</m:t>
                    </m:r>
                    <m:sSup>
                      <m:e>
                        <m:r>
                          <m:t>121</m:t>
                        </m:r>
                      </m:e>
                      <m:sup>
                        <m:r>
                          <m:rPr>
                            <m:sty m:val="p"/>
                          </m:rPr>
                          <m:t>∘</m:t>
                        </m:r>
                      </m:sup>
                    </m:sSup>
                  </m:oMath>
                </a14:m>
                <a:r>
                  <a:rPr/>
                  <a:t>)。</a:t>
                </a:r>
              </a:p>
            </p:txBody>
          </p:sp>
        </mc:Choice>
      </mc:AlternateContent>
      <p:pic>
        <p:nvPicPr>
          <p:cNvPr descr="Images/coordinate_system_schematic_003_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78400" y="1193800"/>
            <a:ext cx="339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CPR 重構 I：模型選擇</a:t>
            </a:r>
          </a:p>
        </p:txBody>
      </p:sp>
      <p:pic>
        <p:nvPicPr>
          <p:cNvPr descr="Images/CPR_Harmonics_vs_Tau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87500"/>
            <a:ext cx="4038600" cy="2590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為何不選純透明度模型？</a:t>
                </a:r>
              </a:p>
              <a:p>
                <a:pPr lvl="1"/>
                <a:r>
                  <a:rPr/>
                  <a:t>實驗觀測到顯著的高階諧波 (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/</m:t>
                    </m:r>
                    <m:sSub>
                      <m:e>
                        <m:r>
                          <m:t>I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≈</m:t>
                    </m:r>
                    <m:r>
                      <m:t>0.25</m:t>
                    </m:r>
                  </m:oMath>
                </a14:m>
                <a:r>
                  <a:rPr/>
                  <a:t>)。</a:t>
                </a:r>
              </a:p>
              <a:p>
                <a:pPr lvl="1"/>
                <a:r>
                  <a:rPr/>
                  <a:t>若用純透明度解釋，需 </a:t>
                </a:r>
                <a14:m>
                  <m:oMath xmlns:m="http://schemas.openxmlformats.org/officeDocument/2006/math">
                    <m:r>
                      <m:t>τ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0.9</m:t>
                    </m:r>
                  </m:oMath>
                </a14:m>
                <a:r>
                  <a:rPr/>
                  <a:t> (不符實驗值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≈</m:t>
                    </m:r>
                    <m:r>
                      <m:t>0.6</m:t>
                    </m:r>
                  </m:oMath>
                </a14:m>
                <a:r>
                  <a:rPr/>
                  <a:t>)。</a:t>
                </a:r>
              </a:p>
              <a:p>
                <a:pPr lvl="0"/>
                <a:r>
                  <a:rPr b="1"/>
                  <a:t>採用模型：諧波展開 (Harmonic Series)</a:t>
                </a:r>
              </a:p>
              <a:p>
                <a:pPr lvl="1"/>
                <a14:m>
                  <m:oMath xmlns:m="http://schemas.openxmlformats.org/officeDocument/2006/math">
                    <m:r>
                      <m:t>I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φ</m:t>
                        </m:r>
                      </m:e>
                    </m:d>
                    <m:r>
                      <m:rPr>
                        <m:sty m:val="p"/>
                      </m:rPr>
                      <m:t>≈</m:t>
                    </m:r>
                    <m:sSub>
                      <m:e>
                        <m:r>
                          <m:t>I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φ</m:t>
                        </m:r>
                      </m:e>
                    </m:d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I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2</m:t>
                        </m:r>
                        <m:r>
                          <m:t>φ</m:t>
                        </m:r>
                        <m:r>
                          <m:rPr>
                            <m:sty m:val="p"/>
                          </m:rPr>
                          <m:t>+</m:t>
                        </m:r>
                        <m:r>
                          <m:t>δ</m:t>
                        </m:r>
                      </m:e>
                    </m:d>
                  </m:oMath>
                </a14:m>
              </a:p>
              <a:p>
                <a:pPr lvl="1"/>
                <a:r>
                  <a:rPr/>
                  <a:t>引入相位差 </a:t>
                </a:r>
                <a14:m>
                  <m:oMath xmlns:m="http://schemas.openxmlformats.org/officeDocument/2006/math">
                    <m:r>
                      <m:t>δ</m:t>
                    </m:r>
                  </m:oMath>
                </a14:m>
                <a:r>
                  <a:rPr/>
                  <a:t> 以描述 TRS 破缺。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CPR 重構 II：高面內場下的二階諧波</a:t>
            </a:r>
          </a:p>
        </p:txBody>
      </p:sp>
      <p:pic>
        <p:nvPicPr>
          <p:cNvPr descr="Images/cpr_fit_508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76400"/>
            <a:ext cx="4038600" cy="2425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擬合結果 (</a:t>
                </a:r>
                <a14:m>
                  <m:oMath xmlns:m="http://schemas.openxmlformats.org/officeDocument/2006/math">
                    <m:sSub>
                      <m:e>
                        <m:r>
                          <m:t>B</m:t>
                        </m:r>
                      </m:e>
                      <m:sub>
                        <m:r>
                          <m:t>i</m:t>
                        </m:r>
                        <m: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m:t>≈</m:t>
                    </m:r>
                    <m:r>
                      <m:t>180</m:t>
                    </m:r>
                  </m:oMath>
                </a14:m>
                <a:r>
                  <a:rPr b="1"/>
                  <a:t> mT)</a:t>
                </a:r>
              </a:p>
              <a:p>
                <a:pPr lvl="1"/>
                <a:r>
                  <a:rPr/>
                  <a:t>二階諧波相位可調模型完美擬合實驗數據。</a:t>
                </a:r>
              </a:p>
              <a:p>
                <a:pPr lvl="1"/>
                <a:r>
                  <a:rPr b="1"/>
                  <a:t>關鍵發現</a:t>
                </a:r>
                <a:r>
                  <a:rPr/>
                  <a:t>：</a:t>
                </a:r>
              </a:p>
              <a:p>
                <a:pPr lvl="2"/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 分量顯著增強。</a:t>
                </a:r>
              </a:p>
              <a:p>
                <a:pPr lvl="2"/>
                <a:r>
                  <a:rPr/>
                  <a:t>相位差 </a:t>
                </a:r>
                <a14:m>
                  <m:oMath xmlns:m="http://schemas.openxmlformats.org/officeDocument/2006/math">
                    <m:r>
                      <m:t>δ</m:t>
                    </m:r>
                  </m:oMath>
                </a14:m>
                <a:r>
                  <a:rPr/>
                  <a:t> 非零。</a:t>
                </a:r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關鍵發現總結：磁場調控 CPR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磁場作為「調控旋鈕」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B</m:t>
                        </m:r>
                      </m:e>
                      <m:sub>
                        <m:r>
                          <m:t>i</m:t>
                        </m:r>
                        <m:r>
                          <m:t>n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p</m:t>
                        </m:r>
                        <m:r>
                          <m:t>l</m:t>
                        </m:r>
                        <m:r>
                          <m:t>a</m:t>
                        </m:r>
                        <m:r>
                          <m:t>n</m:t>
                        </m:r>
                        <m:r>
                          <m:t>e</m:t>
                        </m:r>
                      </m:sub>
                    </m:sSub>
                  </m:oMath>
                </a14:m>
                <a:r>
                  <a:rPr/>
                  <a:t> 直接耦合到接面中的安德烈夫束縛態。</a:t>
                </a:r>
              </a:p>
              <a:p>
                <a:pPr lvl="0"/>
                <a:r>
                  <a:rPr b="1"/>
                  <a:t>主要證據</a:t>
                </a:r>
              </a:p>
              <a:p>
                <a:pPr lvl="1"/>
                <a:r>
                  <a:rPr/>
                  <a:t>夫朗和費圖樣的對稱性破缺。</a:t>
                </a:r>
              </a:p>
              <a:p>
                <a:pPr lvl="1"/>
                <a:r>
                  <a:rPr/>
                  <a:t>CPR 中 </a:t>
                </a:r>
                <a:r>
                  <a:rPr b="1"/>
                  <a:t>二階諧波 (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 b="1"/>
                  <a:t>)</a:t>
                </a:r>
                <a:r>
                  <a:rPr/>
                  <a:t> 與 </a:t>
                </a:r>
                <a:r>
                  <a:rPr b="1"/>
                  <a:t>相位差 (</a:t>
                </a:r>
                <a14:m>
                  <m:oMath xmlns:m="http://schemas.openxmlformats.org/officeDocument/2006/math">
                    <m:r>
                      <m:t>δ</m:t>
                    </m:r>
                  </m:oMath>
                </a14:m>
                <a:r>
                  <a:rPr b="1"/>
                  <a:t>)</a:t>
                </a:r>
                <a:r>
                  <a:rPr/>
                  <a:t> 的顯著演化。</a:t>
                </a:r>
              </a:p>
              <a:p>
                <a:pPr lvl="0"/>
                <a:r>
                  <a:rPr b="1"/>
                  <a:t>結論</a:t>
                </a:r>
              </a:p>
              <a:p>
                <a:pPr lvl="1"/>
                <a:r>
                  <a:rPr/>
                  <a:t>證實 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 接面具備 </a:t>
                </a:r>
                <a:r>
                  <a:rPr b="1"/>
                  <a:t>高度可調的非正弦 CPR</a:t>
                </a:r>
                <a:r>
                  <a:rPr/>
                  <a:t>。</a:t>
                </a:r>
              </a:p>
            </p:txBody>
          </p:sp>
        </mc:Choice>
      </mc:AlternateContent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討論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物理機制探討：非對稱干涉圖樣的起源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現象回顧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B</m:t>
                        </m:r>
                      </m:e>
                      <m:sub>
                        <m:r>
                          <m:t>i</m:t>
                        </m:r>
                        <m:r>
                          <m:t>n</m:t>
                        </m:r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p</m:t>
                        </m:r>
                        <m:r>
                          <m:t>l</m:t>
                        </m:r>
                        <m:r>
                          <m:t>a</m:t>
                        </m:r>
                        <m:r>
                          <m:t>n</m:t>
                        </m:r>
                        <m:r>
                          <m:t>e</m:t>
                        </m:r>
                      </m:sub>
                    </m:sSub>
                    <m:r>
                      <m:rPr>
                        <m:sty m:val="p"/>
                      </m:rPr>
                      <m:t>≠</m:t>
                    </m:r>
                    <m:r>
                      <m:t>0</m:t>
                    </m:r>
                  </m:oMath>
                </a14:m>
                <a:r>
                  <a:rPr/>
                  <a:t> 時，夫朗和費圖樣嚴重扭曲。</a:t>
                </a:r>
              </a:p>
              <a:p>
                <a:pPr lvl="1"/>
                <a14:m>
                  <m:oMath xmlns:m="http://schemas.openxmlformats.org/officeDocument/2006/math">
                    <m:sSubSup>
                      <m:e>
                        <m:r>
                          <m:t>I</m:t>
                        </m:r>
                      </m:e>
                      <m:sub>
                        <m:r>
                          <m:t>c</m:t>
                        </m:r>
                      </m:sub>
                      <m:sup>
                        <m:r>
                          <m:rPr>
                            <m:sty m:val="p"/>
                          </m:rPr>
                          <m:t>+</m:t>
                        </m:r>
                      </m:sup>
                    </m:sSubSup>
                    <m:r>
                      <m:rPr>
                        <m:sty m:val="p"/>
                      </m:rPr>
                      <m:t>≠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</m:dPr>
                      <m:e>
                        <m:sSubSup>
                          <m:e>
                            <m:r>
                              <m:t>I</m:t>
                            </m:r>
                          </m:e>
                          <m:sub>
                            <m:r>
                              <m:t>c</m:t>
                            </m:r>
                          </m:sub>
                          <m:sup>
                            <m:r>
                              <m:rPr>
                                <m:sty m:val="p"/>
                              </m:rPr>
                              <m:t>−</m:t>
                            </m:r>
                          </m:sup>
                        </m:sSubSup>
                      </m:e>
                    </m:d>
                  </m:oMath>
                </a14:m>
                <a:r>
                  <a:rPr/>
                  <a:t> (Time-Reversal Symmetry Breaking)。</a:t>
                </a:r>
              </a:p>
              <a:p>
                <a:pPr lvl="0"/>
                <a:r>
                  <a:rPr b="1"/>
                  <a:t>模型比較</a:t>
                </a:r>
              </a:p>
              <a:p>
                <a:pPr lvl="1"/>
                <a:r>
                  <a:rPr b="1"/>
                  <a:t>透明度模型 (Transparency Model)</a:t>
                </a:r>
                <a:r>
                  <a:rPr/>
                  <a:t>：需極高 </a:t>
                </a:r>
                <a14:m>
                  <m:oMath xmlns:m="http://schemas.openxmlformats.org/officeDocument/2006/math">
                    <m:r>
                      <m:t>τ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0.9</m:t>
                    </m:r>
                  </m:oMath>
                </a14:m>
                <a:r>
                  <a:rPr/>
                  <a:t> 才能解釋 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，且無法解釋不對稱。</a:t>
                </a:r>
              </a:p>
              <a:p>
                <a:pPr lvl="1"/>
                <a:r>
                  <a:rPr b="1"/>
                  <a:t>諧波展開 (Harmonic Series)</a:t>
                </a:r>
                <a:r>
                  <a:rPr/>
                  <a:t>：引入相位 </a:t>
                </a:r>
                <a14:m>
                  <m:oMath xmlns:m="http://schemas.openxmlformats.org/officeDocument/2006/math">
                    <m:r>
                      <m:t>δ</m:t>
                    </m:r>
                  </m:oMath>
                </a14:m>
                <a:r>
                  <a:rPr/>
                  <a:t>，成功描述 TRS 破缺與高階諧波。</a:t>
                </a:r>
              </a:p>
              <a:p>
                <a:pPr lvl="0"/>
                <a:r>
                  <a:rPr b="1"/>
                  <a:t>結論</a:t>
                </a:r>
              </a:p>
              <a:p>
                <a:pPr lvl="1"/>
                <a:r>
                  <a:rPr/>
                  <a:t>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/>
                  <a:t> 接面中存在 </a:t>
                </a:r>
                <a:r>
                  <a:rPr b="1"/>
                  <a:t>各向異性</a:t>
                </a:r>
                <a:r>
                  <a:rPr/>
                  <a:t> 的輸運機制。</a:t>
                </a:r>
              </a:p>
              <a:p>
                <a:pPr lvl="1"/>
                <a:r>
                  <a:rPr/>
                  <a:t>面內磁場有效耦合到 </a:t>
                </a:r>
                <a:r>
                  <a:rPr b="1"/>
                  <a:t>安德烈夫束縛態 (ABS)</a:t>
                </a:r>
                <a:r>
                  <a:rPr/>
                  <a:t>，調控其相位。</a:t>
                </a:r>
              </a:p>
            </p:txBody>
          </p:sp>
        </mc:Choice>
      </mc:AlternateContent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技術挑戰與優化方向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製程挑戰</a:t>
            </a:r>
          </a:p>
          <a:p>
            <a:pPr lvl="1"/>
            <a:r>
              <a:rPr b="1"/>
              <a:t>側壁沉積 (Sidewall Deposition)</a:t>
            </a:r>
            <a:r>
              <a:rPr/>
              <a:t>：可能導致額外並聯路徑。</a:t>
            </a:r>
          </a:p>
          <a:p>
            <a:pPr lvl="1"/>
            <a:r>
              <a:rPr b="1"/>
              <a:t>表面氧化</a:t>
            </a:r>
            <a:r>
              <a:rPr/>
              <a:t>：TMD 材料易氧化，需嚴格的原位清洗。</a:t>
            </a:r>
          </a:p>
          <a:p>
            <a:pPr lvl="0"/>
            <a:r>
              <a:rPr b="1"/>
              <a:t>對量測的影響</a:t>
            </a:r>
          </a:p>
          <a:p>
            <a:pPr lvl="1"/>
            <a:r>
              <a:rPr/>
              <a:t>接面均勻性影響干涉圖樣的對比度。</a:t>
            </a:r>
          </a:p>
          <a:p>
            <a:pPr lvl="1"/>
            <a:r>
              <a:rPr/>
              <a:t>需進一步優化 </a:t>
            </a:r>
            <a:r>
              <a:rPr b="1"/>
              <a:t>離子銑削</a:t>
            </a:r>
            <a:r>
              <a:rPr/>
              <a:t> 參數與 </a:t>
            </a:r>
            <a:r>
              <a:rPr b="1"/>
              <a:t>側壁保護</a:t>
            </a:r>
            <a:r>
              <a:rPr/>
              <a:t> 製程。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結論與展望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總結 (Conclusion)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type="arabicPeriod"/>
                </a:pPr>
                <a:r>
                  <a:rPr b="1"/>
                  <a:t>成功建立 PtTe</a:t>
                </a:r>
                <a14:m>
                  <m:oMath xmlns:m="http://schemas.openxmlformats.org/officeDocument/2006/math">
                    <m:sSub>
                      <m:e>
                        <m:r>
                          <m:t>​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 b="1"/>
                  <a:t> 量子元件平台</a:t>
                </a:r>
              </a:p>
              <a:p>
                <a:pPr lvl="1"/>
                <a:r>
                  <a:rPr/>
                  <a:t>結合機械剝離與非對稱 SQUID 技術。</a:t>
                </a:r>
              </a:p>
              <a:p>
                <a:pPr lvl="1"/>
                <a:r>
                  <a:rPr/>
                  <a:t>實現高品質擴散型接面 (</a:t>
                </a:r>
                <a14:m>
                  <m:oMath xmlns:m="http://schemas.openxmlformats.org/officeDocument/2006/math">
                    <m:r>
                      <m:t>L</m:t>
                    </m:r>
                    <m:r>
                      <m:rPr>
                        <m:sty m:val="p"/>
                      </m:rPr>
                      <m:t>≫</m:t>
                    </m:r>
                    <m:sSub>
                      <m:e>
                        <m:r>
                          <m:t>l</m:t>
                        </m:r>
                      </m:e>
                      <m:sub>
                        <m:r>
                          <m:t>e</m:t>
                        </m:r>
                      </m:sub>
                    </m:sSub>
                  </m:oMath>
                </a14:m>
                <a:r>
                  <a:rPr/>
                  <a:t>)。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發現非傳統電流-相位關係 (Non-sinusoidal CPR)</a:t>
                </a:r>
              </a:p>
              <a:p>
                <a:pPr lvl="1"/>
                <a:r>
                  <a:rPr/>
                  <a:t>直接觀測到顯著的 </a:t>
                </a:r>
                <a:r>
                  <a:rPr b="1"/>
                  <a:t>二階諧波 (</a:t>
                </a:r>
                <a14:m>
                  <m:oMath xmlns:m="http://schemas.openxmlformats.org/officeDocument/2006/math">
                    <m:sSub>
                      <m:e>
                        <m:r>
                          <m:t>I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  <a:r>
                  <a:rPr b="1"/>
                  <a:t>)</a:t>
                </a:r>
                <a:r>
                  <a:rPr/>
                  <a:t>。</a:t>
                </a:r>
              </a:p>
              <a:p>
                <a:pPr lvl="1"/>
                <a:r>
                  <a:rPr/>
                  <a:t>證實 CPR 形式高度依賴於 </a:t>
                </a:r>
                <a:r>
                  <a:rPr b="1"/>
                  <a:t>面內磁場</a:t>
                </a:r>
                <a:r>
                  <a:rPr/>
                  <a:t>。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磁通量調控 (Magnetic Tuning)</a:t>
                </a:r>
              </a:p>
              <a:p>
                <a:pPr lvl="1"/>
                <a:r>
                  <a:rPr/>
                  <a:t>實現了「</a:t>
                </a:r>
                <a:r>
                  <a:rPr b="1"/>
                  <a:t>可調式 </a:t>
                </a:r>
                <a14:m>
                  <m:oMath xmlns:m="http://schemas.openxmlformats.org/officeDocument/2006/math">
                    <m:sSub>
                      <m:e>
                        <m:r>
                          <m:t>φ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 b="1"/>
                  <a:t> 接面</a:t>
                </a:r>
                <a:r>
                  <a:rPr/>
                  <a:t>」。</a:t>
                </a:r>
              </a:p>
              <a:p>
                <a:pPr lvl="1"/>
                <a:r>
                  <a:rPr/>
                  <a:t>為拓撲超導元件的相位操控提供了新途徑。</a:t>
                </a:r>
              </a:p>
            </p:txBody>
          </p:sp>
        </mc:Choice>
      </mc:AlternateContent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未來展望 (Future Work)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 b="1"/>
                  <a:t>短期目標：機制釐清</a:t>
                </a:r>
              </a:p>
              <a:p>
                <a:pPr lvl="1"/>
                <a:r>
                  <a:rPr b="1"/>
                  <a:t>溫度依賴性量測</a:t>
                </a:r>
                <a:r>
                  <a:rPr/>
                  <a:t>：區分體相與表面態貢獻。</a:t>
                </a:r>
              </a:p>
              <a:p>
                <a:pPr lvl="1"/>
                <a:r>
                  <a:rPr b="1"/>
                  <a:t>Shapiro Steps</a:t>
                </a:r>
                <a:r>
                  <a:rPr/>
                  <a:t>：進一步驗證 AC 約瑟夫森效應。</a:t>
                </a:r>
              </a:p>
              <a:p>
                <a:pPr lvl="0"/>
                <a:r>
                  <a:rPr b="1"/>
                  <a:t>長期目標：量子應用</a:t>
                </a:r>
              </a:p>
              <a:p>
                <a:pPr lvl="1"/>
                <a:r>
                  <a:rPr b="1"/>
                  <a:t>超導二極體 (Superconducting Diode)</a:t>
                </a:r>
                <a:r>
                  <a:rPr/>
                  <a:t>：零磁場下的非互易輸運。</a:t>
                </a:r>
              </a:p>
              <a:p>
                <a:pPr lvl="1"/>
                <a:r>
                  <a:rPr b="1"/>
                  <a:t>拓撲量子位元 (Topological Qubits)</a:t>
                </a:r>
                <a:r>
                  <a:rPr/>
                  <a:t>：利用 </a:t>
                </a:r>
                <a14:m>
                  <m:oMath xmlns:m="http://schemas.openxmlformats.org/officeDocument/2006/math">
                    <m:sSub>
                      <m:e>
                        <m:r>
                          <m:t>φ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 偏移實現免磁場操控。</a:t>
                </a:r>
              </a:p>
              <a:p>
                <a:pPr lvl="0"/>
                <a:r>
                  <a:rPr b="1"/>
                  <a:t>科學意義</a:t>
                </a:r>
              </a:p>
              <a:p>
                <a:pPr lvl="1"/>
                <a:r>
                  <a:rPr/>
                  <a:t>連結 </a:t>
                </a:r>
                <a:r>
                  <a:rPr b="1"/>
                  <a:t>拓撲物理</a:t>
                </a:r>
                <a:r>
                  <a:rPr/>
                  <a:t> 與 </a:t>
                </a:r>
                <a:r>
                  <a:rPr b="1"/>
                  <a:t>宏觀量子元件</a:t>
                </a:r>
                <a:r>
                  <a:rPr/>
                  <a:t> 的橋樑。</a:t>
                </a:r>
              </a:p>
            </p:txBody>
          </p:sp>
        </mc:Choice>
      </mc:AlternateContent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備用投影片 (Backup Slides)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附錄 A：詳細實驗數據</a:t>
            </a:r>
          </a:p>
        </p:txBody>
      </p:sp>
    </p:spTree>
  </p:cSld>
</p:sld>
</file>

<file path=ppt/slides/slide27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><a:xfrm><a:off x="457201" y="204787" /><a:ext cx="3008313" cy="871538" /></a:xfrm></p:spPr><p:txBody><a:bodyPr /><a:lstStyle /><a:p><a:pPr lvl="0" indent="0" marL="0"><a:buNone /></a:pPr><a:r><a:rPr /><a:t>完整實驗結果</a:t></a:r></a:p></p:txBody></p:sp><p:sp><p:nvSpPr><p:cNvPr id="4" name="Text Placeholder 3" /><p:cNvSpPr><a:spLocks noGrp="1" /></p:cNvSpPr><p:nvPr><p:ph idx="2" sz="half" type="body" /></p:nvPr></p:nvSpPr><p:spPr /><p:txBody><a:bodyPr /><a:lstStyle /><a:p><a:pPr lvl="0" indent="0" marL="0"><a:buNone /></a:pPr><a:r><a:rPr /><a:t>本附錄提供了主要實驗的詳細數據和補充分析。</a:t></a:r></a:p><a:p><a:pPr lvl="0" indent="0" marL="0"><a:spcBef><a:spcPts val="3000" /></a:spcBef><a:buNone /></a:pPr><a:r><a:rPr b="1" /><a:t>樣品詳細資訊</a:t></a:r></a:p><a:p><a:pPr lvl="0" indent="0" marL="0"><a:buNone /></a:pPr><a:r><a:rPr /><a:t>樣品詳細資訊</a:t></a:r></a:p><a:p><a:pPr lvl="0" indent="0" marL="0"><a:buNone /></a:pPr><a:r><a:rPr /><a:t>樣品編號</a:t></a:r></a:p><a:p><a:pPr lvl="0" indent="0" marL="0"><a:buNone /></a:pPr><a:r><a:rPr /><a:t>厚度(nm)</a:t></a:r></a:p><a:p><a:pPr lvl="0" indent="0" marL="0"><a:buNone /></a:pPr><a:r><a:rPr /><a:t>接面寬度(μm)</a:t></a:r></a:p><a:p><a:pPr lvl="0" indent="0" marL="0"><a:buNone /></a:pPr><a:r><a:rPr /><a:t>參考接面長度(μm)</a:t></a:r></a:p><a:p><a:pPr lvl="0" indent="0" marL="0"><a:buNone /></a:pPr><a:r><a:rPr /><a:t>目標接面長度(μm)</a:t></a:r></a:p><a:p><a:pPr lvl="0" indent="0" marL="0"><a:buNone /></a:pPr><a:r><a:rPr /><a:t>臨界電流(μA)</a:t></a:r></a:p><a:p><a:pPr lvl="0" indent="0" marL="0"><a:buNone /></a:pPr><a:r><a:rPr /><a:t>重捕電流(μA)</a:t></a:r></a:p><a:p><a:pPr lvl="0" indent="0" marL="0"><a:buNone /></a:pPr><a:r><a:rPr /><a:t>正常態電阻(Ω)</a:t></a:r></a:p><a:p><a:pPr lvl="0" indent="0" marL="0"><a:buNone /></a:pPr><a:r><a:rPr /><a:t>IcRn (μV)</a:t></a:r></a:p><a:p><a:pPr lvl="0" indent="0" marL="0"><a:buNone /></a:pPr><a:r><a:rPr /><a:t>二極體效率(η)</a:t></a:r></a:p><a:p><a:pPr lvl="0" indent="0" marL="0"><a:buNone /></a:pPr><a:r><a:rPr /><a:t>鈮鈦厚度(nm)</a:t></a:r></a:p><a:p><a:pPr lvl="0" indent="0" marL="0"><a:buNone /></a:pPr><a:r><a:rPr /><a:t>備註</a:t></a:r></a:p><a:p><a:pPr lvl="0" indent="0" marL="0"><a:buNone /></a:pPr><a:r><a:rPr /><a:t>003-2</a:t></a:r></a:p><a:p><a:pPr lvl="0" indent="0" marL="0"><a:buNone /></a:pPr><a:r><a:rPr /><a:t>21.17</a:t></a:r></a:p><a:p><a:pPr lvl="0" indent="0" marL="0"><a:buNone /></a:pPr><a:r><a:rPr /><a:t>1.16</a:t></a:r></a:p><a:p><a:pPr lvl="0" indent="0" marL="0"><a:buNone /></a:pPr><a:r><a:rPr /><a:t>0.40</a:t></a:r></a:p><a:p><a:pPr lvl="0" indent="0" marL="0"><a:buNone /></a:pPr><a:r><a:rPr /><a:t>0.73</a:t></a:r></a:p><a:p><a:pPr lvl="0" indent="0" marL="0"><a:buNone /></a:pPr><a:r><a:rPr /><a:t>19.1</a:t></a:r></a:p><a:p><a:pPr lvl="0" indent="0" marL="0"><a:buNone /></a:pPr><a:r><a:rPr /><a:t>3</a:t></a:r></a:p><a:p><a:pPr lvl="0" indent="0" marL="0"><a:buNone /></a:pPr><a:r><a:rPr /><a:t>1.92</a:t></a:r></a:p><a:p><a:pPr lvl="0" indent="0" marL="0"><a:buNone /></a:pPr><a:r><a:rPr /><a:t>36.6</a:t></a:r></a:p><a:p><a:pPr lvl="0" indent="0" marL="0"><a:buNone /></a:pPr><a:r><a:rPr /><a:t>150</a:t></a:r></a:p><a:p><a:pPr lvl="0" indent="0" marL="0"><a:buNone /></a:pPr><a:r><a:rPr /><a:t>003-3</a:t></a:r></a:p><a:p><a:pPr lvl="0" indent="0" marL="0"><a:buNone /></a:pPr><a:r><a:rPr /><a:t>27.79</a:t></a:r></a:p><a:p><a:pPr lvl="0" indent="0" marL="0"><a:buNone /></a:pPr><a:r><a:rPr /><a:t>0.88</a:t></a:r></a:p><a:p><a:pPr lvl="0" indent="0" marL="0"><a:buNone /></a:pPr><a:r><a:rPr /><a:t>0.33</a:t></a:r></a:p><a:p><a:pPr lvl="0" indent="0" marL="0"><a:buNone /></a:pPr><a:r><a:rPr /><a:t>0.65</a:t></a:r></a:p><a:p><a:pPr lvl="0" indent="0" marL="0"><a:buNone /></a:pPr><a:r><a:rPr /><a:t>14.5</a:t></a:r></a:p><a:p><a:pPr lvl="0" indent="0" marL="0"><a:buNone /></a:pPr><a:r><a:rPr /><a:t>1.5</a:t></a:r></a:p><a:p><a:pPr lvl="0" indent="0" marL="0"><a:buNone /></a:pPr><a:r><a:rPr /><a:t>3.24</a:t></a:r></a:p><a:p><a:pPr lvl="0" indent="0" marL="0"><a:buNone /></a:pPr><a:r><a:rPr /><a:t>46.9</a:t></a:r></a:p><a:p><a:pPr lvl="0" indent="0" marL="0"><a:buNone /></a:pPr><a:r><a:rPr /><a:t>150</a:t></a:r></a:p><a:p><a:pPr lvl="0" indent="0" marL="0"><a:buNone /></a:pPr><a:r><a:rPr /><a:t>004-1</a:t></a:r></a:p><a:p><a:pPr lvl="0" indent="0" marL="0"><a:buNone /></a:pPr><a:r><a:rPr /><a:t>1.26</a:t></a:r></a:p><a:p><a:pPr lvl="0" indent="0" marL="0"><a:buNone /></a:pPr><a:r><a:rPr /><a:t>0.26</a:t></a:r></a:p><a:p><a:pPr lvl="0" indent="0" marL="0"><a:buNone /></a:pPr><a:r><a:rPr /><a:t>0.68</a:t></a:r></a:p><a:p><a:pPr lvl="0" indent="0" marL="0"><a:buNone /></a:pPr><a:r><a:rPr /><a:t>19.4</a:t></a:r></a:p><a:p><a:pPr lvl="0" indent="0" marL="0"><a:buNone /></a:pPr><a:r><a:rPr /><a:t>16</a:t></a:r></a:p><a:p><a:pPr lvl="0" indent="0" marL="0"><a:buNone /></a:pPr><a:r><a:rPr /><a:t>11.17</a:t></a:r></a:p><a:p><a:pPr lvl="0" indent="0" marL="0"><a:buNone /></a:pPr><a:r><a:rPr /><a:t>217.1</a:t></a:r></a:p><a:p><a:pPr lvl="0" indent="0" marL="0"><a:buNone /></a:pPr><a:r><a:rPr /><a:t>70</a:t></a:r></a:p><a:p><a:pPr lvl="0" indent="0" marL="0"><a:buNone /></a:pPr><a:r><a:rPr /><a:t>Only Ref. JJ</a:t></a:r></a:p><a:p><a:pPr lvl="0" indent="0" marL="0"><a:buNone /></a:pPr><a:r><a:rPr /><a:t>004-2</a:t></a:r></a:p><a:p><a:pPr lvl="0" indent="0" marL="0"><a:buNone /></a:pPr><a:r><a:rPr /><a:t>0.56</a:t></a:r></a:p><a:p><a:pPr lvl="0" indent="0" marL="0"><a:buNone /></a:pPr><a:r><a:rPr /><a:t>0.17</a:t></a:r></a:p><a:p><a:pPr lvl="0" indent="0" marL="0"><a:buNone /></a:pPr><a:r><a:rPr /><a:t>0.67</a:t></a:r></a:p><a:p><a:pPr lvl="0" indent="0" marL="0"><a:buNone /></a:pPr><a:r><a:rPr /><a:t>32.5</a:t></a:r></a:p><a:p><a:pPr lvl="0" indent="0" marL="0"><a:buNone /></a:pPr><a:r><a:rPr /><a:t>30</a:t></a:r></a:p><a:p><a:pPr lvl="0" indent="0" marL="0"><a:buNone /></a:pPr><a:r><a:rPr /><a:t>22.29</a:t></a:r></a:p><a:p><a:pPr lvl="0" indent="0" marL="0"><a:buNone /></a:pPr><a:r><a:rPr /><a:t>725.1</a:t></a:r></a:p><a:p><a:pPr lvl="0" indent="0" marL="0"><a:buNone /></a:pPr><a:r><a:rPr /><a:t>70</a:t></a:r></a:p><a:p><a:pPr lvl="0" indent="0" marL="0"><a:buNone /></a:pPr><a:r><a:rPr /><a:t>004-3</a:t></a:r></a:p><a:p><a:pPr lvl="0" indent="0" marL="0"><a:buNone /></a:pPr><a:r><a:rPr /><a:t>1.34</a:t></a:r></a:p><a:p><a:pPr lvl="0" indent="0" marL="0"><a:buNone /></a:pPr><a:r><a:rPr /><a:t>0.24</a:t></a:r></a:p><a:p><a:pPr lvl="0" indent="0" marL="0"><a:buNone /></a:pPr><a:r><a:rPr /><a:t>0.70</a:t></a:r></a:p><a:p><a:pPr lvl="0" indent="0" marL="0"><a:buNone /></a:pPr><a:r><a:rPr /><a:t>44.5</a:t></a:r></a:p><a:p><a:pPr lvl="0" indent="0" marL="0"><a:buNone /></a:pPr><a:r><a:rPr /><a:t>33</a:t></a:r></a:p><a:p><a:pPr lvl="0" indent="0" marL="0"><a:buNone /></a:pPr><a:r><a:rPr /><a:t>35.93</a:t></a:r></a:p><a:p><a:pPr lvl="0" indent="0" marL="0"><a:buNone /></a:pPr><a:r><a:rPr /><a:t>1600.4</a:t></a:r></a:p><a:p><a:pPr lvl="0" indent="0" marL="0"><a:buNone /></a:pPr><a:r><a:rPr /><a:t>70</a:t></a:r></a:p><a:p><a:pPr lvl="0" indent="0" marL="0"><a:buNone /></a:pPr><a:r><a:rPr /><a:t>005-1</a:t></a:r></a:p><a:p><a:pPr lvl="0" indent="0" marL="0"><a:buNone /></a:pPr><a:r><a:rPr /><a:t>63.5</a:t></a:r></a:p><a:p><a:pPr lvl="0" indent="0" marL="0"><a:buNone /></a:pPr><a:r><a:rPr /><a:t>1.15</a:t></a:r></a:p><a:p><a:pPr lvl="0" indent="0" marL="0"><a:buNone /></a:pPr><a:r><a:rPr /><a:t>0.42</a:t></a:r></a:p><a:p><a:pPr lvl="0" indent="0" marL="0"><a:buNone /></a:pPr><a:r><a:rPr /><a:t>0.87</a:t></a:r></a:p><a:p><a:pPr lvl="0" indent="0" marL="0"><a:buNone /></a:pPr><a:r><a:rPr /><a:t>88.4</a:t></a:r></a:p><a:p><a:pPr lvl="0" indent="0" marL="0"><a:buNone /></a:pPr><a:r><a:rPr /><a:t>28</a:t></a:r></a:p><a:p><a:pPr lvl="0" indent="0" marL="0"><a:buNone /></a:pPr><a:r><a:rPr /><a:t>0.30</a:t></a:r></a:p><a:p><a:pPr lvl="0" indent="0" marL="0"><a:buNone /></a:pPr><a:r><a:rPr /><a:t>26.5</a:t></a:r></a:p><a:p><a:pPr lvl="0" indent="0" marL="0"><a:buNone /></a:pPr><a:r><a:rPr /><a:t>70</a:t></a:r></a:p><a:p><a:pPr lvl="0" indent="0" marL="0"><a:buNone /></a:pPr><a:r><a:rPr /><a:t>005-2</a:t></a:r></a:p><a:p><a:pPr lvl="0" indent="0" marL="0"><a:buNone /></a:pPr><a:r><a:rPr /><a:t>24.2</a:t></a:r></a:p><a:p><a:pPr lvl="0" indent="0" marL="0"><a:buNone /></a:pPr><a:r><a:rPr /><a:t>1.57</a:t></a:r></a:p><a:p><a:pPr lvl="0" indent="0" marL="0"><a:buNone /></a:pPr><a:r><a:rPr /><a:t>0.41</a:t></a:r></a:p><a:p><a:pPr lvl="0" indent="0" marL="0"><a:buNone /></a:pPr><a:r><a:rPr /><a:t>0.88</a:t></a:r></a:p><a:p><a:pPr lvl="0" indent="0" marL="0"><a:buNone /></a:pPr><a:r><a:rPr /><a:t>33.9</a:t></a:r></a:p><a:p><a:pPr lvl="0" indent="0" marL="0"><a:buNone /></a:pPr><a:r><a:rPr /><a:t>6</a:t></a:r></a:p><a:p><a:pPr lvl="0" indent="0" marL="0"><a:buNone /></a:pPr><a:r><a:rPr /><a:t>1.07</a:t></a:r></a:p><a:p><a:pPr lvl="0" indent="0" marL="0"><a:buNone /></a:pPr><a:r><a:rPr /><a:t>36.2</a:t></a:r></a:p><a:p><a:pPr lvl="0" indent="0" marL="0"><a:buNone /></a:pPr><a:r><a:rPr /><a:t>70</a:t></a:r></a:p><a:p><a:pPr lvl="0" indent="0" marL="0"><a:buNone /></a:pPr><a:r><a:rPr /><a:t>019-1</a:t></a:r></a:p><a:p><a:pPr lvl="0" indent="0" marL="0"><a:buNone /></a:pPr><a:r><a:rPr /><a:t>2.59</a:t></a:r></a:p><a:p><a:pPr lvl="0" indent="0" marL="0"><a:buNone /></a:pPr><a:r><a:rPr /><a:t>1.53</a:t></a:r></a:p><a:p><a:pPr lvl="0" indent="0" marL="0"><a:buNone /></a:pPr><a:r><a:rPr /><a:t>2.26</a:t></a:r></a:p><a:p><a:pPr lvl="0" indent="0" marL="0"><a:buNone /></a:pPr><a:r><a:rPr /><a:t>13.8</a:t></a:r></a:p><a:p><a:pPr lvl="0" indent="0" marL="0"><a:buNone /></a:pPr><a:r><a:rPr /><a:t>1.5</a:t></a:r></a:p><a:p><a:pPr lvl="0" indent="0" marL="0"><a:buNone /></a:pPr><a:r><a:rPr /><a:t>0.70</a:t></a:r></a:p><a:p><a:pPr lvl="0" indent="0" marL="0"><a:buNone /></a:pPr><a:r><a:rPr /><a:t>9.7</a:t></a:r></a:p><a:p><a:pPr lvl="0" indent="0" marL="0"><a:buNone /></a:pPr><a:r><a:rPr /><a:t>120</a:t></a:r></a:p><a:p><a:pPr lvl="0" indent="0" marL="0"><a:buNone /></a:pPr><a:r><a:rPr /><a:t>019-3</a:t></a:r></a:p><a:p><a:pPr lvl="0" indent="0" marL="0"><a:buNone /></a:pPr><a:r><a:rPr /><a:t>1.73</a:t></a:r></a:p><a:p><a:pPr lvl="0" indent="0" marL="0"><a:buNone /></a:pPr><a:r><a:rPr /><a:t>1.52</a:t></a:r></a:p><a:p><a:pPr lvl="0" indent="0" marL="0"><a:buNone /></a:pPr><a:r><a:rPr /><a:t>2.36</a:t></a:r></a:p><a:p><a:pPr lvl="0" indent="0" marL="0"><a:buNone /></a:pPr><a:r><a:rPr /><a:t>13.3</a:t></a:r></a:p><a:p><a:pPr lvl="0" indent="0" marL="0"><a:buNone /></a:pPr><a:r><a:rPr /><a:t>0.8</a:t></a:r></a:p><a:p><a:pPr lvl="0" indent="0" marL="0"><a:buNone /></a:pPr><a:r><a:rPr /><a:t>1.25</a:t></a:r></a:p><a:p><a:pPr lvl="0" indent="0" marL="0"><a:buNone /></a:pPr><a:r><a:rPr /><a:t>16.7</a:t></a:r></a:p><a:p><a:pPr lvl="0" indent="0" marL="0"><a:buNone /></a:pPr><a:r><a:rPr /><a:t>120</a:t></a:r></a:p><a:p><a:pPr lvl="0" indent="0" marL="0"><a:buNone /></a:pPr><a:r><a:rPr /><a:t>019-5</a:t></a:r></a:p><a:p><a:pPr lvl="0" indent="0" marL="0"><a:buNone /></a:pPr><a:r><a:rPr /><a:t>3.42</a:t></a:r></a:p><a:p><a:pPr lvl="0" indent="0" marL="0"><a:buNone /></a:pPr><a:r><a:rPr /><a:t>1.79</a:t></a:r></a:p><a:p><a:pPr lvl="0" indent="0" marL="0"><a:buNone /></a:pPr><a:r><a:rPr /><a:t>6.09</a:t></a:r></a:p><a:p><a:pPr lvl="0" indent="0" marL="0"><a:buNone /></a:pPr><a:r><a:rPr /><a:t>14.8</a:t></a:r></a:p><a:p><a:pPr lvl="0" indent="0" marL="0"><a:buNone /></a:pPr><a:r><a:rPr /><a:t>6</a:t></a:r></a:p><a:p><a:pPr lvl="0" indent="0" marL="0"><a:buNone /></a:pPr><a:r><a:rPr /><a:t>0.26</a:t></a:r></a:p><a:p><a:pPr lvl="0" indent="0" marL="0"><a:buNone /></a:pPr><a:r><a:rPr /><a:t>3.9</a:t></a:r></a:p><a:p><a:pPr lvl="0" indent="0" marL="0"><a:buNone /></a:pPr><a:r><a:rPr /><a:t>120</a:t></a:r></a:p><a:p><a:pPr lvl="0" indent="0" marL="0"><a:spcBef><a:spcPts val="3000" /></a:spcBef><a:buNone /></a:pPr><a:r><a:rPr b="1" /><a:t>PtTe2、NbTi量子輸運參數表</a:t></a:r></a:p></p:txBody></p:sp><p:graphicFrame><p:nvGraphicFramePr><p:cNvPr id="6" name="Content Placeholder 5" /><p:cNvGraphicFramePr><a:graphicFrameLocks noGrp="1" /></p:cNvGraphicFramePr><p:nvPr><p:ph idx="1" /></p:nvPr></p:nvGraphicFramePr><p:xfrm><a:off x="3568700" y="203200" /><a:ext cx="5105400" cy="3873500" /></p:xfrm><a:graphic><a:graphicData uri="http://schemas.openxmlformats.org/drawingml/2006/table"><a:tbl><a:tblPr firstRow="1" bandRow="1"><a:tableStyleId>{5C22544A-7EE6-4342-B048-85BDC9FD1C3A}</a:tableStyleId></a:tblPr><a:tblGrid><a:gridCol w="1231900" /><a:gridCol w="1930400" /><a:gridCol w="698500" /><a:gridCol w="762000" /><a:gridCol w="469900" /></a:tblGrid><a:tr h="0"><a:tc><a:txBody><a:bodyPr /><a:lstStyle /><a:p><a:pPr lvl="0" indent="0" marL="0" algn="ctr"><a:buNone /></a:pPr><a:r><a:rPr b="1" /><a:t>參數</a:t></a:r></a:p></a:txBody><a:tcPr /></a:tc><a:tc><a:txBody><a:bodyPr /><a:lstStyle /><a:p><a:pPr lvl="0" indent="0" marL="0" algn="ctr"><a:buNone /></a:pPr><a:r><a:rPr b="1" /><a:t>符號</a:t></a:r></a:p></a:txBody><a:tcPr /></a:tc><a:tc><a:txBody><a:bodyPr /><a:lstStyle /><a:p><a:pPr lvl="0" indent="0" marL="0" algn="ctr"><a:buNone /></a:pPr><a:r><a:rPr b="1" /><a:t>NbTi</a:t></a:r></a:p></a:txBody><a:tcPr /></a:tc><a:tc><a:txBody><a:bodyPr /><a:lstStyle /><a:p><a:pPr lvl="0" indent="0" marL="0" algn="ctr"><a:buNone /></a:pPr><a:r><a:rPr b="1" /><a:t>PtTe2</a:t></a:r></a:p></a:txBody><a:tcPr /></a:tc><a:tc><a:txBody><a:bodyPr /><a:lstStyle /><a:p><a:pPr lvl="0" indent="0" marL="0" algn="ctr"><a:buNone /></a:pPr><a:r><a:rPr b="1" /><a:t>單位</a:t></a:r></a:p></a:txBody><a:tcPr /></a:tc></a:tr><a:tr h="0"><a:tc><a:txBody><a:bodyPr /><a:lstStyle /><a:p><a:pPr lvl="0" indent="0" marL="0" algn="ctr"><a:buNone /></a:pPr><a:r><a:rPr b="1" /><a:t>費米速度</a:t></a:r><a:br /><a:r><a:rPr b="1" /><a:t>Fermi velocity</a:t></a:r></a:p></a:txBody></a:tc><a:tc><a:txBody><a:bodyPr /><a:lstStyle /><a:p><a:pPr lvl="0" indent="0" marL="0" algn="ctr"><a:buNone /></a:pPr><a14:m><m:oMath xmlns:m="http://schemas.openxmlformats.org/officeDocument/2006/math"><m:sSub><m:e><m:r><m:t>v</m:t></m:r></m:e><m:sub><m:r><m:t>F</m:t></m:r></m:sub></m:sSub></m:oMath></a14:m></a:p></a:txBody></a:tc><a:tc><a:txBody><a:bodyPr /><a:lstStyle /><a:p><a:pPr lvl="0" indent="0" marL="0" algn="ctr"><a:buNone /></a:pPr><a:r><a:rPr /><a:t>≈ 1.25–1.55</a:t></a:r></a:p></a:txBody></a:tc><a:tc><a:txBody><a:bodyPr /><a:lstStyle /><a:p><a:pPr lvl="0" indent="0" marL="0" algn="ctr"><a:buNone /></a:pPr><a14:m><m:oMath xmlns:m="http://schemas.openxmlformats.org/officeDocument/2006/math"><m:r><m:t>3.3</m:t></m:r><m:r><m:rPr><m:sty m:val="p" /></m:rPr><m:t>×</m:t></m:r><m:sSup><m:e><m:r><m:t>10</m:t></m:r></m:e><m:sup><m:r><m:rPr><m:sty m:val="p" /></m:rPr><m:t>−</m:t></m:r><m:r><m:t>5</m:t></m:r></m:sup></m:sSup></m:oMath></a14:m></a:p></a:txBody></a:tc><a:tc><a:txBody><a:bodyPr /><a:lstStyle /><a:p><a:pPr lvl="0" indent="0" marL="0" algn="ctr"><a:buNone /></a:pPr><a:r><a:rPr /><a:t>m/s</a:t></a:r></a:p></a:txBody></a:tc></a:tr><a:tr h="0"><a:tc><a:txBody><a:bodyPr /><a:lstStyle /><a:p><a:pPr lvl="0" indent="0" marL="0" algn="ctr"><a:buNone /></a:pPr><a:r><a:rPr b="1" /><a:t>平均碰撞時間</a:t></a:r><a:br /><a:r><a:rPr b="1" /><a:t>Mean free time</a:t></a:r></a:p></a:txBody></a:tc><a:tc><a:txBody><a:bodyPr /><a:lstStyle /><a:p><a:pPr lvl="0" indent="0" marL="0" algn="ctr"><a:buNone /></a:pPr><a14:m><m:oMath xmlns:m="http://schemas.openxmlformats.org/officeDocument/2006/math"><m:r><m:t>τ</m:t></m:r></m:oMath></a14:m></a:p></a:txBody></a:tc><a:tc><a:txBody><a:bodyPr /><a:lstStyle /><a:p><a:pPr lvl="0" indent="0" marL="0" algn="ctr"><a:buNone /></a:pPr><a:r><a:rPr /><a:t>≈ 10⁻¹²–10⁻¹¹</a:t></a:r></a:p></a:txBody></a:tc><a:tc><a:txBody><a:bodyPr /><a:lstStyle /><a:p><a:pPr lvl="0" indent="0" marL="0" algn="ctr"><a:buNone /></a:pPr><a:r><a:rPr /><a:t>≈ 10⁻¹²–10⁻¹¹</a:t></a:r></a:p></a:txBody></a:tc><a:tc><a:txBody><a:bodyPr /><a:lstStyle /><a:p><a:pPr lvl="0" indent="0" marL="0" algn="ctr"><a:buNone /></a:pPr><a:r><a:rPr /><a:t>s</a:t></a:r></a:p></a:txBody></a:tc></a:tr><a:tr h="0"><a:tc><a:txBody><a:bodyPr /><a:lstStyle /><a:p><a:pPr lvl="0" indent="0" marL="0" algn="ctr"><a:buNone /></a:pPr><a:r><a:rPr b="1" /><a:t>擴散係數</a:t></a:r><a:br /><a:r><a:rPr b="1" /><a:t>Diffusion coefficient</a:t></a:r></a:p></a:txBody></a:tc><a:tc><a:txBody><a:bodyPr /><a:lstStyle /><a:p><a:pPr lvl="0" indent="0" marL="0" algn="ctr"><a:buNone /></a:pPr><a14:m><m:oMath xmlns:m="http://schemas.openxmlformats.org/officeDocument/2006/math"><m:r><m:t>D</m:t></m:r><m:r><m:rPr><m:sty m:val="p" /></m:rPr><m:t>=</m:t></m:r><m:sSubSup><m:e><m:r><m:t>v</m:t></m:r></m:e><m:sub><m:r><m:t>F</m:t></m:r></m:sub><m:sup><m:r><m:t>2</m:t></m:r></m:sup></m:sSubSup><m:f><m:fPr><m:type m:val="bar" /></m:fPr><m:num><m:r><m:t>τ</m:t></m:r></m:num><m:den><m:r><m:t>2</m:t></m:r></m:den></m:f></m:oMath></a14:m></a:p></a:txBody></a:tc><a:tc><a:txBody><a:bodyPr /><a:lstStyle /><a:p><a:pPr lvl="0" indent="0" marL="0" algn="ctr"><a:buNone /></a:pPr><a:r><a:rPr /><a:t>≈ 5.6×10²–5.6×10³</a:t></a:r></a:p></a:txBody></a:tc><a:tc><a:txBody><a:bodyPr /><a:lstStyle /><a:p><a:pPr lvl="0" indent="0" marL="0" algn="ctr"><a:buNone /></a:pPr><a:r><a:rPr /><a:t>≈ 1.5×10²–2.4×10³</a:t></a:r></a:p></a:txBody></a:tc><a:tc><a:txBody><a:bodyPr /><a:lstStyle /><a:p><a:pPr lvl="0" indent="0" marL="0" algn="ctr"><a:buNone /></a:pPr><a:r><a:rPr /><a:t>cm²/s</a:t></a:r></a:p></a:txBody></a:tc></a:tr><a:tr h="0"><a:tc><a:txBody><a:bodyPr /><a:lstStyle /><a:p><a:pPr lvl="0" indent="0" marL="0" algn="ctr"><a:buNone /></a:pPr><a:r><a:rPr b="1" /><a:t>電阻率</a:t></a:r><a:br /><a:r><a:rPr b="1" /><a:t>Resistivity</a:t></a:r><a:r><a:rPr /><a:t> ¹</a:t></a:r></a:p></a:txBody></a:tc><a:tc><a:txBody><a:bodyPr /><a:lstStyle /><a:p><a:pPr lvl="0" indent="0" marL="0" algn="ctr"><a:buNone /></a:pPr><a14:m><m:oMath xmlns:m="http://schemas.openxmlformats.org/officeDocument/2006/math"><m:r><m:t>ρ</m:t></m:r><m:r><m:rPr><m:sty m:val="p" /></m:rPr><m:t>=</m:t></m:r><m:sSup><m:e><m:d><m:dPr><m:begChr m:val="[" /><m:sepChr m:val="" /><m:endChr m:val="]" /><m:grow /></m:dPr><m:e><m:sSub><m:e><m:r><m:t>n</m:t></m:r></m:e><m:sub><m:r><m:t>s</m:t></m:r></m:sub></m:sSub><m:r><m:t>e</m:t></m:r><m:sSub><m:e><m:r><m:t>μ</m:t></m:r></m:e><m:sub><m:r><m:t>e</m:t></m:r></m:sub></m:sSub></m:e></m:d></m:e><m:sup><m:r><m:rPr><m:sty m:val="p" /></m:rPr><m:t>−</m:t></m:r><m:r><m:t>1</m:t></m:r></m:sup></m:sSup></m:oMath></a14:m></a:p></a:txBody></a:tc><a:tc><a:txBody><a:bodyPr /><a:lstStyle /><a:p><a:pPr lvl="0" indent="0" marL="0" algn="ctr"><a:buNone /></a:pPr><a:r><a:rPr /><a:t>≈ 0.001–0.01</a:t></a:r></a:p></a:txBody></a:tc><a:tc><a:txBody><a:bodyPr /><a:lstStyle /><a:p><a:pPr lvl="0" indent="0" marL="0" algn="ctr"><a:buNone /></a:pPr><a:r><a:rPr /><a:t>≈ 0.0002–0.002</a:t></a:r></a:p></a:txBody></a:tc><a:tc><a:txBody><a:bodyPr /><a:lstStyle /><a:p><a:pPr lvl="0" indent="0" marL="0" algn="ctr"><a:buNone /></a:pPr><a:r><a:rPr /><a:t>kΩ (per □)</a:t></a:r></a:p></a:txBody></a:tc></a:tr><a:tr h="0"><a:tc><a:txBody><a:bodyPr /><a:lstStyle /><a:p><a:pPr lvl="0" indent="0" marL="0" algn="ctr"><a:buNone /></a:pPr><a:r><a:rPr b="1" /><a:t>費米波長</a:t></a:r><a:br /><a:r><a:rPr b="1" /><a:t>Fermi wavelength</a:t></a:r></a:p></a:txBody></a:tc><a:tc><a:txBody><a:bodyPr /><a:lstStyle /><a:p><a:pPr lvl="0" indent="0" marL="0" algn="ctr"><a:buNone /></a:pPr><a14:m><m:oMath xmlns:m="http://schemas.openxmlformats.org/officeDocument/2006/math"><m:sSub><m:e><m:r><m:t>λ</m:t></m:r></m:e><m:sub><m:r><m:t>F</m:t></m:r></m:sub></m:sSub><m:r><m:rPr><m:sty m:val="p" /></m:rPr><m:t>=</m:t></m:r><m:r><m:t>2</m:t></m:r><m:f><m:fPr><m:type m:val="bar" /></m:fPr><m:num><m:r><m:t>π</m:t></m:r></m:num><m:den><m:sSub><m:e><m:r><m:t>k</m:t></m:r></m:e><m:sub><m:r><m:t>F</m:t></m:r></m:sub></m:sSub></m:den></m:f></m:oMath></a14:m></a:p></a:txBody></a:tc><a:tc><a:txBody><a:bodyPr /><a:lstStyle /><a:p><a:pPr lvl="0" indent="0" marL="0" algn="ctr"><a:buNone /></a:pPr><a:r><a:rPr /><a:t>≈ 0.32 nm</a:t></a:r></a:p></a:txBody></a:tc><a:tc><a:txBody><a:bodyPr /><a:lstStyle /><a:p><a:pPr lvl="0" indent="0" marL="0" algn="ctr"><a:buNone /></a:pPr><a:r><a:rPr /><a:t>≈ 7–11 nm</a:t></a:r></a:p></a:txBody></a:tc><a:tc><a:txBody><a:bodyPr /><a:lstStyle /><a:p><a:pPr lvl="0" indent="0" marL="0" algn="ctr"><a:buNone /></a:pPr><a:r><a:rPr /><a:t>nm</a:t></a:r></a:p></a:txBody></a:tc></a:tr><a:tr h="0"><a:tc><a:txBody><a:bodyPr /><a:lstStyle /><a:p><a:pPr lvl="0" indent="0" marL="0" algn="ctr"><a:buNone /></a:pPr><a:r><a:rPr b="1" /><a:t>平均自由路徑</a:t></a:r><a:br /><a:r><a:rPr b="1" /><a:t>Mean-free path</a:t></a:r></a:p></a:txBody></a:tc><a:tc><a:txBody><a:bodyPr /><a:lstStyle /><a:p><a:pPr lvl="0" indent="0" marL="0" algn="ctr"><a:buNone /></a:pPr><a14:m><m:oMath xmlns:m="http://schemas.openxmlformats.org/officeDocument/2006/math"><m:sSub><m:e><m:r><m:t>l</m:t></m:r></m:e><m:sub><m:r><m:t>e</m:t></m:r></m:sub></m:sSub><m:r><m:rPr><m:sty m:val="p" /></m:rPr><m:t>=</m:t></m:r><m:sSub><m:e><m:r><m:t>v</m:t></m:r></m:e><m:sub><m:r><m:t>F</m:t></m:r></m:sub></m:sSub><m:r><m:t>τ</m:t></m:r></m:oMath></a14:m></a:p></a:txBody></a:tc><a:tc><a:txBody><a:bodyPr /><a:lstStyle /><a:p><a:pPr lvl="0" indent="0" marL="0" algn="ctr"><a:buNone /></a:pPr><a:r><a:rPr /><a:t>80–800</a:t></a:r></a:p></a:txBody></a:tc><a:tc><a:txBody><a:bodyPr /><a:lstStyle /><a:p><a:pPr lvl="0" indent="0" marL="0" algn="ctr"><a:buNone /></a:pPr><a:r><a:rPr /><a:t>180</a:t></a:r></a:p></a:txBody></a:tc><a:tc><a:txBody><a:bodyPr /><a:lstStyle /><a:p><a:pPr lvl="0" indent="0" marL="0" algn="ctr"><a:buNone /></a:pPr><a:r><a:rPr /><a:t>nm</a:t></a:r></a:p></a:txBody></a:tc></a:tr><a:tr h="0"><a:tc><a:txBody><a:bodyPr /><a:lstStyle /><a:p><a:pPr lvl="0" indent="0" marL="0" algn="ctr"><a:buNone /></a:pPr><a:r><a:rPr b="1" /><a:t>載子遷移率</a:t></a:r><a:br /><a:r><a:rPr b="1" /><a:t>Electron mobility</a:t></a:r></a:p></a:txBody></a:tc><a:tc><a:txBody><a:bodyPr /><a:lstStyle /><a:p><a:pPr lvl="0" indent="0" marL="0" algn="ctr"><a:buNone /></a:pPr><a14:m><m:oMath xmlns:m="http://schemas.openxmlformats.org/officeDocument/2006/math"><m:sSub><m:e><m:r><m:t>μ</m:t></m:r></m:e><m:sub><m:r><m:t>e</m:t></m:r></m:sub></m:sSub><m:r><m:rPr><m:sty m:val="p" /></m:rPr><m:t>=</m:t></m:r><m:f><m:fPr><m:type m:val="bar" /></m:fPr><m:num><m:sSub><m:e><m:r><m:t>v</m:t></m:r></m:e><m:sub><m:r><m:t>F</m:t></m:r></m:sub></m:sSub></m:num><m:den><m:sSub><m:e><m:r><m:t>l</m:t></m:r></m:e><m:sub><m:r><m:t>e</m:t></m:r></m:sub></m:sSub></m:den></m:f></m:oMath></a14:m></a:p></a:txBody></a:tc><a:tc><a:txBody><a:bodyPr /><a:lstStyle /><a:p><a:pPr lvl="0" indent="0" marL="0" algn="ctr"><a:buNone /></a:pPr><a:r><a:rPr /><a:t>≈ 1.25–1.55</a:t></a:r></a:p></a:txBody></a:tc><a:tc><a:txBody><a:bodyPr /><a:lstStyle /><a:p><a:pPr lvl="0" indent="0" marL="0" algn="ctr"><a:buNone /></a:pPr><a:r><a:rPr /><a:t>≈ 6.5–7.5</a:t></a:r></a:p></a:txBody></a:tc><a:tc><a:txBody><a:bodyPr /><a:lstStyle /><a:p><a:pPr lvl="0" indent="0" marL="0" algn="ctr"><a:buNone /></a:pPr><a:r><a:rPr /><a:t>cm²/Vs</a:t></a:r></a:p></a:txBody></a:tc></a:tr><a:tr h="0"><a:tc><a:txBody><a:bodyPr /><a:lstStyle /><a:p><a:pPr lvl="0" indent="0" marL="0" algn="ctr"><a:buNone /></a:pPr><a:r><a:rPr b="1" /><a:t>狄拉克點</a:t></a:r><a:br /><a:r><a:rPr b="1" /><a:t>Dirac point</a:t></a:r></a:p></a:txBody></a:tc><a:tc><a:txBody><a:bodyPr /><a:lstStyle /><a:p><a:pPr lvl="0" indent="0" marL="0" algn="ctr"><a:buNone /></a:pPr><a14:m><m:oMath xmlns:m="http://schemas.openxmlformats.org/officeDocument/2006/math"><m:sSub><m:e><m:r><m:t>E</m:t></m:r></m:e><m:sub><m:r><m:t>D</m:t></m:r></m:sub></m:sSub></m:oMath></a14:m></a:p></a:txBody></a:tc><a:tc><a:txBody><a:bodyPr /><a:lstStyle /><a:p><a:pPr lvl="0" indent="0" marL="0" algn="ctr"><a:buNone /></a:pPr><a:r><a:rPr /><a:t>≈ 0.32 eV</a:t></a:r></a:p></a:txBody></a:tc><a:tc><a:txBody><a:bodyPr /><a:lstStyle /><a:p><a:pPr lvl="0" indent="0" marL="0" algn="ctr"><a:buNone /></a:pPr><a:r><a:rPr /><a:t>≈ 0.32 eV</a:t></a:r></a:p></a:txBody></a:tc><a:tc><a:txBody><a:bodyPr /><a:lstStyle /><a:p><a:pPr lvl="0" indent="0" marL="0" algn="ctr"><a:buNone /></a:pPr><a:r><a:rPr /><a:t>eV</a:t></a:r></a:p></a:txBody></a:tc></a:tr><a:tr h="0"><a:tc><a:txBody><a:bodyPr /><a:lstStyle /><a:p><a:pPr lvl="0" indent="0" marL="0" algn="ctr"><a:buNone /></a:pPr><a:r><a:rPr b="1" /><a:t>超導相干長度</a:t></a:r><a:br /><a:r><a:rPr b="1" /><a:t>Superconducting coherence length</a:t></a:r></a:p></a:txBody></a:tc><a:tc><a:txBody><a:bodyPr /><a:lstStyle /><a:p><a:pPr lvl="0" indent="0" marL="0" algn="ctr"><a:buNone /></a:pPr><a14:m><m:oMath xmlns:m="http://schemas.openxmlformats.org/officeDocument/2006/math"><m:r><m:t>ξ</m:t></m:r></m:oMath></a14:m></a:p></a:txBody></a:tc><a:tc><a:txBody><a:bodyPr /><a:lstStyle /><a:p><a:pPr lvl="0" indent="0" marL="0" algn="ctr"><a:buNone /></a:pPr><a:r><a:rPr /><a:t>≈ 10 nm</a:t></a:r></a:p></a:txBody></a:tc><a:tc><a:txBody><a:bodyPr /><a:lstStyle /><a:p><a:pPr lvl="0" indent="0" marL="0" algn="ctr"><a:buNone /></a:pPr><a:r><a:rPr /><a:t>≈ 10 nm</a:t></a:r></a:p></a:txBody></a:tc><a:tc><a:txBody><a:bodyPr /><a:lstStyle /><a:p><a:pPr lvl="0" indent="0" marL="0" algn="ctr"><a:buNone /></a:pPr><a:r><a:rPr /><a:t>nm</a:t></a:r></a:p></a:txBody></a:tc></a:tr></a:tbl></a:graphicData></a:graphic></p:graphicFrame><p:sp><p:nvSpPr><p:cNvPr id="1" name="TextBox 3" /><p:cNvSpPr txBox="1" /><p:nvPr /></p:nvSpPr><p:spPr><a:xfrm><a:off x="3568700" y="4076700" /><a:ext cx="5105400" cy="508000" /></a:xfrm><a:prstGeom prst="rect"><a:avLst /></a:prstGeom><a:noFill /></p:spPr><p:txBody><a:bodyPr /><a:lstStyle /><a:p><a:pPr lvl="0" indent="0" marL="0" algn="ctr"><a:buNone /></a:pPr><a:r><a:rPr /><a:t>PtTe2、NbTi量子輸運參數表</a:t></a:r></a:p></p:txBody></p:sp></p:spTree></p:cSld>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參考文獻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面內磁場下1T相二碲化鉑約瑟夫森接面之電流-相位關係研究</dc:title>
  <dc:creator>徐道宜 (指導教授：邱奎霖 博士)</dc:creator>
  <cp:keywords/>
  <dcterms:created xsi:type="dcterms:W3CDTF">2026-01-02T06:59:08Z</dcterms:created>
  <dcterms:modified xsi:type="dcterms:W3CDTF">2026-01-02T06:59:08Z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ibliography">
    <vt:lpwstr>references_sanitized.bib</vt:lpwstr>
  </property>
  <property fmtid="{D5CDD505-2E9C-101B-9397-08002B2CF9AE}" pid="6" name="by-affiliation">
    <vt:lpwstr/>
  </property>
  <property fmtid="{D5CDD505-2E9C-101B-9397-08002B2CF9AE}" pid="7" name="by-author">
    <vt:lpwstr/>
  </property>
  <property fmtid="{D5CDD505-2E9C-101B-9397-08002B2CF9AE}" pid="8" name="date">
    <vt:lpwstr>2026-01-02</vt:lpwstr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institute">
    <vt:lpwstr>國立中山大學 物理學系</vt:lpwstr>
  </property>
  <property fmtid="{D5CDD505-2E9C-101B-9397-08002B2CF9AE}" pid="13" name="institutes">
    <vt:lpwstr/>
  </property>
  <property fmtid="{D5CDD505-2E9C-101B-9397-08002B2CF9AE}" pid="14" name="labels">
    <vt:lpwstr/>
  </property>
  <property fmtid="{D5CDD505-2E9C-101B-9397-08002B2CF9AE}" pid="15" name="subtitle">
    <vt:lpwstr>碩士學位論文口試</vt:lpwstr>
  </property>
  <property fmtid="{D5CDD505-2E9C-101B-9397-08002B2CF9AE}" pid="16" name="toc-title">
    <vt:lpwstr>Table of contents</vt:lpwstr>
  </property>
</Properties>
</file>