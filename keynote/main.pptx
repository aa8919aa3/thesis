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面內磁場下1T相二碲化鉑約瑟夫森接面之電流-相位關係研究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碩士學位論文口試</a:t>
            </a:r>
            <a:br/>
            <a:br/>
            <a:r>
              <a:rPr/>
              <a:t>徐道宜 (指導教授：邱奎霖 博士)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開場：面內磁場讓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接面成為可調式 CPR 平台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一分鐘摘要 (Executive Summary)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問題</a:t>
                </a:r>
                <a:r>
                  <a:rPr/>
                  <a:t>：拓樸半金屬接面的 CPR 難以被「連續調控」，現有研究缺乏直接量測。</a:t>
                </a:r>
              </a:p>
              <a:p>
                <a:pPr lvl="0"/>
                <a:r>
                  <a:rPr b="1"/>
                  <a:t>方法</a:t>
                </a:r>
                <a:r>
                  <a:rPr/>
                  <a:t>：以 </a:t>
                </a:r>
                <a:r>
                  <a:rPr b="1"/>
                  <a:t>非對稱 SQUID</a:t>
                </a:r>
                <a:r>
                  <a:rPr/>
                  <a:t> 作為相位偏壓探頭，量測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Φ</m:t>
                        </m:r>
                      </m:e>
                    </m:d>
                  </m:oMath>
                </a14:m>
                <a:r>
                  <a:rPr/>
                  <a:t> 並反推 CPR，掃描面內磁場向量。</a:t>
                </a:r>
              </a:p>
              <a:p>
                <a:pPr lvl="0"/>
                <a:r>
                  <a:rPr b="1"/>
                  <a:t>核心發現</a:t>
                </a:r>
                <a:r>
                  <a:rPr/>
                  <a:t>：面內磁場會放大 </a:t>
                </a:r>
                <a:r>
                  <a:rPr b="1"/>
                  <a:t>二階諧波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b="1"/>
                  <a:t>)</a:t>
                </a:r>
                <a:r>
                  <a:rPr/>
                  <a:t> 並產生相位偏移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，形成可調式 </a:t>
                </a:r>
                <a14:m>
                  <m:oMath xmlns:m="http://schemas.openxmlformats.org/officeDocument/2006/math">
                    <m:sSub>
                      <m:e>
                        <m:r>
                          <m:t>φ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接面。</a:t>
                </a:r>
              </a:p>
              <a:p>
                <a:pPr lvl="0"/>
                <a:r>
                  <a:rPr b="1"/>
                  <a:t>意涵</a:t>
                </a:r>
                <a:r>
                  <a:rPr/>
                  <a:t>：證實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可作為可程式化相位旋鈕，對超導二極體與拓樸量子元件具指標性。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研究問題與目標：回答「能否用磁場調控 CPR？」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定量重構 CPR</a:t>
                </a:r>
                <a:r>
                  <a:rPr/>
                  <a:t>：直接量測並拆解 </a:t>
                </a:r>
                <a14:m>
                  <m:oMath xmlns:m="http://schemas.openxmlformats.org/officeDocument/2006/math">
                    <m:r>
                      <m:t>I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φ</m:t>
                        </m:r>
                      </m:e>
                    </m:d>
                  </m:oMath>
                </a14:m>
                <a:r>
                  <a:rPr/>
                  <a:t> 的諧波成分，確認高階諧波的權重。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磁場調控機制</a:t>
                </a:r>
                <a:r>
                  <a:rPr/>
                  <a:t>：檢驗面內磁場對 CPR 形狀與相位的影響，建立可調旋鈕的實驗證據。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物理圖像</a:t>
                </a:r>
                <a:r>
                  <a:rPr/>
                  <a:t>：釐清 </a:t>
                </a:r>
                <a:r>
                  <a:rPr b="1"/>
                  <a:t>體相多能帶</a:t>
                </a:r>
                <a:r>
                  <a:rPr/>
                  <a:t> 與 </a:t>
                </a:r>
                <a:r>
                  <a:rPr b="1"/>
                  <a:t>拓樸表面態</a:t>
                </a:r>
                <a:r>
                  <a:rPr/>
                  <a:t> 的競合，評估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作為可調式量子元件的潛力。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簡報路線圖：先廣角掃描，再對關鍵發現深潛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Swath（前半）</a:t>
            </a:r>
            <a:r>
              <a:rPr/>
              <a:t>：建構研究背景、缺口與方法論，交代量測與樣品品質。</a:t>
            </a:r>
          </a:p>
          <a:p>
            <a:pPr lvl="0"/>
            <a:r>
              <a:rPr b="1"/>
              <a:t>Dive（中段）</a:t>
            </a:r>
            <a:r>
              <a:rPr/>
              <a:t>：聚焦兩個核心發現——干涉圖樣畸變與二階諧波增強，對應兩個主要質疑。</a:t>
            </a:r>
          </a:p>
          <a:p>
            <a:pPr lvl="0"/>
            <a:r>
              <a:rPr b="1"/>
              <a:t>收斂（後段）</a:t>
            </a:r>
            <a:r>
              <a:rPr/>
              <a:t>：討論意涵與限制，提出未來工作與備用投影片，讓委員可即時查核。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研究脈絡：缺乏可調式 CPR 的直接證據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Gap 與重要性：需要能被操控的 CPR 來驅動量子元件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拓樸半金屬 + 超導近接</a:t>
                </a:r>
                <a:r>
                  <a:rPr/>
                  <a:t> 被視為實現超導二極體與拓樸量子位元的候選平台，但 </a:t>
                </a:r>
                <a:r>
                  <a:rPr b="1"/>
                  <a:t>可連續調控的 CPR</a:t>
                </a:r>
                <a:r>
                  <a:rPr/>
                  <a:t> 實驗證據稀少。</a:t>
                </a:r>
              </a:p>
              <a:p>
                <a:pPr lvl="0"/>
                <a:r>
                  <a:rPr/>
                  <a:t>既有研究多聚焦於 </a:t>
                </a:r>
                <a:r>
                  <a:rPr b="1"/>
                  <a:t>約瑟夫森二極體效應 (JDE)</a:t>
                </a:r>
                <a:r>
                  <a:rPr/>
                  <a:t>，缺乏針對 </a:t>
                </a:r>
                <a:r>
                  <a:rPr b="1"/>
                  <a:t>高階諧波與相位偏移</a:t>
                </a:r>
                <a:r>
                  <a:rPr/>
                  <a:t> 的直接量測與模型驗證。</a:t>
                </a:r>
              </a:p>
              <a:p>
                <a:pPr lvl="0"/>
                <a:r>
                  <a:rPr/>
                  <a:t>本工作以 </a:t>
                </a:r>
                <a:r>
                  <a:rPr b="1"/>
                  <a:t>面內磁場</a:t>
                </a:r>
                <a:r>
                  <a:rPr/>
                  <a:t> 作為控制參數，驗證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接面 CPR 是否具備工程化的可調性。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理論支撐：Type-II DSM 與超導近接效應預期非正弦 CPR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第二類狄拉克半金屬 (Type-II DSM,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1"/>
                <a:r>
                  <a:rPr/>
                  <a:t>受晶體對稱性保護的 </a:t>
                </a:r>
                <a:r>
                  <a:rPr b="1"/>
                  <a:t>狄拉克錐</a:t>
                </a:r>
                <a:r>
                  <a:rPr/>
                  <a:t> 與 </a:t>
                </a:r>
                <a:r>
                  <a:rPr b="1"/>
                  <a:t>拓樸表面態</a:t>
                </a:r>
                <a:r>
                  <a:rPr/>
                  <a:t>，伴隨 </a:t>
                </a:r>
                <a:r>
                  <a:rPr b="1"/>
                  <a:t>多能帶 (Multiband)</a:t>
                </a:r>
                <a:r>
                  <a:rPr/>
                  <a:t> 輸運。</a:t>
                </a:r>
              </a:p>
              <a:p>
                <a:pPr lvl="0"/>
                <a:r>
                  <a:rPr b="1"/>
                  <a:t>超導近接效應 (Proximity Effect)</a:t>
                </a:r>
              </a:p>
              <a:p>
                <a:pPr lvl="1"/>
                <a:r>
                  <a:rPr/>
                  <a:t>在 </a:t>
                </a:r>
                <a:r>
                  <a:rPr b="1"/>
                  <a:t>S-DSM-S 接面</a:t>
                </a:r>
                <a:r>
                  <a:rPr/>
                  <a:t> 中，安德烈夫反射促成超導關聯穿透半金屬。</a:t>
                </a:r>
              </a:p>
              <a:p>
                <a:pPr lvl="1"/>
                <a:r>
                  <a:rPr/>
                  <a:t>高透明度或拓樸態可導致 </a:t>
                </a:r>
                <a:r>
                  <a:rPr b="1"/>
                  <a:t>非正弦 CPR</a:t>
                </a:r>
                <a:r>
                  <a:rPr/>
                  <a:t>：</a:t>
                </a:r>
                <a14:m>
                  <m:oMath xmlns:m="http://schemas.openxmlformats.org/officeDocument/2006/math">
                    <m:r>
                      <m:t>I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φ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sin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t>φ</m:t>
                        </m:r>
                      </m:e>
                    </m:d>
                  </m:oMath>
                </a14:m>
                <a:r>
                  <a:rPr/>
                  <a:t>，高階諧波反映內部相位結構。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量測策略：非對稱 SQUID 直接讀取 CPR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操作原理</a:t>
                </a:r>
                <a:r>
                  <a:rPr/>
                  <a:t>：設定 </a:t>
                </a:r>
                <a14:m>
                  <m:oMath xmlns:m="http://schemas.openxmlformats.org/officeDocument/2006/math">
                    <m:sSubSup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  <m:sup>
                        <m:r>
                          <m:t>R</m:t>
                        </m:r>
                        <m:r>
                          <m:t>e</m:t>
                        </m:r>
                        <m:r>
                          <m:t>f</m:t>
                        </m:r>
                      </m:sup>
                    </m:sSubSup>
                    <m:r>
                      <m:rPr>
                        <m:sty m:val="p"/>
                      </m:rPr>
                      <m:t>≫</m:t>
                    </m:r>
                    <m:sSubSup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  <m:sup>
                        <m:r>
                          <m:t>T</m:t>
                        </m:r>
                        <m:r>
                          <m:t>a</m:t>
                        </m:r>
                        <m:r>
                          <m:t>r</m:t>
                        </m:r>
                        <m:r>
                          <m:t>g</m:t>
                        </m:r>
                        <m:r>
                          <m:t>e</m:t>
                        </m:r>
                        <m:r>
                          <m:t>t</m:t>
                        </m:r>
                      </m:sup>
                    </m:sSubSup>
                  </m:oMath>
                </a14:m>
                <a:r>
                  <a:rPr/>
                  <a:t>，以強參考接面鎖定 </a:t>
                </a:r>
                <a14:m>
                  <m:oMath xmlns:m="http://schemas.openxmlformats.org/officeDocument/2006/math">
                    <m:sSub>
                      <m:e>
                        <m:r>
                          <m:t>φ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/</m:t>
                    </m:r>
                    <m:r>
                      <m:t>2</m:t>
                    </m:r>
                  </m:oMath>
                </a14:m>
                <a:r>
                  <a:rPr/>
                  <a:t>。</a:t>
                </a:r>
              </a:p>
              <a:p>
                <a:pPr lvl="0"/>
                <a:r>
                  <a:rPr b="1"/>
                  <a:t>相位掃描</a:t>
                </a:r>
                <a:r>
                  <a:rPr/>
                  <a:t>：外加磁通 </a:t>
                </a:r>
                <a14:m>
                  <m:oMath xmlns:m="http://schemas.openxmlformats.org/officeDocument/2006/math">
                    <m:sSub>
                      <m:e>
                        <m:r>
                          <m:t>Φ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線性掃描目標接面相位 </a:t>
                </a:r>
                <a14:m>
                  <m:oMath xmlns:m="http://schemas.openxmlformats.org/officeDocument/2006/math">
                    <m:sSub>
                      <m:e>
                        <m:r>
                          <m:t>φ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，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Φ</m:t>
                        </m:r>
                      </m:e>
                    </m:d>
                  </m:oMath>
                </a14:m>
                <a:r>
                  <a:rPr/>
                  <a:t> 即為 CPR 的映射。</a:t>
                </a:r>
              </a:p>
              <a:p>
                <a:pPr lvl="0"/>
                <a:r>
                  <a:rPr b="1"/>
                  <a:t>優勢</a:t>
                </a:r>
                <a:r>
                  <a:rPr/>
                  <a:t>：充當 </a:t>
                </a:r>
                <a:r>
                  <a:rPr b="1"/>
                  <a:t>相位偏壓探測器</a:t>
                </a:r>
                <a:r>
                  <a:rPr/>
                  <a:t>，以單次量測取得完整 CPR，符合白皮書「視覺化優先」與「快速定錨」原則。</a:t>
                </a:r>
              </a:p>
            </p:txBody>
          </p:sp>
        </mc:Choice>
      </mc:AlternateContent>
      <p:pic>
        <p:nvPicPr>
          <p:cNvPr descr="Images/SQUID_schemat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27600" y="1193800"/>
            <a:ext cx="347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研究設計：高透明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接面搭配低雜訊向量磁場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製程關鍵：確保低阻抗與均勻度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材料</a:t>
                </a:r>
                <a:r>
                  <a:rPr/>
                  <a:t>：1T-PtTe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單晶（助熔劑法生長）。</a:t>
                </a:r>
              </a:p>
              <a:p>
                <a:pPr lvl="0"/>
                <a:r>
                  <a:rPr b="1"/>
                  <a:t>流程</a:t>
                </a:r>
                <a:r>
                  <a:rPr/>
                  <a:t>：</a:t>
                </a:r>
              </a:p>
              <a:p>
                <a:pPr lvl="1" indent="-342900" marL="685800">
                  <a:buAutoNum type="arabicPeriod"/>
                </a:pPr>
                <a:r>
                  <a:rPr b="1"/>
                  <a:t>機械剝離</a:t>
                </a:r>
                <a:r>
                  <a:rPr/>
                  <a:t> 製得原子級厚度薄片。</a:t>
                </a:r>
              </a:p>
              <a:p>
                <a:pPr lvl="1" indent="-342900" marL="685800">
                  <a:buAutoNum type="arabicPeriod"/>
                </a:pPr>
                <a:r>
                  <a:rPr b="1"/>
                  <a:t>電子束微影 (EBL)</a:t>
                </a:r>
                <a:r>
                  <a:rPr/>
                  <a:t> 定義奈米電極圖案。</a:t>
                </a:r>
              </a:p>
              <a:p>
                <a:pPr lvl="1" indent="-342900" marL="685800">
                  <a:buAutoNum type="arabicPeriod"/>
                </a:pPr>
                <a:r>
                  <a:rPr b="1"/>
                  <a:t>原位離子銑削</a:t>
                </a:r>
                <a:r>
                  <a:rPr/>
                  <a:t> 清潔接面以降低接觸電阻。</a:t>
                </a:r>
              </a:p>
              <a:p>
                <a:pPr lvl="1" indent="-342900" marL="685800">
                  <a:buAutoNum type="arabicPeriod"/>
                </a:pPr>
                <a:r>
                  <a:rPr b="1"/>
                  <a:t>NbTi 濺鍍 (70–120 nm)</a:t>
                </a:r>
                <a:r>
                  <a:rPr/>
                  <a:t> 形成超導電極並維持側壁品質。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量測設定：向量磁場 + 濾波管線支撐 CPR 讀取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環境</a:t>
                </a:r>
                <a:r>
                  <a:rPr/>
                  <a:t>：Bluefors 稀釋制冷機 (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40</m:t>
                    </m:r>
                  </m:oMath>
                </a14:m>
                <a:r>
                  <a:rPr/>
                  <a:t> mK)，穩定低電子溫度。</a:t>
                </a:r>
              </a:p>
              <a:p>
                <a:pPr lvl="0"/>
                <a:r>
                  <a:rPr b="1"/>
                  <a:t>磁場</a:t>
                </a:r>
                <a:r>
                  <a:rPr/>
                  <a:t>：3D 向量超導磁鐵 (9-1-1 T)，可精確設定面內場方向。</a:t>
                </a:r>
              </a:p>
              <a:p>
                <a:pPr lvl="0"/>
                <a:r>
                  <a:rPr b="1"/>
                  <a:t>訊號鏈</a:t>
                </a:r>
                <a:r>
                  <a:rPr/>
                  <a:t>：</a:t>
                </a:r>
              </a:p>
              <a:p>
                <a:pPr lvl="1"/>
                <a:r>
                  <a:rPr/>
                  <a:t>多級濾波（QDevil + IR Filter）抑制熱雜訊。</a:t>
                </a:r>
              </a:p>
              <a:p>
                <a:pPr lvl="1"/>
                <a:r>
                  <a:rPr/>
                  <a:t>BPI 低雜訊放大器 + IVVI-rack（電池供電）確保高訊雜比。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設計重點</a:t>
            </a:r>
            <a:br/>
            <a:r>
              <a:rPr/>
              <a:t>極低電子溫度</a:t>
            </a:r>
            <a:br/>
            <a:r>
              <a:rPr/>
              <a:t>任意磁場向量</a:t>
            </a:r>
            <a:br/>
            <a:r>
              <a:rPr/>
              <a:t>低噪訊讀出路徑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數據品質控管：I_c(Φ) → CPR 重構的可信度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CPR 重構流程</a:t>
                </a:r>
                <a:r>
                  <a:rPr/>
                  <a:t>：量測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Φ</m:t>
                        </m:r>
                      </m:e>
                    </m:d>
                  </m:oMath>
                </a14:m>
                <a:r>
                  <a:rPr/>
                  <a:t>，以諧波展開模型擬合，提取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。</a:t>
                </a:r>
              </a:p>
              <a:p>
                <a:pPr lvl="0"/>
                <a:r>
                  <a:rPr b="1"/>
                  <a:t>交叉驗證</a:t>
                </a:r>
                <a:r>
                  <a:rPr/>
                  <a:t>：多重安德烈夫反射 (MAR) 分析得到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0.97</m:t>
                    </m:r>
                  </m:oMath>
                </a14:m>
                <a:r>
                  <a:rPr/>
                  <a:t> meV、</a:t>
                </a:r>
                <a14:m>
                  <m:oMath xmlns:m="http://schemas.openxmlformats.org/officeDocument/2006/math">
                    <m:r>
                      <m:t>τ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0.63</m:t>
                    </m:r>
                  </m:oMath>
                </a14:m>
                <a:r>
                  <a:rPr/>
                  <a:t>，與 CPR 擬合所需透明度一致。</a:t>
                </a:r>
              </a:p>
              <a:p>
                <a:pPr lvl="0"/>
                <a:r>
                  <a:rPr b="1"/>
                  <a:t>錯誤防範</a:t>
                </a:r>
                <a:r>
                  <a:rPr/>
                  <a:t>：控制磁場與樣品座標角度（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≈</m:t>
                    </m:r>
                    <m:sSup>
                      <m:e>
                        <m:r>
                          <m:t>121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</m:oMath>
                </a14:m>
                <a:r>
                  <a:rPr/>
                  <a:t>），避免投影誤差，符合白皮書「方法論防禦」要求。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核心結果：面內磁場重塑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CPR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基線確認：I-V 與 MAR 顯示高透明接面</a:t>
            </a:r>
          </a:p>
        </p:txBody>
      </p:sp>
      <p:pic>
        <p:nvPicPr>
          <p:cNvPr descr="Images/run_33_expert_vis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I-V</a:t>
                </a:r>
                <a:r>
                  <a:rPr/>
                  <a:t>：清晰超電流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24</m:t>
                    </m:r>
                    <m:r>
                      <m:t>μ</m:t>
                    </m:r>
                    <m:r>
                      <m:t>A</m:t>
                    </m:r>
                  </m:oMath>
                </a14:m>
                <a:r>
                  <a:rPr/>
                  <a:t>)，遲滯顯示欠阻尼。</a:t>
                </a:r>
              </a:p>
              <a:p>
                <a:pPr lvl="0"/>
                <a:r>
                  <a:rPr b="1"/>
                  <a:t>MAR</a:t>
                </a:r>
                <a:r>
                  <a:rPr/>
                  <a:t>：次諧波能隙結構 (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t>Δ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  <m:r>
                      <m:t>e</m:t>
                    </m:r>
                  </m:oMath>
                </a14:m>
                <a:r>
                  <a:rPr/>
                  <a:t>) 清楚，推得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0.97</m:t>
                    </m:r>
                  </m:oMath>
                </a14:m>
                <a:r>
                  <a:rPr/>
                  <a:t> meV, </a:t>
                </a:r>
                <a14:m>
                  <m:oMath xmlns:m="http://schemas.openxmlformats.org/officeDocument/2006/math">
                    <m:r>
                      <m:t>τ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0.63</m:t>
                    </m:r>
                  </m:oMath>
                </a14:m>
                <a:r>
                  <a:rPr/>
                  <a:t>，支撐高透明度假設。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零場干涉：對稱 Fraunhofer 顯示均勻 CPR</a:t>
            </a:r>
          </a:p>
        </p:txBody>
      </p:sp>
      <p:pic>
        <p:nvPicPr>
          <p:cNvPr descr="Images/Ic_Norm_354_40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干涉型態</a:t>
                </a:r>
                <a:r>
                  <a:rPr/>
                  <a:t>：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時高度對稱，形式接近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rPr>
                            <m:nor/>
                            <m:sty m:val="p"/>
                          </m:rPr>
                          <m:t>sinc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Φ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。</a:t>
                </a:r>
              </a:p>
              <a:p>
                <a:pPr lvl="0"/>
                <a:r>
                  <a:rPr b="1"/>
                  <a:t>意義</a:t>
                </a:r>
                <a:r>
                  <a:rPr/>
                  <a:t>：證實接面內部超電流密度分佈 </a:t>
                </a:r>
                <a:r>
                  <a:rPr b="1"/>
                  <a:t>均勻</a:t>
                </a:r>
                <a:r>
                  <a:rPr/>
                  <a:t>，排除結構缺陷干擾後續磁場實驗。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Deep Dive 1：面內磁場扭曲干涉 → CPR 變形</a:t>
            </a:r>
          </a:p>
        </p:txBody>
      </p:sp>
      <p:pic>
        <p:nvPicPr>
          <p:cNvPr descr="Images/fraunhofer_evolution_60mT_filtered_linear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25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觀察</a:t>
                </a:r>
                <a:r>
                  <a:rPr/>
                  <a:t>：施加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</m:oMath>
                </a14:m>
                <a:r>
                  <a:rPr/>
                  <a:t> 後，干涉圖樣失去對稱。</a:t>
                </a:r>
              </a:p>
              <a:p>
                <a:pPr lvl="1"/>
                <a:r>
                  <a:rPr/>
                  <a:t>節點偏移 (Node Shift)、包絡線畸變。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bSup>
                    <m:r>
                      <m:rPr>
                        <m:sty m:val="p"/>
                      </m:rPr>
                      <m:t>≠</m:t>
                    </m:r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Sup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，出現二極體式非互易訊號。</a:t>
                </a:r>
              </a:p>
              <a:p>
                <a:pPr lvl="0"/>
                <a:r>
                  <a:rPr b="1"/>
                  <a:t>推論</a:t>
                </a:r>
                <a:r>
                  <a:rPr/>
                  <a:t>：面內磁場正在改變 </a:t>
                </a:r>
                <a:r>
                  <a:rPr b="1"/>
                  <a:t>CPR 形狀與相位</a:t>
                </a:r>
                <a:r>
                  <a:rPr/>
                  <a:t>，需要模型化驗證。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角度掃描：各向異性證實磁場耦合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</m:oMath>
                </a14:m>
                <a:r>
                  <a:rPr/>
                  <a:t> 效應顯著依賴於角度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。</a:t>
                </a:r>
              </a:p>
              <a:p>
                <a:pPr lvl="0"/>
                <a:r>
                  <a:rPr/>
                  <a:t>實驗室座標與樣品座標需校正（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≈</m:t>
                    </m:r>
                    <m:sSup>
                      <m:e>
                        <m:r>
                          <m:t>121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</m:oMath>
                </a14:m>
                <a:r>
                  <a:rPr/>
                  <a:t>），確保相位掃描正確。</a:t>
                </a:r>
              </a:p>
            </p:txBody>
          </p:sp>
        </mc:Choice>
      </mc:AlternateContent>
      <p:pic>
        <p:nvPicPr>
          <p:cNvPr descr="Images/coordinate_system_schematic_003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78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模型選擇：諧波展開優於純透明度模型</a:t>
            </a:r>
          </a:p>
        </p:txBody>
      </p:sp>
      <p:pic>
        <p:nvPicPr>
          <p:cNvPr descr="Images/CPR_Harmonics_vs_Tau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87500"/>
            <a:ext cx="4038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排除純透明度模型</a:t>
                </a:r>
                <a:r>
                  <a:rPr/>
                  <a:t>：觀測到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0.25</m:t>
                    </m:r>
                  </m:oMath>
                </a14:m>
                <a:r>
                  <a:rPr/>
                  <a:t>，若以透明度解釋需 </a:t>
                </a:r>
                <a14:m>
                  <m:oMath xmlns:m="http://schemas.openxmlformats.org/officeDocument/2006/math">
                    <m:r>
                      <m:t>τ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0.9</m:t>
                    </m:r>
                  </m:oMath>
                </a14:m>
                <a:r>
                  <a:rPr/>
                  <a:t>，與 MAR 得到的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≈</m:t>
                    </m:r>
                    <m:r>
                      <m:t>0.6</m:t>
                    </m:r>
                  </m:oMath>
                </a14:m>
                <a:r>
                  <a:rPr/>
                  <a:t> 不符。</a:t>
                </a:r>
              </a:p>
              <a:p>
                <a:pPr lvl="0"/>
                <a:r>
                  <a:rPr b="1"/>
                  <a:t>選擇諧波展開</a:t>
                </a:r>
                <a:r>
                  <a:rPr/>
                  <a:t>：</a:t>
                </a:r>
                <a14:m>
                  <m:oMath xmlns:m="http://schemas.openxmlformats.org/officeDocument/2006/math">
                    <m:r>
                      <m:t>I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φ</m:t>
                        </m:r>
                      </m:e>
                    </m:d>
                    <m:r>
                      <m:rPr>
                        <m:sty m:val="p"/>
                      </m:rPr>
                      <m:t>≈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sin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φ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sin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  <m:r>
                          <m:t>φ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δ</m:t>
                        </m:r>
                      </m:e>
                    </m:d>
                  </m:oMath>
                </a14:m>
                <a:r>
                  <a:rPr/>
                  <a:t>，以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 描述 TRS 破缺並量化二階諧波。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Deep Dive 2：高面內場下二階諧波與相位差的崛起</a:t>
            </a:r>
          </a:p>
        </p:txBody>
      </p:sp>
      <p:pic>
        <p:nvPicPr>
          <p:cNvPr descr="Images/cpr_fit_508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4038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擬合 (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180</m:t>
                    </m:r>
                  </m:oMath>
                </a14:m>
                <a:r>
                  <a:rPr b="1"/>
                  <a:t> mT)</a:t>
                </a:r>
                <a:r>
                  <a:rPr/>
                  <a:t>：諧波相位可調模型貼合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Φ</m:t>
                        </m:r>
                      </m:e>
                    </m:d>
                  </m:oMath>
                </a14:m>
                <a:r>
                  <a:rPr/>
                  <a:t>。</a:t>
                </a:r>
              </a:p>
              <a:p>
                <a:pPr lvl="0"/>
                <a:r>
                  <a:rPr b="1"/>
                  <a:t>關鍵發現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顯著增強，支持非正弦 CPR。</a:t>
                </a:r>
              </a:p>
              <a:p>
                <a:pPr lvl="1"/>
                <a:r>
                  <a:rPr/>
                  <a:t>相位差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0</m:t>
                    </m:r>
                  </m:oMath>
                </a14:m>
                <a:r>
                  <a:rPr/>
                  <a:t>，對應 </a:t>
                </a:r>
                <a14:m>
                  <m:oMath xmlns:m="http://schemas.openxmlformats.org/officeDocument/2006/math">
                    <m:sSub>
                      <m:e>
                        <m:r>
                          <m:t>φ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偏移，與干涉畸變一致。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收斂：面內磁場是 CPR 的可調旋鈕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磁場作為「調控旋鈕」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</m:oMath>
                </a14:m>
                <a:r>
                  <a:rPr/>
                  <a:t> 直接耦合到接面中的安德烈夫束縛態。</a:t>
                </a:r>
              </a:p>
              <a:p>
                <a:pPr lvl="0"/>
                <a:r>
                  <a:rPr b="1"/>
                  <a:t>主要證據</a:t>
                </a:r>
              </a:p>
              <a:p>
                <a:pPr lvl="1"/>
                <a:r>
                  <a:rPr/>
                  <a:t>夫朗和費圖樣的對稱性破缺。</a:t>
                </a:r>
              </a:p>
              <a:p>
                <a:pPr lvl="1"/>
                <a:r>
                  <a:rPr/>
                  <a:t>CPR 中 </a:t>
                </a:r>
                <a:r>
                  <a:rPr b="1"/>
                  <a:t>二階諧波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b="1"/>
                  <a:t>)</a:t>
                </a:r>
                <a:r>
                  <a:rPr/>
                  <a:t> 與 </a:t>
                </a:r>
                <a:r>
                  <a:rPr b="1"/>
                  <a:t>相位差 (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 b="1"/>
                  <a:t>)</a:t>
                </a:r>
                <a:r>
                  <a:rPr/>
                  <a:t> 的顯著演化。</a:t>
                </a:r>
              </a:p>
              <a:p>
                <a:pPr lvl="0"/>
                <a:r>
                  <a:rPr b="1"/>
                  <a:t>結論</a:t>
                </a:r>
              </a:p>
              <a:p>
                <a:pPr lvl="1"/>
                <a:r>
                  <a:rPr/>
                  <a:t>證實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接面具備 </a:t>
                </a:r>
                <a:r>
                  <a:rPr b="1"/>
                  <a:t>高度可調的非正弦 CPR</a:t>
                </a:r>
                <a:r>
                  <a:rPr/>
                  <a:t>。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討論與意涵：磁場耦合 ABS，形塑非正弦 CPR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機制判讀：諧波相位差捕捉 TRS 破缺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現象對應</a:t>
                </a:r>
                <a:r>
                  <a:rPr/>
                  <a:t>：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r>
                      <m:t>0</m:t>
                    </m:r>
                  </m:oMath>
                </a14:m>
                <a:r>
                  <a:rPr/>
                  <a:t> 時干涉畸變、</a:t>
                </a:r>
                <a14:m>
                  <m:oMath xmlns:m="http://schemas.openxmlformats.org/officeDocument/2006/math">
                    <m:sSubSup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bSup>
                    <m:r>
                      <m:rPr>
                        <m:sty m:val="p"/>
                      </m:rPr>
                      <m:t>≠</m:t>
                    </m:r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Sup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 皆指向時間反演對稱破缺。</a:t>
                </a:r>
              </a:p>
              <a:p>
                <a:pPr lvl="0"/>
                <a:r>
                  <a:rPr b="1"/>
                  <a:t>模型比較</a:t>
                </a:r>
                <a:r>
                  <a:rPr/>
                  <a:t>：</a:t>
                </a:r>
              </a:p>
              <a:p>
                <a:pPr lvl="1"/>
                <a:r>
                  <a:rPr/>
                  <a:t>透明度模型需 </a:t>
                </a:r>
                <a14:m>
                  <m:oMath xmlns:m="http://schemas.openxmlformats.org/officeDocument/2006/math">
                    <m:r>
                      <m:t>τ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0.9</m:t>
                    </m:r>
                  </m:oMath>
                </a14:m>
                <a:r>
                  <a:rPr/>
                  <a:t> 才能產生足夠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，與實測 </a:t>
                </a:r>
                <a14:m>
                  <m:oMath xmlns:m="http://schemas.openxmlformats.org/officeDocument/2006/math">
                    <m:r>
                      <m:t>τ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0.6</m:t>
                    </m:r>
                  </m:oMath>
                </a14:m>
                <a:r>
                  <a:rPr/>
                  <a:t> 不符。</a:t>
                </a:r>
              </a:p>
              <a:p>
                <a:pPr lvl="1"/>
                <a:r>
                  <a:rPr/>
                  <a:t>諧波展開模型藉由相位差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 同時描述高階諧波與不對稱，與實驗吻合。</a:t>
                </a:r>
              </a:p>
              <a:p>
                <a:pPr lvl="0"/>
                <a:r>
                  <a:rPr b="1"/>
                  <a:t>結論</a:t>
                </a:r>
                <a:r>
                  <a:rPr/>
                  <a:t>：面內磁場耦合 </a:t>
                </a:r>
                <a:r>
                  <a:rPr b="1"/>
                  <a:t>安德烈夫束縛態 (ABS)</a:t>
                </a:r>
                <a:r>
                  <a:rPr/>
                  <a:t>，在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中誘發可調式 </a:t>
                </a:r>
                <a14:m>
                  <m:oMath xmlns:m="http://schemas.openxmlformats.org/officeDocument/2006/math">
                    <m:sSub>
                      <m:e>
                        <m:r>
                          <m:t>φ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行為。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學術與實務意涵：可調式 CPR 為拓樸元件奠基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學術</a:t>
            </a:r>
            <a:r>
              <a:rPr/>
              <a:t>：提供 Type-II DSM 在超導近接下的實驗證據，量化高階諧波與相位偏移，填補 CPR 可調性的缺口。</a:t>
            </a:r>
          </a:p>
          <a:p>
            <a:pPr lvl="0"/>
            <a:r>
              <a:rPr b="1"/>
              <a:t>實務</a:t>
            </a:r>
            <a:r>
              <a:rPr/>
              <a:t>：磁場即可設定 CPR 形狀，對 </a:t>
            </a:r>
            <a:r>
              <a:rPr b="1"/>
              <a:t>超導二極體</a:t>
            </a:r>
            <a:r>
              <a:rPr/>
              <a:t>、</a:t>
            </a:r>
            <a:r>
              <a:rPr b="1"/>
              <a:t>可程式化相位邏輯</a:t>
            </a:r>
            <a:r>
              <a:rPr/>
              <a:t>、</a:t>
            </a:r>
            <a:r>
              <a:rPr b="1"/>
              <a:t>拓樸量子位元</a:t>
            </a:r>
            <a:r>
              <a:rPr/>
              <a:t> 的相位操控具直接可行性。</a:t>
            </a:r>
          </a:p>
          <a:p>
            <a:pPr lvl="0"/>
            <a:r>
              <a:rPr b="1"/>
              <a:t>展示策略</a:t>
            </a:r>
            <a:r>
              <a:rPr/>
              <a:t>：依白皮書建議，以圖表凸顯「相位旋鈕」效果，口試時可快速定錨委員關注焦點。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限制與風險：製程與均勻度仍需優化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製程</a:t>
            </a:r>
            <a:r>
              <a:rPr/>
              <a:t>：側壁沉積可能形成並聯路徑；TMD 易氧化，需嚴格原位清洗與側壁保護。</a:t>
            </a:r>
          </a:p>
          <a:p>
            <a:pPr lvl="0"/>
            <a:r>
              <a:rPr b="1"/>
              <a:t>量測</a:t>
            </a:r>
            <a:r>
              <a:rPr/>
              <a:t>：接面均勻度影響干涉對比度；面內磁場角度校正仍是誤差源。</a:t>
            </a:r>
          </a:p>
          <a:p>
            <a:pPr lvl="0"/>
            <a:r>
              <a:rPr b="1"/>
              <a:t>未來優化</a:t>
            </a:r>
            <a:r>
              <a:rPr/>
              <a:t>：細調離子銑削、加入防護層，並擴充角度與溫度掃描，以強化方法論防禦。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收斂與下一步：PtTe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展現可調式 CPR 平台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主要回答：磁場可重塑 CPR 並建立相位偏壓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高品質平台</a:t>
                </a:r>
                <a:r>
                  <a:rPr/>
                  <a:t>：以非對稱 SQUID 量測高透明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接面，完成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Swath</m:t>
                    </m:r>
                  </m:oMath>
                </a14:m>
                <a:r>
                  <a:rPr/>
                  <a:t> 階段的品質驗證。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非正弦 CPR</a:t>
                </a:r>
                <a:r>
                  <a:rPr/>
                  <a:t>：直接觀測到顯著 </a:t>
                </a:r>
                <a:r>
                  <a:rPr b="1"/>
                  <a:t>二階諧波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，並以諧波模型量化相位差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。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磁場調控</a:t>
                </a:r>
                <a:r>
                  <a:rPr/>
                  <a:t>：證實面內磁場可連續調整 CPR（</a:t>
                </a:r>
                <a14:m>
                  <m:oMath xmlns:m="http://schemas.openxmlformats.org/officeDocument/2006/math">
                    <m:sSub>
                      <m:e>
                        <m:r>
                          <m:t>φ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偏移），為可程式化超導元件提供相位旋鈕。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下一步：深化機制並向應用推進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機制釐清</a:t>
            </a:r>
            <a:r>
              <a:rPr/>
              <a:t>：溫度依賴量測以區分體相與表面態；Shapiro steps 驗證 AC 約瑟夫森效應。</a:t>
            </a:r>
          </a:p>
          <a:p>
            <a:pPr lvl="0"/>
            <a:r>
              <a:rPr b="1"/>
              <a:t>應用路線</a:t>
            </a:r>
            <a:r>
              <a:rPr/>
              <a:t>：邁向 </a:t>
            </a:r>
            <a:r>
              <a:rPr b="1"/>
              <a:t>超導二極體</a:t>
            </a:r>
            <a:r>
              <a:rPr/>
              <a:t> 與 </a:t>
            </a:r>
            <a:r>
              <a:rPr b="1"/>
              <a:t>拓樸量子位元</a:t>
            </a:r>
            <a:r>
              <a:rPr/>
              <a:t>，探索零磁場下的非互易與相位操控。</a:t>
            </a:r>
          </a:p>
          <a:p>
            <a:pPr lvl="0"/>
            <a:r>
              <a:rPr b="1"/>
              <a:t>資料強化</a:t>
            </a:r>
            <a:r>
              <a:rPr/>
              <a:t>：擴充角度與場強掃描，與白皮書強調的「備用投影片」策略搭配，應對委員質疑。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臨場策略：對齊白皮書的收尾與 Q&amp;A 節奏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結尾重申核心貢獻與可調性，並預告備用投影片涵蓋樣品統計、完整 CPR 擬合與檢定結果。</a:t>
            </a:r>
          </a:p>
          <a:p>
            <a:pPr lvl="0"/>
            <a:r>
              <a:rPr/>
              <a:t>Q&amp;A 將依「承認限制→合理辯護」話術回應方法論挑戰，確保展演與文件一致。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備用投影片：Q&amp;A 即時切換 (Backup Slides)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備用投影片：委員質疑時的數據佐證</a:t>
            </a:r>
          </a:p>
        </p:txBody>
      </p:sp>
    </p:spTree>
  </p:cSld>
</p:sld>
</file>

<file path=ppt/slides/slide3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備查：樣品統計與補充分析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依白皮書建議，本區保留可即時切換的佐證表與補充參數。</a:t></a:r></a:p><a:p><a:pPr lvl="0" indent="0" marL="0"><a:spcBef><a:spcPts val="3000" /></a:spcBef><a:buNone /></a:pPr><a:r><a:rPr b="1" /><a:t>樣品詳細資訊</a:t></a:r></a:p><a:p><a:pPr lvl="0" indent="0" marL="0"><a:buNone /></a:pPr><a:r><a:rPr /><a:t>樣品詳細資訊</a:t></a:r></a:p><a:p><a:pPr lvl="0" indent="0" marL="0"><a:buNone /></a:pPr><a:r><a:rPr /><a:t>樣品編號</a:t></a:r></a:p><a:p><a:pPr lvl="0" indent="0" marL="0"><a:buNone /></a:pPr><a:r><a:rPr /><a:t>厚度(nm)</a:t></a:r></a:p><a:p><a:pPr lvl="0" indent="0" marL="0"><a:buNone /></a:pPr><a:r><a:rPr /><a:t>接面寬度(μm)</a:t></a:r></a:p><a:p><a:pPr lvl="0" indent="0" marL="0"><a:buNone /></a:pPr><a:r><a:rPr /><a:t>參考接面長度(μm)</a:t></a:r></a:p><a:p><a:pPr lvl="0" indent="0" marL="0"><a:buNone /></a:pPr><a:r><a:rPr /><a:t>目標接面長度(μm)</a:t></a:r></a:p><a:p><a:pPr lvl="0" indent="0" marL="0"><a:buNone /></a:pPr><a:r><a:rPr /><a:t>臨界電流(μA)</a:t></a:r></a:p><a:p><a:pPr lvl="0" indent="0" marL="0"><a:buNone /></a:pPr><a:r><a:rPr /><a:t>重捕電流(μA)</a:t></a:r></a:p><a:p><a:pPr lvl="0" indent="0" marL="0"><a:buNone /></a:pPr><a:r><a:rPr /><a:t>正常態電阻(Ω)</a:t></a:r></a:p><a:p><a:pPr lvl="0" indent="0" marL="0"><a:buNone /></a:pPr><a:r><a:rPr /><a:t>IcRn (μV)</a:t></a:r></a:p><a:p><a:pPr lvl="0" indent="0" marL="0"><a:buNone /></a:pPr><a:r><a:rPr /><a:t>二極體效率(η)</a:t></a:r></a:p><a:p><a:pPr lvl="0" indent="0" marL="0"><a:buNone /></a:pPr><a:r><a:rPr /><a:t>鈮鈦厚度(nm)</a:t></a:r></a:p><a:p><a:pPr lvl="0" indent="0" marL="0"><a:buNone /></a:pPr><a:r><a:rPr /><a:t>備註</a:t></a:r></a:p><a:p><a:pPr lvl="0" indent="0" marL="0"><a:buNone /></a:pPr><a:r><a:rPr /><a:t>003-2</a:t></a:r></a:p><a:p><a:pPr lvl="0" indent="0" marL="0"><a:buNone /></a:pPr><a:r><a:rPr /><a:t>21.17</a:t></a:r></a:p><a:p><a:pPr lvl="0" indent="0" marL="0"><a:buNone /></a:pPr><a:r><a:rPr /><a:t>1.16</a:t></a:r></a:p><a:p><a:pPr lvl="0" indent="0" marL="0"><a:buNone /></a:pPr><a:r><a:rPr /><a:t>0.40</a:t></a:r></a:p><a:p><a:pPr lvl="0" indent="0" marL="0"><a:buNone /></a:pPr><a:r><a:rPr /><a:t>0.73</a:t></a:r></a:p><a:p><a:pPr lvl="0" indent="0" marL="0"><a:buNone /></a:pPr><a:r><a:rPr /><a:t>19.1</a:t></a:r></a:p><a:p><a:pPr lvl="0" indent="0" marL="0"><a:buNone /></a:pPr><a:r><a:rPr /><a:t>3</a:t></a:r></a:p><a:p><a:pPr lvl="0" indent="0" marL="0"><a:buNone /></a:pPr><a:r><a:rPr /><a:t>1.92</a:t></a:r></a:p><a:p><a:pPr lvl="0" indent="0" marL="0"><a:buNone /></a:pPr><a:r><a:rPr /><a:t>36.6</a:t></a:r></a:p><a:p><a:pPr lvl="0" indent="0" marL="0"><a:buNone /></a:pPr><a:r><a:rPr /><a:t>150</a:t></a:r></a:p><a:p><a:pPr lvl="0" indent="0" marL="0"><a:buNone /></a:pPr><a:r><a:rPr /><a:t>003-3</a:t></a:r></a:p><a:p><a:pPr lvl="0" indent="0" marL="0"><a:buNone /></a:pPr><a:r><a:rPr /><a:t>27.79</a:t></a:r></a:p><a:p><a:pPr lvl="0" indent="0" marL="0"><a:buNone /></a:pPr><a:r><a:rPr /><a:t>0.88</a:t></a:r></a:p><a:p><a:pPr lvl="0" indent="0" marL="0"><a:buNone /></a:pPr><a:r><a:rPr /><a:t>0.33</a:t></a:r></a:p><a:p><a:pPr lvl="0" indent="0" marL="0"><a:buNone /></a:pPr><a:r><a:rPr /><a:t>0.65</a:t></a:r></a:p><a:p><a:pPr lvl="0" indent="0" marL="0"><a:buNone /></a:pPr><a:r><a:rPr /><a:t>14.5</a:t></a:r></a:p><a:p><a:pPr lvl="0" indent="0" marL="0"><a:buNone /></a:pPr><a:r><a:rPr /><a:t>1.5</a:t></a:r></a:p><a:p><a:pPr lvl="0" indent="0" marL="0"><a:buNone /></a:pPr><a:r><a:rPr /><a:t>3.24</a:t></a:r></a:p><a:p><a:pPr lvl="0" indent="0" marL="0"><a:buNone /></a:pPr><a:r><a:rPr /><a:t>46.9</a:t></a:r></a:p><a:p><a:pPr lvl="0" indent="0" marL="0"><a:buNone /></a:pPr><a:r><a:rPr /><a:t>150</a:t></a:r></a:p><a:p><a:pPr lvl="0" indent="0" marL="0"><a:buNone /></a:pPr><a:r><a:rPr /><a:t>004-1</a:t></a:r></a:p><a:p><a:pPr lvl="0" indent="0" marL="0"><a:buNone /></a:pPr><a:r><a:rPr /><a:t>1.26</a:t></a:r></a:p><a:p><a:pPr lvl="0" indent="0" marL="0"><a:buNone /></a:pPr><a:r><a:rPr /><a:t>0.26</a:t></a:r></a:p><a:p><a:pPr lvl="0" indent="0" marL="0"><a:buNone /></a:pPr><a:r><a:rPr /><a:t>0.68</a:t></a:r></a:p><a:p><a:pPr lvl="0" indent="0" marL="0"><a:buNone /></a:pPr><a:r><a:rPr /><a:t>19.4</a:t></a:r></a:p><a:p><a:pPr lvl="0" indent="0" marL="0"><a:buNone /></a:pPr><a:r><a:rPr /><a:t>16</a:t></a:r></a:p><a:p><a:pPr lvl="0" indent="0" marL="0"><a:buNone /></a:pPr><a:r><a:rPr /><a:t>11.17</a:t></a:r></a:p><a:p><a:pPr lvl="0" indent="0" marL="0"><a:buNone /></a:pPr><a:r><a:rPr /><a:t>217.1</a:t></a:r></a:p><a:p><a:pPr lvl="0" indent="0" marL="0"><a:buNone /></a:pPr><a:r><a:rPr /><a:t>70</a:t></a:r></a:p><a:p><a:pPr lvl="0" indent="0" marL="0"><a:buNone /></a:pPr><a:r><a:rPr /><a:t>Only Ref. JJ</a:t></a:r></a:p><a:p><a:pPr lvl="0" indent="0" marL="0"><a:buNone /></a:pPr><a:r><a:rPr /><a:t>004-2</a:t></a:r></a:p><a:p><a:pPr lvl="0" indent="0" marL="0"><a:buNone /></a:pPr><a:r><a:rPr /><a:t>0.56</a:t></a:r></a:p><a:p><a:pPr lvl="0" indent="0" marL="0"><a:buNone /></a:pPr><a:r><a:rPr /><a:t>0.17</a:t></a:r></a:p><a:p><a:pPr lvl="0" indent="0" marL="0"><a:buNone /></a:pPr><a:r><a:rPr /><a:t>0.67</a:t></a:r></a:p><a:p><a:pPr lvl="0" indent="0" marL="0"><a:buNone /></a:pPr><a:r><a:rPr /><a:t>32.5</a:t></a:r></a:p><a:p><a:pPr lvl="0" indent="0" marL="0"><a:buNone /></a:pPr><a:r><a:rPr /><a:t>30</a:t></a:r></a:p><a:p><a:pPr lvl="0" indent="0" marL="0"><a:buNone /></a:pPr><a:r><a:rPr /><a:t>22.29</a:t></a:r></a:p><a:p><a:pPr lvl="0" indent="0" marL="0"><a:buNone /></a:pPr><a:r><a:rPr /><a:t>725.1</a:t></a:r></a:p><a:p><a:pPr lvl="0" indent="0" marL="0"><a:buNone /></a:pPr><a:r><a:rPr /><a:t>70</a:t></a:r></a:p><a:p><a:pPr lvl="0" indent="0" marL="0"><a:buNone /></a:pPr><a:r><a:rPr /><a:t>004-3</a:t></a:r></a:p><a:p><a:pPr lvl="0" indent="0" marL="0"><a:buNone /></a:pPr><a:r><a:rPr /><a:t>1.34</a:t></a:r></a:p><a:p><a:pPr lvl="0" indent="0" marL="0"><a:buNone /></a:pPr><a:r><a:rPr /><a:t>0.24</a:t></a:r></a:p><a:p><a:pPr lvl="0" indent="0" marL="0"><a:buNone /></a:pPr><a:r><a:rPr /><a:t>0.70</a:t></a:r></a:p><a:p><a:pPr lvl="0" indent="0" marL="0"><a:buNone /></a:pPr><a:r><a:rPr /><a:t>44.5</a:t></a:r></a:p><a:p><a:pPr lvl="0" indent="0" marL="0"><a:buNone /></a:pPr><a:r><a:rPr /><a:t>33</a:t></a:r></a:p><a:p><a:pPr lvl="0" indent="0" marL="0"><a:buNone /></a:pPr><a:r><a:rPr /><a:t>35.93</a:t></a:r></a:p><a:p><a:pPr lvl="0" indent="0" marL="0"><a:buNone /></a:pPr><a:r><a:rPr /><a:t>1600.4</a:t></a:r></a:p><a:p><a:pPr lvl="0" indent="0" marL="0"><a:buNone /></a:pPr><a:r><a:rPr /><a:t>70</a:t></a:r></a:p><a:p><a:pPr lvl="0" indent="0" marL="0"><a:buNone /></a:pPr><a:r><a:rPr /><a:t>005-1</a:t></a:r></a:p><a:p><a:pPr lvl="0" indent="0" marL="0"><a:buNone /></a:pPr><a:r><a:rPr /><a:t>63.5</a:t></a:r></a:p><a:p><a:pPr lvl="0" indent="0" marL="0"><a:buNone /></a:pPr><a:r><a:rPr /><a:t>1.15</a:t></a:r></a:p><a:p><a:pPr lvl="0" indent="0" marL="0"><a:buNone /></a:pPr><a:r><a:rPr /><a:t>0.42</a:t></a:r></a:p><a:p><a:pPr lvl="0" indent="0" marL="0"><a:buNone /></a:pPr><a:r><a:rPr /><a:t>0.87</a:t></a:r></a:p><a:p><a:pPr lvl="0" indent="0" marL="0"><a:buNone /></a:pPr><a:r><a:rPr /><a:t>88.4</a:t></a:r></a:p><a:p><a:pPr lvl="0" indent="0" marL="0"><a:buNone /></a:pPr><a:r><a:rPr /><a:t>28</a:t></a:r></a:p><a:p><a:pPr lvl="0" indent="0" marL="0"><a:buNone /></a:pPr><a:r><a:rPr /><a:t>0.30</a:t></a:r></a:p><a:p><a:pPr lvl="0" indent="0" marL="0"><a:buNone /></a:pPr><a:r><a:rPr /><a:t>26.5</a:t></a:r></a:p><a:p><a:pPr lvl="0" indent="0" marL="0"><a:buNone /></a:pPr><a:r><a:rPr /><a:t>70</a:t></a:r></a:p><a:p><a:pPr lvl="0" indent="0" marL="0"><a:buNone /></a:pPr><a:r><a:rPr /><a:t>005-2</a:t></a:r></a:p><a:p><a:pPr lvl="0" indent="0" marL="0"><a:buNone /></a:pPr><a:r><a:rPr /><a:t>24.2</a:t></a:r></a:p><a:p><a:pPr lvl="0" indent="0" marL="0"><a:buNone /></a:pPr><a:r><a:rPr /><a:t>1.57</a:t></a:r></a:p><a:p><a:pPr lvl="0" indent="0" marL="0"><a:buNone /></a:pPr><a:r><a:rPr /><a:t>0.41</a:t></a:r></a:p><a:p><a:pPr lvl="0" indent="0" marL="0"><a:buNone /></a:pPr><a:r><a:rPr /><a:t>0.88</a:t></a:r></a:p><a:p><a:pPr lvl="0" indent="0" marL="0"><a:buNone /></a:pPr><a:r><a:rPr /><a:t>33.9</a:t></a:r></a:p><a:p><a:pPr lvl="0" indent="0" marL="0"><a:buNone /></a:pPr><a:r><a:rPr /><a:t>6</a:t></a:r></a:p><a:p><a:pPr lvl="0" indent="0" marL="0"><a:buNone /></a:pPr><a:r><a:rPr /><a:t>1.07</a:t></a:r></a:p><a:p><a:pPr lvl="0" indent="0" marL="0"><a:buNone /></a:pPr><a:r><a:rPr /><a:t>36.2</a:t></a:r></a:p><a:p><a:pPr lvl="0" indent="0" marL="0"><a:buNone /></a:pPr><a:r><a:rPr /><a:t>70</a:t></a:r></a:p><a:p><a:pPr lvl="0" indent="0" marL="0"><a:buNone /></a:pPr><a:r><a:rPr /><a:t>019-1</a:t></a:r></a:p><a:p><a:pPr lvl="0" indent="0" marL="0"><a:buNone /></a:pPr><a:r><a:rPr /><a:t>2.59</a:t></a:r></a:p><a:p><a:pPr lvl="0" indent="0" marL="0"><a:buNone /></a:pPr><a:r><a:rPr /><a:t>1.53</a:t></a:r></a:p><a:p><a:pPr lvl="0" indent="0" marL="0"><a:buNone /></a:pPr><a:r><a:rPr /><a:t>2.26</a:t></a:r></a:p><a:p><a:pPr lvl="0" indent="0" marL="0"><a:buNone /></a:pPr><a:r><a:rPr /><a:t>13.8</a:t></a:r></a:p><a:p><a:pPr lvl="0" indent="0" marL="0"><a:buNone /></a:pPr><a:r><a:rPr /><a:t>1.5</a:t></a:r></a:p><a:p><a:pPr lvl="0" indent="0" marL="0"><a:buNone /></a:pPr><a:r><a:rPr /><a:t>0.70</a:t></a:r></a:p><a:p><a:pPr lvl="0" indent="0" marL="0"><a:buNone /></a:pPr><a:r><a:rPr /><a:t>9.7</a:t></a:r></a:p><a:p><a:pPr lvl="0" indent="0" marL="0"><a:buNone /></a:pPr><a:r><a:rPr /><a:t>120</a:t></a:r></a:p><a:p><a:pPr lvl="0" indent="0" marL="0"><a:buNone /></a:pPr><a:r><a:rPr /><a:t>019-3</a:t></a:r></a:p><a:p><a:pPr lvl="0" indent="0" marL="0"><a:buNone /></a:pPr><a:r><a:rPr /><a:t>1.73</a:t></a:r></a:p><a:p><a:pPr lvl="0" indent="0" marL="0"><a:buNone /></a:pPr><a:r><a:rPr /><a:t>1.52</a:t></a:r></a:p><a:p><a:pPr lvl="0" indent="0" marL="0"><a:buNone /></a:pPr><a:r><a:rPr /><a:t>2.36</a:t></a:r></a:p><a:p><a:pPr lvl="0" indent="0" marL="0"><a:buNone /></a:pPr><a:r><a:rPr /><a:t>13.3</a:t></a:r></a:p><a:p><a:pPr lvl="0" indent="0" marL="0"><a:buNone /></a:pPr><a:r><a:rPr /><a:t>0.8</a:t></a:r></a:p><a:p><a:pPr lvl="0" indent="0" marL="0"><a:buNone /></a:pPr><a:r><a:rPr /><a:t>1.25</a:t></a:r></a:p><a:p><a:pPr lvl="0" indent="0" marL="0"><a:buNone /></a:pPr><a:r><a:rPr /><a:t>16.7</a:t></a:r></a:p><a:p><a:pPr lvl="0" indent="0" marL="0"><a:buNone /></a:pPr><a:r><a:rPr /><a:t>120</a:t></a:r></a:p><a:p><a:pPr lvl="0" indent="0" marL="0"><a:buNone /></a:pPr><a:r><a:rPr /><a:t>019-5</a:t></a:r></a:p><a:p><a:pPr lvl="0" indent="0" marL="0"><a:buNone /></a:pPr><a:r><a:rPr /><a:t>3.42</a:t></a:r></a:p><a:p><a:pPr lvl="0" indent="0" marL="0"><a:buNone /></a:pPr><a:r><a:rPr /><a:t>1.79</a:t></a:r></a:p><a:p><a:pPr lvl="0" indent="0" marL="0"><a:buNone /></a:pPr><a:r><a:rPr /><a:t>6.09</a:t></a:r></a:p><a:p><a:pPr lvl="0" indent="0" marL="0"><a:buNone /></a:pPr><a:r><a:rPr /><a:t>14.8</a:t></a:r></a:p><a:p><a:pPr lvl="0" indent="0" marL="0"><a:buNone /></a:pPr><a:r><a:rPr /><a:t>6</a:t></a:r></a:p><a:p><a:pPr lvl="0" indent="0" marL="0"><a:buNone /></a:pPr><a:r><a:rPr /><a:t>0.26</a:t></a:r></a:p><a:p><a:pPr lvl="0" indent="0" marL="0"><a:buNone /></a:pPr><a:r><a:rPr /><a:t>3.9</a:t></a:r></a:p><a:p><a:pPr lvl="0" indent="0" marL="0"><a:buNone /></a:pPr><a:r><a:rPr /><a:t>120</a:t></a:r></a:p><a:p><a:pPr lvl="0" indent="0" marL="0"><a:spcBef><a:spcPts val="3000" /></a:spcBef><a:buNone /></a:pPr><a:r><a:rPr b="1" /><a:t>PtTe2、NbTi量子輸運參數表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3873500" /></p:xfrm><a:graphic><a:graphicData uri="http://schemas.openxmlformats.org/drawingml/2006/table"><a:tbl><a:tblPr firstRow="1" bandRow="1"><a:tableStyleId>{5C22544A-7EE6-4342-B048-85BDC9FD1C3A}</a:tableStyleId></a:tblPr><a:tblGrid><a:gridCol w="1231900" /><a:gridCol w="1930400" /><a:gridCol w="698500" /><a:gridCol w="762000" /><a:gridCol w="469900" /></a:tblGrid><a:tr h="0"><a:tc><a:txBody><a:bodyPr /><a:lstStyle /><a:p><a:pPr lvl="0" indent="0" marL="0" algn="ctr"><a:buNone /></a:pPr><a:r><a:rPr b="1" /><a:t>參數</a:t></a:r></a:p></a:txBody><a:tcPr /></a:tc><a:tc><a:txBody><a:bodyPr /><a:lstStyle /><a:p><a:pPr lvl="0" indent="0" marL="0" algn="ctr"><a:buNone /></a:pPr><a:r><a:rPr b="1" /><a:t>符號</a:t></a:r></a:p></a:txBody><a:tcPr /></a:tc><a:tc><a:txBody><a:bodyPr /><a:lstStyle /><a:p><a:pPr lvl="0" indent="0" marL="0" algn="ctr"><a:buNone /></a:pPr><a:r><a:rPr b="1" /><a:t>NbTi</a:t></a:r></a:p></a:txBody><a:tcPr /></a:tc><a:tc><a:txBody><a:bodyPr /><a:lstStyle /><a:p><a:pPr lvl="0" indent="0" marL="0" algn="ctr"><a:buNone /></a:pPr><a:r><a:rPr b="1" /><a:t>PtTe2</a:t></a:r></a:p></a:txBody><a:tcPr /></a:tc><a:tc><a:txBody><a:bodyPr /><a:lstStyle /><a:p><a:pPr lvl="0" indent="0" marL="0" algn="ctr"><a:buNone /></a:pPr><a:r><a:rPr b="1" /><a:t>單位</a:t></a:r></a:p></a:txBody><a:tcPr /></a:tc></a:tr><a:tr h="0"><a:tc><a:txBody><a:bodyPr /><a:lstStyle /><a:p><a:pPr lvl="0" indent="0" marL="0" algn="ctr"><a:buNone /></a:pPr><a:r><a:rPr b="1" /><a:t>費米速度</a:t></a:r><a:br /><a:r><a:rPr b="1" /><a:t>Fermi velocity</a:t></a:r></a:p></a:txBody></a:tc><a:tc><a:txBody><a:bodyPr /><a:lstStyle /><a:p><a:pPr lvl="0" indent="0" marL="0" algn="ctr"><a:buNone /></a:pPr><a14:m><m:oMath xmlns:m="http://schemas.openxmlformats.org/officeDocument/2006/math"><m:sSub><m:e><m:r><m:t>v</m:t></m:r></m:e><m:sub><m:r><m:t>F</m:t></m:r></m:sub></m:sSub></m:oMath></a14:m></a:p></a:txBody></a:tc><a:tc><a:txBody><a:bodyPr /><a:lstStyle /><a:p><a:pPr lvl="0" indent="0" marL="0" algn="ctr"><a:buNone /></a:pPr><a:r><a:rPr /><a:t>≈ 1.25–1.55</a:t></a:r></a:p></a:txBody></a:tc><a:tc><a:txBody><a:bodyPr /><a:lstStyle /><a:p><a:pPr lvl="0" indent="0" marL="0" algn="ctr"><a:buNone /></a:pPr><a14:m><m:oMath xmlns:m="http://schemas.openxmlformats.org/officeDocument/2006/math"><m:r><m:t>3.3</m:t></m:r><m:r><m:rPr><m:sty m:val="p" /></m:rPr><m:t>×</m:t></m:r><m:sSup><m:e><m:r><m:t>10</m:t></m:r></m:e><m:sup><m:r><m:rPr><m:sty m:val="p" /></m:rPr><m:t>−</m:t></m:r><m:r><m:t>5</m:t></m:r></m:sup></m:sSup></m:oMath></a14:m></a:p></a:txBody></a:tc><a:tc><a:txBody><a:bodyPr /><a:lstStyle /><a:p><a:pPr lvl="0" indent="0" marL="0" algn="ctr"><a:buNone /></a:pPr><a:r><a:rPr /><a:t>m/s</a:t></a:r></a:p></a:txBody></a:tc></a:tr><a:tr h="0"><a:tc><a:txBody><a:bodyPr /><a:lstStyle /><a:p><a:pPr lvl="0" indent="0" marL="0" algn="ctr"><a:buNone /></a:pPr><a:r><a:rPr b="1" /><a:t>平均碰撞時間</a:t></a:r><a:br /><a:r><a:rPr b="1" /><a:t>Mean free time</a:t></a:r></a:p></a:txBody></a:tc><a:tc><a:txBody><a:bodyPr /><a:lstStyle /><a:p><a:pPr lvl="0" indent="0" marL="0" algn="ctr"><a:buNone /></a:pPr><a14:m><m:oMath xmlns:m="http://schemas.openxmlformats.org/officeDocument/2006/math"><m:r><m:t>τ</m:t></m:r></m:oMath></a14:m></a:p></a:txBody></a:tc><a:tc><a:txBody><a:bodyPr /><a:lstStyle /><a:p><a:pPr lvl="0" indent="0" marL="0" algn="ctr"><a:buNone /></a:pPr><a:r><a:rPr /><a:t>≈ 10⁻¹²–10⁻¹¹</a:t></a:r></a:p></a:txBody></a:tc><a:tc><a:txBody><a:bodyPr /><a:lstStyle /><a:p><a:pPr lvl="0" indent="0" marL="0" algn="ctr"><a:buNone /></a:pPr><a:r><a:rPr /><a:t>≈ 10⁻¹²–10⁻¹¹</a:t></a:r></a:p></a:txBody></a:tc><a:tc><a:txBody><a:bodyPr /><a:lstStyle /><a:p><a:pPr lvl="0" indent="0" marL="0" algn="ctr"><a:buNone /></a:pPr><a:r><a:rPr /><a:t>s</a:t></a:r></a:p></a:txBody></a:tc></a:tr><a:tr h="0"><a:tc><a:txBody><a:bodyPr /><a:lstStyle /><a:p><a:pPr lvl="0" indent="0" marL="0" algn="ctr"><a:buNone /></a:pPr><a:r><a:rPr b="1" /><a:t>擴散係數</a:t></a:r><a:br /><a:r><a:rPr b="1" /><a:t>Diffusion coefficient</a:t></a:r></a:p></a:txBody></a:tc><a:tc><a:txBody><a:bodyPr /><a:lstStyle /><a:p><a:pPr lvl="0" indent="0" marL="0" algn="ctr"><a:buNone /></a:pPr><a14:m><m:oMath xmlns:m="http://schemas.openxmlformats.org/officeDocument/2006/math"><m:r><m:t>D</m:t></m:r><m:r><m:rPr><m:sty m:val="p" /></m:rPr><m:t>=</m:t></m:r><m:sSubSup><m:e><m:r><m:t>v</m:t></m:r></m:e><m:sub><m:r><m:t>F</m:t></m:r></m:sub><m:sup><m:r><m:t>2</m:t></m:r></m:sup></m:sSubSup><m:f><m:fPr><m:type m:val="bar" /></m:fPr><m:num><m:r><m:t>τ</m:t></m:r></m:num><m:den><m:r><m:t>2</m:t></m:r></m:den></m:f></m:oMath></a14:m></a:p></a:txBody></a:tc><a:tc><a:txBody><a:bodyPr /><a:lstStyle /><a:p><a:pPr lvl="0" indent="0" marL="0" algn="ctr"><a:buNone /></a:pPr><a:r><a:rPr /><a:t>≈ 5.6×10²–5.6×10³</a:t></a:r></a:p></a:txBody></a:tc><a:tc><a:txBody><a:bodyPr /><a:lstStyle /><a:p><a:pPr lvl="0" indent="0" marL="0" algn="ctr"><a:buNone /></a:pPr><a:r><a:rPr /><a:t>≈ 1.5×10²–2.4×10³</a:t></a:r></a:p></a:txBody></a:tc><a:tc><a:txBody><a:bodyPr /><a:lstStyle /><a:p><a:pPr lvl="0" indent="0" marL="0" algn="ctr"><a:buNone /></a:pPr><a:r><a:rPr /><a:t>cm²/s</a:t></a:r></a:p></a:txBody></a:tc></a:tr><a:tr h="0"><a:tc><a:txBody><a:bodyPr /><a:lstStyle /><a:p><a:pPr lvl="0" indent="0" marL="0" algn="ctr"><a:buNone /></a:pPr><a:r><a:rPr b="1" /><a:t>電阻率</a:t></a:r><a:br /><a:r><a:rPr b="1" /><a:t>Resistivity</a:t></a:r><a:r><a:rPr /><a:t> ¹</a:t></a:r></a:p></a:txBody></a:tc><a:tc><a:txBody><a:bodyPr /><a:lstStyle /><a:p><a:pPr lvl="0" indent="0" marL="0" algn="ctr"><a:buNone /></a:pPr><a14:m><m:oMath xmlns:m="http://schemas.openxmlformats.org/officeDocument/2006/math"><m:r><m:t>ρ</m:t></m:r><m:r><m:rPr><m:sty m:val="p" /></m:rPr><m:t>=</m:t></m:r><m:sSup><m:e><m:d><m:dPr><m:begChr m:val="[" /><m:sepChr m:val="" /><m:endChr m:val="]" /><m:grow /></m:dPr><m:e><m:sSub><m:e><m:r><m:t>n</m:t></m:r></m:e><m:sub><m:r><m:t>s</m:t></m:r></m:sub></m:sSub><m:r><m:t>e</m:t></m:r><m:sSub><m:e><m:r><m:t>μ</m:t></m:r></m:e><m:sub><m:r><m:t>e</m:t></m:r></m:sub></m:sSub></m:e></m:d></m:e><m:sup><m:r><m:rPr><m:sty m:val="p" /></m:rPr><m:t>−</m:t></m:r><m:r><m:t>1</m:t></m:r></m:sup></m:sSup></m:oMath></a14:m></a:p></a:txBody></a:tc><a:tc><a:txBody><a:bodyPr /><a:lstStyle /><a:p><a:pPr lvl="0" indent="0" marL="0" algn="ctr"><a:buNone /></a:pPr><a:r><a:rPr /><a:t>≈ 0.001–0.01</a:t></a:r></a:p></a:txBody></a:tc><a:tc><a:txBody><a:bodyPr /><a:lstStyle /><a:p><a:pPr lvl="0" indent="0" marL="0" algn="ctr"><a:buNone /></a:pPr><a:r><a:rPr /><a:t>≈ 0.0002–0.002</a:t></a:r></a:p></a:txBody></a:tc><a:tc><a:txBody><a:bodyPr /><a:lstStyle /><a:p><a:pPr lvl="0" indent="0" marL="0" algn="ctr"><a:buNone /></a:pPr><a:r><a:rPr /><a:t>kΩ (per □)</a:t></a:r></a:p></a:txBody></a:tc></a:tr><a:tr h="0"><a:tc><a:txBody><a:bodyPr /><a:lstStyle /><a:p><a:pPr lvl="0" indent="0" marL="0" algn="ctr"><a:buNone /></a:pPr><a:r><a:rPr b="1" /><a:t>費米波長</a:t></a:r><a:br /><a:r><a:rPr b="1" /><a:t>Fermi wavelength</a:t></a:r></a:p></a:txBody></a:tc><a:tc><a:txBody><a:bodyPr /><a:lstStyle /><a:p><a:pPr lvl="0" indent="0" marL="0" algn="ctr"><a:buNone /></a:pPr><a14:m><m:oMath xmlns:m="http://schemas.openxmlformats.org/officeDocument/2006/math"><m:sSub><m:e><m:r><m:t>λ</m:t></m:r></m:e><m:sub><m:r><m:t>F</m:t></m:r></m:sub></m:sSub><m:r><m:rPr><m:sty m:val="p" /></m:rPr><m:t>=</m:t></m:r><m:r><m:t>2</m:t></m:r><m:f><m:fPr><m:type m:val="bar" /></m:fPr><m:num><m:r><m:t>π</m:t></m:r></m:num><m:den><m:sSub><m:e><m:r><m:t>k</m:t></m:r></m:e><m:sub><m:r><m:t>F</m:t></m:r></m:sub></m:sSub></m:den></m:f></m:oMath></a14:m></a:p></a:txBody></a:tc><a:tc><a:txBody><a:bodyPr /><a:lstStyle /><a:p><a:pPr lvl="0" indent="0" marL="0" algn="ctr"><a:buNone /></a:pPr><a:r><a:rPr /><a:t>≈ 0.32 nm</a:t></a:r></a:p></a:txBody></a:tc><a:tc><a:txBody><a:bodyPr /><a:lstStyle /><a:p><a:pPr lvl="0" indent="0" marL="0" algn="ctr"><a:buNone /></a:pPr><a:r><a:rPr /><a:t>≈ 7–11 nm</a:t></a:r></a:p></a:txBody></a:tc><a:tc><a:txBody><a:bodyPr /><a:lstStyle /><a:p><a:pPr lvl="0" indent="0" marL="0" algn="ctr"><a:buNone /></a:pPr><a:r><a:rPr /><a:t>nm</a:t></a:r></a:p></a:txBody></a:tc></a:tr><a:tr h="0"><a:tc><a:txBody><a:bodyPr /><a:lstStyle /><a:p><a:pPr lvl="0" indent="0" marL="0" algn="ctr"><a:buNone /></a:pPr><a:r><a:rPr b="1" /><a:t>平均自由路徑</a:t></a:r><a:br /><a:r><a:rPr b="1" /><a:t>Mean-free path</a:t></a:r></a:p></a:txBody></a:tc><a:tc><a:txBody><a:bodyPr /><a:lstStyle /><a:p><a:pPr lvl="0" indent="0" marL="0" algn="ctr"><a:buNone /></a:pPr><a14:m><m:oMath xmlns:m="http://schemas.openxmlformats.org/officeDocument/2006/math"><m:sSub><m:e><m:r><m:t>l</m:t></m:r></m:e><m:sub><m:r><m:t>e</m:t></m:r></m:sub></m:sSub><m:r><m:rPr><m:sty m:val="p" /></m:rPr><m:t>=</m:t></m:r><m:sSub><m:e><m:r><m:t>v</m:t></m:r></m:e><m:sub><m:r><m:t>F</m:t></m:r></m:sub></m:sSub><m:r><m:t>τ</m:t></m:r></m:oMath></a14:m></a:p></a:txBody></a:tc><a:tc><a:txBody><a:bodyPr /><a:lstStyle /><a:p><a:pPr lvl="0" indent="0" marL="0" algn="ctr"><a:buNone /></a:pPr><a:r><a:rPr /><a:t>80–800</a:t></a:r></a:p></a:txBody></a:tc><a:tc><a:txBody><a:bodyPr /><a:lstStyle /><a:p><a:pPr lvl="0" indent="0" marL="0" algn="ctr"><a:buNone /></a:pPr><a:r><a:rPr /><a:t>180</a:t></a:r></a:p></a:txBody></a:tc><a:tc><a:txBody><a:bodyPr /><a:lstStyle /><a:p><a:pPr lvl="0" indent="0" marL="0" algn="ctr"><a:buNone /></a:pPr><a:r><a:rPr /><a:t>nm</a:t></a:r></a:p></a:txBody></a:tc></a:tr><a:tr h="0"><a:tc><a:txBody><a:bodyPr /><a:lstStyle /><a:p><a:pPr lvl="0" indent="0" marL="0" algn="ctr"><a:buNone /></a:pPr><a:r><a:rPr b="1" /><a:t>載子遷移率</a:t></a:r><a:br /><a:r><a:rPr b="1" /><a:t>Electron mobility</a:t></a:r></a:p></a:txBody></a:tc><a:tc><a:txBody><a:bodyPr /><a:lstStyle /><a:p><a:pPr lvl="0" indent="0" marL="0" algn="ctr"><a:buNone /></a:pPr><a14:m><m:oMath xmlns:m="http://schemas.openxmlformats.org/officeDocument/2006/math"><m:sSub><m:e><m:r><m:t>μ</m:t></m:r></m:e><m:sub><m:r><m:t>e</m:t></m:r></m:sub></m:sSub><m:r><m:rPr><m:sty m:val="p" /></m:rPr><m:t>=</m:t></m:r><m:f><m:fPr><m:type m:val="bar" /></m:fPr><m:num><m:sSub><m:e><m:r><m:t>v</m:t></m:r></m:e><m:sub><m:r><m:t>F</m:t></m:r></m:sub></m:sSub></m:num><m:den><m:sSub><m:e><m:r><m:t>l</m:t></m:r></m:e><m:sub><m:r><m:t>e</m:t></m:r></m:sub></m:sSub></m:den></m:f></m:oMath></a14:m></a:p></a:txBody></a:tc><a:tc><a:txBody><a:bodyPr /><a:lstStyle /><a:p><a:pPr lvl="0" indent="0" marL="0" algn="ctr"><a:buNone /></a:pPr><a:r><a:rPr /><a:t>≈ 1.25–1.55</a:t></a:r></a:p></a:txBody></a:tc><a:tc><a:txBody><a:bodyPr /><a:lstStyle /><a:p><a:pPr lvl="0" indent="0" marL="0" algn="ctr"><a:buNone /></a:pPr><a:r><a:rPr /><a:t>≈ 6.5–7.5</a:t></a:r></a:p></a:txBody></a:tc><a:tc><a:txBody><a:bodyPr /><a:lstStyle /><a:p><a:pPr lvl="0" indent="0" marL="0" algn="ctr"><a:buNone /></a:pPr><a:r><a:rPr /><a:t>cm²/Vs</a:t></a:r></a:p></a:txBody></a:tc></a:tr><a:tr h="0"><a:tc><a:txBody><a:bodyPr /><a:lstStyle /><a:p><a:pPr lvl="0" indent="0" marL="0" algn="ctr"><a:buNone /></a:pPr><a:r><a:rPr b="1" /><a:t>狄拉克點</a:t></a:r><a:br /><a:r><a:rPr b="1" /><a:t>Dirac point</a:t></a:r></a:p></a:txBody></a:tc><a:tc><a:txBody><a:bodyPr /><a:lstStyle /><a:p><a:pPr lvl="0" indent="0" marL="0" algn="ctr"><a:buNone /></a:pPr><a14:m><m:oMath xmlns:m="http://schemas.openxmlformats.org/officeDocument/2006/math"><m:sSub><m:e><m:r><m:t>E</m:t></m:r></m:e><m:sub><m:r><m:t>D</m:t></m:r></m:sub></m:sSub></m:oMath></a14:m></a:p></a:txBody></a:tc><a:tc><a:txBody><a:bodyPr /><a:lstStyle /><a:p><a:pPr lvl="0" indent="0" marL="0" algn="ctr"><a:buNone /></a:pPr><a:r><a:rPr /><a:t>≈ 0.32 eV</a:t></a:r></a:p></a:txBody></a:tc><a:tc><a:txBody><a:bodyPr /><a:lstStyle /><a:p><a:pPr lvl="0" indent="0" marL="0" algn="ctr"><a:buNone /></a:pPr><a:r><a:rPr /><a:t>≈ 0.32 eV</a:t></a:r></a:p></a:txBody></a:tc><a:tc><a:txBody><a:bodyPr /><a:lstStyle /><a:p><a:pPr lvl="0" indent="0" marL="0" algn="ctr"><a:buNone /></a:pPr><a:r><a:rPr /><a:t>eV</a:t></a:r></a:p></a:txBody></a:tc></a:tr><a:tr h="0"><a:tc><a:txBody><a:bodyPr /><a:lstStyle /><a:p><a:pPr lvl="0" indent="0" marL="0" algn="ctr"><a:buNone /></a:pPr><a:r><a:rPr b="1" /><a:t>超導相干長度</a:t></a:r><a:br /><a:r><a:rPr b="1" /><a:t>Superconducting coherence length</a:t></a:r></a:p></a:txBody></a:tc><a:tc><a:txBody><a:bodyPr /><a:lstStyle /><a:p><a:pPr lvl="0" indent="0" marL="0" algn="ctr"><a:buNone /></a:pPr><a14:m><m:oMath xmlns:m="http://schemas.openxmlformats.org/officeDocument/2006/math"><m:r><m:t>ξ</m:t></m:r></m:oMath></a14:m></a:p></a:txBody></a:tc><a:tc><a:txBody><a:bodyPr /><a:lstStyle /><a:p><a:pPr lvl="0" indent="0" marL="0" algn="ctr"><a:buNone /></a:pPr><a:r><a:rPr /><a:t>≈ 10 nm</a:t></a:r></a:p></a:txBody></a:tc><a:tc><a:txBody><a:bodyPr /><a:lstStyle /><a:p><a:pPr lvl="0" indent="0" marL="0" algn="ctr"><a:buNone /></a:pPr><a:r><a:rPr /><a:t>≈ 10 nm</a:t></a:r></a:p></a:txBody></a:tc><a:tc><a:txBody><a:bodyPr /><a:lstStyle /><a:p><a:pPr lvl="0" indent="0" marL="0" algn="ctr"><a:buNone /></a:pPr><a:r><a:rPr /><a:t>nm</a:t></a:r></a:p></a:txBody></a:tc></a:tr></a:tbl></a:graphicData></a:graphic></p:graphicFrame><p:sp><p:nvSpPr><p:cNvPr id="1" name="TextBox 3" /><p:cNvSpPr txBox="1" /><p:nvPr /></p:nvSpPr><p:spPr><a:xfrm><a:off x="3568700" y="4076700" /><a:ext cx="5105400" cy="508000" /></a:xfrm><a:prstGeom prst="rect"><a:avLst /></a:prstGeom><a:noFill /></p:spPr><p:txBody><a:bodyPr /><a:lstStyle /><a:p><a:pPr lvl="0" indent="0" marL="0" algn="ctr"><a:buNone /></a:pPr><a:r><a:rPr /><a:t>PtTe2、NbTi量子輸運參數表</a:t></a:r></a:p></p:txBody></p:sp></p:spTree></p:cSld>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參考文獻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面內磁場下1T相二碲化鉑約瑟夫森接面之電流-相位關係研究</dc:title>
  <dc:creator>徐道宜 (指導教授：邱奎霖 博士)</dc:creator>
  <cp:keywords/>
  <dcterms:created xsi:type="dcterms:W3CDTF">2026-01-02T08:03:27Z</dcterms:created>
  <dcterms:modified xsi:type="dcterms:W3CDTF">2026-01-02T08:03:27Z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references_sanitized.bib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2026-01-02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國立中山大學 物理學系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碩士學位論文口試</vt:lpwstr>
  </property>
  <property fmtid="{D5CDD505-2E9C-101B-9397-08002B2CF9AE}" pid="16" name="toc-title">
    <vt:lpwstr>Table of contents</vt:lpwstr>
  </property>
</Properties>
</file>